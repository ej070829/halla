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50" r:id="rId2"/>
    <p:sldId id="404" r:id="rId3"/>
    <p:sldId id="281" r:id="rId4"/>
    <p:sldId id="361" r:id="rId5"/>
    <p:sldId id="406" r:id="rId6"/>
    <p:sldId id="314" r:id="rId7"/>
    <p:sldId id="364" r:id="rId8"/>
    <p:sldId id="410" r:id="rId9"/>
    <p:sldId id="385" r:id="rId10"/>
    <p:sldId id="399" r:id="rId11"/>
    <p:sldId id="388" r:id="rId12"/>
    <p:sldId id="400" r:id="rId13"/>
    <p:sldId id="554" r:id="rId14"/>
    <p:sldId id="397" r:id="rId15"/>
    <p:sldId id="401" r:id="rId16"/>
    <p:sldId id="398" r:id="rId17"/>
    <p:sldId id="402" r:id="rId18"/>
    <p:sldId id="389" r:id="rId19"/>
    <p:sldId id="403" r:id="rId20"/>
    <p:sldId id="390" r:id="rId21"/>
    <p:sldId id="377" r:id="rId22"/>
    <p:sldId id="559" r:id="rId23"/>
    <p:sldId id="379" r:id="rId24"/>
    <p:sldId id="380" r:id="rId25"/>
    <p:sldId id="560" r:id="rId26"/>
    <p:sldId id="381" r:id="rId27"/>
    <p:sldId id="561" r:id="rId28"/>
    <p:sldId id="382" r:id="rId29"/>
    <p:sldId id="562" r:id="rId30"/>
    <p:sldId id="553" r:id="rId31"/>
  </p:sldIdLst>
  <p:sldSz cx="9144000" cy="5143500" type="screen16x9"/>
  <p:notesSz cx="6888163" cy="100218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E7D16"/>
    <a:srgbClr val="213540"/>
    <a:srgbClr val="FFD44E"/>
    <a:srgbClr val="704837"/>
    <a:srgbClr val="7396F5"/>
    <a:srgbClr val="EE6E73"/>
    <a:srgbClr val="FE4E50"/>
    <a:srgbClr val="E6E8E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431" autoAdjust="0"/>
    <p:restoredTop sz="95494" autoAdjust="0"/>
  </p:normalViewPr>
  <p:slideViewPr>
    <p:cSldViewPr>
      <p:cViewPr varScale="1">
        <p:scale>
          <a:sx n="135" d="100"/>
          <a:sy n="135" d="100"/>
        </p:scale>
        <p:origin x="522" y="3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4871" cy="502835"/>
          </a:xfrm>
          <a:prstGeom prst="rect">
            <a:avLst/>
          </a:prstGeom>
        </p:spPr>
        <p:txBody>
          <a:bodyPr vert="horz" lIns="96616" tIns="48307" rIns="96616" bIns="48307" rtlCol="0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9" y="1"/>
            <a:ext cx="2984871" cy="502835"/>
          </a:xfrm>
          <a:prstGeom prst="rect">
            <a:avLst/>
          </a:prstGeom>
        </p:spPr>
        <p:txBody>
          <a:bodyPr vert="horz" lIns="96616" tIns="48307" rIns="96616" bIns="48307" rtlCol="0"/>
          <a:lstStyle>
            <a:lvl1pPr algn="r">
              <a:defRPr sz="1300"/>
            </a:lvl1pPr>
          </a:lstStyle>
          <a:p>
            <a:fld id="{72D9A5FD-E331-4056-855E-36F30E6A9905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1863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7" rIns="96616" bIns="4830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3035"/>
            <a:ext cx="5510530" cy="3946118"/>
          </a:xfrm>
          <a:prstGeom prst="rect">
            <a:avLst/>
          </a:prstGeom>
        </p:spPr>
        <p:txBody>
          <a:bodyPr vert="horz" lIns="96616" tIns="48307" rIns="96616" bIns="4830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519055"/>
            <a:ext cx="2984871" cy="502834"/>
          </a:xfrm>
          <a:prstGeom prst="rect">
            <a:avLst/>
          </a:prstGeom>
        </p:spPr>
        <p:txBody>
          <a:bodyPr vert="horz" lIns="96616" tIns="48307" rIns="96616" bIns="48307" rtlCol="0" anchor="b"/>
          <a:lstStyle>
            <a:lvl1pPr algn="l">
              <a:defRPr sz="13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9" y="9519055"/>
            <a:ext cx="2984871" cy="502834"/>
          </a:xfrm>
          <a:prstGeom prst="rect">
            <a:avLst/>
          </a:prstGeom>
        </p:spPr>
        <p:txBody>
          <a:bodyPr vert="horz" lIns="96616" tIns="48307" rIns="96616" bIns="48307" rtlCol="0" anchor="b"/>
          <a:lstStyle>
            <a:lvl1pPr algn="r">
              <a:defRPr sz="1300"/>
            </a:lvl1pPr>
          </a:lstStyle>
          <a:p>
            <a:fld id="{9599A198-E9C2-43A8-BA3B-B3D7BEBA52A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49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600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980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484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233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035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612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156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703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256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328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773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9779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278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0069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438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052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3000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374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5834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99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98301-683E-33A9-5E00-4F3C7617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34623C-7DA0-EC03-8871-32483A194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A0C9B1-FCE5-4BC7-AC06-DF85AB1D6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A7D6E8-37B2-935B-5DE1-11593E2442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A34C71-48D5-402D-A25C-9EC8F0EA7698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4789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99A198-E9C2-43A8-BA3B-B3D7BEBA52A1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0011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9951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0072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4875626"/>
            <a:ext cx="9162728" cy="107157"/>
          </a:xfrm>
          <a:prstGeom prst="rect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213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14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2B4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2B46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6859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74C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74C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706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FFD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FFD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776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FE4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446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4875626"/>
            <a:ext cx="9215470" cy="107157"/>
          </a:xfrm>
          <a:prstGeom prst="rect">
            <a:avLst/>
          </a:prstGeom>
          <a:solidFill>
            <a:srgbClr val="704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13540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482600" cy="5143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-1" y="447876"/>
            <a:ext cx="2676525" cy="361800"/>
          </a:xfrm>
          <a:prstGeom prst="rect">
            <a:avLst/>
          </a:prstGeom>
          <a:solidFill>
            <a:srgbClr val="704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138073" y="4811949"/>
            <a:ext cx="28264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CODING SOFTWARE CREATIVE EDUCATION CENTER</a:t>
            </a:r>
            <a:endParaRPr lang="ko-KR" altLang="en-US" sz="900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97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BDF18-086A-46A3-884F-0CFAD55014EA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211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BDF18-086A-46A3-884F-0CFAD55014EA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52E4F-3B81-40C3-914E-0EE44736E4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868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41480"/>
            <a:ext cx="9144000" cy="1620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0" y="4840002"/>
            <a:ext cx="9144000" cy="1620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51035" y="1518044"/>
            <a:ext cx="6841938" cy="2160400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프로그램 언어</a:t>
            </a:r>
            <a:r>
              <a:rPr lang="en-US" altLang="ko-KR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[</a:t>
            </a: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파이썬</a:t>
            </a:r>
            <a:r>
              <a:rPr lang="en-US" altLang="ko-KR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effectLst/>
                <a:latin typeface="나눔바른고딕 옛한글" panose="020B0603020101020101" pitchFamily="50" charset="-127"/>
                <a:ea typeface="나눔바른고딕 옛한글" panose="020B0603020101020101" pitchFamily="50" charset="-127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en-US" altLang="ko-KR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Medium" panose="02020603020101020101" pitchFamily="18" charset="-127"/>
                <a:ea typeface="나눔바른고딕 옛한글" panose="020B0603020101020101"/>
              </a:rPr>
              <a:t>7. </a:t>
            </a:r>
            <a:r>
              <a:rPr lang="ko-KR" altLang="en-US" sz="4800" b="1" spc="30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3792AB"/>
                </a:solidFill>
                <a:latin typeface="12롯데마트드림Medium" panose="02020603020101020101" pitchFamily="18" charset="-127"/>
                <a:ea typeface="나눔바른고딕 옛한글" panose="020B0603020101020101"/>
              </a:rPr>
              <a:t>리스트 이해하기</a:t>
            </a:r>
            <a:endParaRPr lang="ko-KR" altLang="en-US" sz="4800" b="1" spc="300" dirty="0">
              <a:ln>
                <a:solidFill>
                  <a:srgbClr val="75C3B6">
                    <a:alpha val="0"/>
                  </a:srgbClr>
                </a:solidFill>
              </a:ln>
              <a:solidFill>
                <a:srgbClr val="3792AB"/>
              </a:solidFill>
              <a:effectLst/>
              <a:latin typeface="12롯데마트드림Medium" panose="02020603020101020101" pitchFamily="18" charset="-127"/>
              <a:ea typeface="나눔바른고딕 옛한글" panose="020B0603020101020101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53417" y="2591414"/>
            <a:ext cx="4637167" cy="253916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spc="17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75C3B6"/>
                </a:solidFill>
                <a:latin typeface="10X10 Bold" panose="020D0604000000000000" pitchFamily="50" charset="-127"/>
                <a:ea typeface="10X10 Bold" panose="020D0604000000000000" pitchFamily="50" charset="-127"/>
              </a:rPr>
              <a:t>CODING SOFTWARE CREATIVE EDUCATION CENTER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3139076" y="2571750"/>
            <a:ext cx="2865849" cy="0"/>
          </a:xfrm>
          <a:prstGeom prst="line">
            <a:avLst/>
          </a:prstGeom>
          <a:ln w="6350">
            <a:solidFill>
              <a:srgbClr val="C5E5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3" descr="D:\은경\최종시안\스티커_로봇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062" y="4576562"/>
            <a:ext cx="566938" cy="56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8CE04E-3AEA-2546-82B6-E6078099DA44}"/>
              </a:ext>
            </a:extLst>
          </p:cNvPr>
          <p:cNvSpPr txBox="1"/>
          <p:nvPr/>
        </p:nvSpPr>
        <p:spPr>
          <a:xfrm>
            <a:off x="8677468" y="411510"/>
            <a:ext cx="366126" cy="253916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spc="17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rgbClr val="75C3B6"/>
                </a:solidFill>
                <a:latin typeface="10X10 Bold" panose="020D0604000000000000" pitchFamily="50" charset="-127"/>
                <a:ea typeface="10X10 Bold" panose="020D0604000000000000" pitchFamily="50" charset="-127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359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876300" y="1040765"/>
            <a:ext cx="8145145" cy="224728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395605" indent="-28575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</a:t>
            </a:r>
            <a:endParaRPr lang="ko-KR" altLang="en-US" b="0" strike="noStrike" cap="none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b="0" strike="noStrike" cap="none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  - </a:t>
            </a:r>
            <a:r>
              <a:rPr lang="ko-KR" altLang="en-US" b="0" strike="noStrike" cap="none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하나의 저장 공간에 여러 개의 값을 저장</a:t>
            </a:r>
            <a:endParaRPr lang="en-US" altLang="ko-KR" b="0" strike="noStrike" cap="none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395605" indent="-28575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변수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변수 값 한 개 저장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395605" indent="-28575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b="0" strike="noStrike" cap="none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 </a:t>
            </a:r>
            <a:r>
              <a:rPr lang="en-US" altLang="ko-KR" b="0" strike="noStrike" cap="none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 </a:t>
            </a:r>
            <a:r>
              <a:rPr lang="ko-KR" altLang="en-US" b="0" strike="noStrike" cap="none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하나의 리스트에 여러 개의 값 저장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b="0" strike="noStrike" cap="none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b="1" strike="noStrike" cap="none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1399" y="2715766"/>
            <a:ext cx="6275364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52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CBBBA-C5A4-E0B2-E029-BDE23C26FFB3}"/>
              </a:ext>
            </a:extLst>
          </p:cNvPr>
          <p:cNvSpPr txBox="1"/>
          <p:nvPr/>
        </p:nvSpPr>
        <p:spPr>
          <a:xfrm>
            <a:off x="719882" y="906357"/>
            <a:ext cx="7277350" cy="1700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(list)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여러 가지 자료를 저장할 수 있는 자료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자료들을 모아서 사용할 수 있게 해 줌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대괄호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[]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내부에 자료들 넣어 선언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D2CAA3D-BF4F-B875-5CAF-F5769BDE2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41" y="2859782"/>
            <a:ext cx="6629898" cy="123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5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BD5917-7DF4-9320-5AE5-96D4B0F52A51}"/>
              </a:ext>
            </a:extLst>
          </p:cNvPr>
          <p:cNvSpPr txBox="1"/>
          <p:nvPr/>
        </p:nvSpPr>
        <p:spPr>
          <a:xfrm>
            <a:off x="755576" y="987574"/>
            <a:ext cx="4580964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요소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(element)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리스트의 대괄호 내부에 넣는 자료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716424B-37FC-50D2-233D-F8F413742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990" y="1873126"/>
            <a:ext cx="5397500" cy="4826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CA32D63-A1E3-2F88-A5A4-015997214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997" y="3241278"/>
            <a:ext cx="5397500" cy="482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A03D71-67D9-8554-6D5D-E0F22706C984}"/>
              </a:ext>
            </a:extLst>
          </p:cNvPr>
          <p:cNvSpPr txBox="1"/>
          <p:nvPr/>
        </p:nvSpPr>
        <p:spPr>
          <a:xfrm>
            <a:off x="755576" y="2355726"/>
            <a:ext cx="8208912" cy="858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 내부의 요소 각각 사용하려면 리스트 이름 바로 뒤에 대괄호 입력 후 자료의 위치 나타내는 숫자 입력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758AD4E2-A6C7-CE36-1ECE-1955649EE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571" y="3825553"/>
            <a:ext cx="6458900" cy="69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77864C8-416D-979A-800A-9E7837713227}"/>
              </a:ext>
            </a:extLst>
          </p:cNvPr>
          <p:cNvSpPr txBox="1"/>
          <p:nvPr/>
        </p:nvSpPr>
        <p:spPr>
          <a:xfrm>
            <a:off x="79236" y="4264912"/>
            <a:ext cx="4580964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FF0000"/>
                </a:solidFill>
              </a:rPr>
              <a:t>인덱스 </a:t>
            </a:r>
            <a:r>
              <a:rPr lang="en-US" altLang="ko-KR" dirty="0">
                <a:solidFill>
                  <a:srgbClr val="FF0000"/>
                </a:solidFill>
              </a:rPr>
              <a:t>(index)</a:t>
            </a:r>
          </a:p>
        </p:txBody>
      </p:sp>
    </p:spTree>
    <p:extLst>
      <p:ext uri="{BB962C8B-B14F-4D97-AF65-F5344CB8AC3E}">
        <p14:creationId xmlns:p14="http://schemas.microsoft.com/office/powerpoint/2010/main" val="3371346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21961"/>
          <a:stretch/>
        </p:blipFill>
        <p:spPr>
          <a:xfrm>
            <a:off x="908956" y="3219822"/>
            <a:ext cx="5688632" cy="1099174"/>
          </a:xfrm>
          <a:prstGeom prst="rect">
            <a:avLst/>
          </a:prstGeom>
        </p:spPr>
      </p:pic>
      <p:sp>
        <p:nvSpPr>
          <p:cNvPr id="12" name="TextBox 11"/>
          <p:cNvSpPr txBox="1">
            <a:spLocks/>
          </p:cNvSpPr>
          <p:nvPr/>
        </p:nvSpPr>
        <p:spPr>
          <a:xfrm>
            <a:off x="2339752" y="4318996"/>
            <a:ext cx="2452814" cy="74039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길이 </a:t>
            </a:r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: </a:t>
            </a:r>
            <a:r>
              <a:rPr lang="en-US" altLang="ko-KR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len</a:t>
            </a:r>
            <a:r>
              <a:rPr lang="en-US" altLang="ko-KR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()</a:t>
            </a:r>
            <a:endParaRPr lang="ko-KR" altLang="en-US" b="0" strike="noStrike" cap="none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b="0" strike="noStrike" cap="none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  </a:t>
            </a:r>
            <a:endParaRPr lang="ko-KR" altLang="en-US" b="1" strike="noStrike" cap="none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20DA75-75A4-0C67-5D78-ACC1562CCF77}"/>
              </a:ext>
            </a:extLst>
          </p:cNvPr>
          <p:cNvSpPr txBox="1"/>
          <p:nvPr/>
        </p:nvSpPr>
        <p:spPr>
          <a:xfrm>
            <a:off x="683568" y="989869"/>
            <a:ext cx="6966460" cy="298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리스트의 길이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length</a:t>
            </a:r>
            <a:r>
              <a:rPr lang="ko-KR" altLang="en-US" sz="2000" b="1" dirty="0" err="1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를</a:t>
            </a:r>
            <a:r>
              <a:rPr lang="ko-KR" altLang="en-US" sz="20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줄여서 </a:t>
            </a:r>
            <a:r>
              <a:rPr lang="en-US" altLang="ko-KR" sz="2000" b="1" dirty="0" err="1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len</a:t>
            </a:r>
            <a:r>
              <a:rPr lang="en-US" altLang="ko-KR" sz="2000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 </a:t>
            </a:r>
            <a:r>
              <a:rPr lang="en-US" altLang="ko-KR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len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</a:t>
            </a:r>
            <a:r>
              <a:rPr lang="en-US" altLang="ko-KR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list_a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) -&gt; </a:t>
            </a:r>
            <a:r>
              <a:rPr lang="en-US" altLang="ko-KR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6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리스트의 인덱스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인덱스는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0</a:t>
            </a:r>
            <a:r>
              <a:rPr lang="ko-KR" altLang="en-US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부터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시작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인덱스 마지막 번호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: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len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</a:t>
            </a:r>
            <a:r>
              <a:rPr lang="en-US" altLang="ko-KR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list_a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)-1   -&gt;  </a:t>
            </a:r>
            <a:r>
              <a:rPr lang="en-US" altLang="ko-KR" b="1" dirty="0">
                <a:solidFill>
                  <a:srgbClr val="FF0000"/>
                </a:solidFill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5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F52B99-D472-7FAB-19B7-EBA96780B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304" y="776371"/>
            <a:ext cx="6431460" cy="687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2552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4686" y="444110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리스트의 요소 변경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98E49A-DD8B-1F79-1F0E-E6CC6348B31E}"/>
              </a:ext>
            </a:extLst>
          </p:cNvPr>
          <p:cNvSpPr txBox="1"/>
          <p:nvPr/>
        </p:nvSpPr>
        <p:spPr>
          <a:xfrm>
            <a:off x="755576" y="987574"/>
            <a:ext cx="4580964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요소 변경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list_a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[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인덱스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]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=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ko-KR" altLang="en-US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변경값</a:t>
            </a: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85B6F2E-48BE-82C0-75CF-C47CC931E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39" y="2037242"/>
            <a:ext cx="6188219" cy="147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68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생성 및 초기화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99" r="5703" b="10455"/>
          <a:stretch/>
        </p:blipFill>
        <p:spPr>
          <a:xfrm>
            <a:off x="6516216" y="130876"/>
            <a:ext cx="2489499" cy="995800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779056" y="1059582"/>
            <a:ext cx="6025192" cy="338554"/>
            <a:chOff x="779056" y="1059582"/>
            <a:chExt cx="6025192" cy="338554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9056" y="1087731"/>
              <a:ext cx="213875" cy="240609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971599" y="1059582"/>
              <a:ext cx="58326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리스트 </a:t>
              </a:r>
              <a:r>
                <a:rPr lang="en-US" altLang="ko-KR" sz="16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scores</a:t>
              </a:r>
              <a:r>
                <a:rPr lang="ko-KR" altLang="en-US" sz="16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에 </a:t>
              </a:r>
              <a:r>
                <a:rPr lang="en-US" altLang="ko-KR" sz="16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[ 10, 20, 30, 40, 50 ] </a:t>
              </a:r>
              <a:r>
                <a:rPr lang="ko-KR" altLang="en-US" sz="16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저장하고 출력하기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923051" y="2571750"/>
            <a:ext cx="14060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실행 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02846EC-6939-BAA2-E5E6-B603858E4F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947" y="1518708"/>
            <a:ext cx="4095090" cy="195781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E2EC404-5214-A5EA-B122-C54ACE7532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8051" y="2571750"/>
            <a:ext cx="1406004" cy="178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6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생성 및 초기화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99" r="5703" b="10455"/>
          <a:stretch/>
        </p:blipFill>
        <p:spPr>
          <a:xfrm>
            <a:off x="6516216" y="130876"/>
            <a:ext cx="2489499" cy="995800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779056" y="1059582"/>
            <a:ext cx="6025192" cy="338554"/>
            <a:chOff x="779056" y="1059582"/>
            <a:chExt cx="6025192" cy="338554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9056" y="1087731"/>
              <a:ext cx="213875" cy="240609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971599" y="1059582"/>
              <a:ext cx="58326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12LotteMartDreamMedium" panose="02020603020101020101" pitchFamily="18" charset="-127"/>
                  <a:ea typeface="휴먼모음T" panose="02030504000101010101" pitchFamily="18" charset="-127"/>
                </a:rPr>
                <a:t>리스트 </a:t>
              </a:r>
              <a:r>
                <a:rPr lang="en-US" altLang="ko-KR" sz="1600" dirty="0">
                  <a:latin typeface="12LotteMartDreamMedium" panose="02020603020101020101" pitchFamily="18" charset="-127"/>
                  <a:ea typeface="휴먼모음T" panose="02030504000101010101" pitchFamily="18" charset="-127"/>
                </a:rPr>
                <a:t>scores </a:t>
              </a:r>
              <a:r>
                <a:rPr lang="ko-KR" altLang="en-US" sz="1600" dirty="0">
                  <a:latin typeface="12LotteMartDreamMedium" panose="02020603020101020101" pitchFamily="18" charset="-127"/>
                  <a:ea typeface="휴먼모음T" panose="02030504000101010101" pitchFamily="18" charset="-127"/>
                </a:rPr>
                <a:t>에 </a:t>
              </a:r>
              <a:r>
                <a:rPr lang="en-US" altLang="ko-KR" sz="1600" dirty="0">
                  <a:latin typeface="12LotteMartDreamMedium" panose="02020603020101020101" pitchFamily="18" charset="-127"/>
                  <a:ea typeface="휴먼모음T" panose="02030504000101010101" pitchFamily="18" charset="-127"/>
                </a:rPr>
                <a:t>[10, 20, 30, 40, 50 ] </a:t>
              </a:r>
              <a:r>
                <a:rPr lang="ko-KR" altLang="en-US" sz="1600" dirty="0">
                  <a:latin typeface="12LotteMartDreamMedium" panose="02020603020101020101" pitchFamily="18" charset="-127"/>
                  <a:ea typeface="휴먼모음T" panose="02030504000101010101" pitchFamily="18" charset="-127"/>
                </a:rPr>
                <a:t>저장하고 출력하기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256718" y="3255217"/>
            <a:ext cx="5832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실행 결과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5E3108-8411-DD2C-8F04-672D62EDFD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631" y="1644276"/>
            <a:ext cx="5382327" cy="11434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2B8F631-088F-D518-3466-FD813B61FF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4542" y="3255217"/>
            <a:ext cx="1019346" cy="157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2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초기값 사용하기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208621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차례로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90,99,89,70,60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으로 </a:t>
            </a:r>
            <a:r>
              <a:rPr lang="ko-KR" altLang="en-US" sz="1400" dirty="0">
                <a:solidFill>
                  <a:srgbClr val="FF0000"/>
                </a:solidFill>
                <a:latin typeface="10X10 Bold" charset="0"/>
                <a:ea typeface="10X10 Bold" charset="0"/>
              </a:rPr>
              <a:t>초기화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하여 선언하고 아래와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9F5FDC2-83F9-3B04-10F1-1953662A1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3126977"/>
            <a:ext cx="5510124" cy="88824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C3AB014-D1A3-22A5-3541-A21C39A9F4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5696" y="1635646"/>
            <a:ext cx="2515532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82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초기값 사용하기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876300" y="1040765"/>
            <a:ext cx="8145145" cy="208621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차례로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36.3, 37.2, 36.4, 37.1, 37.5, 36.7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으로</a:t>
            </a:r>
            <a:r>
              <a:rPr lang="ko-KR" altLang="en-US" sz="1400" dirty="0">
                <a:solidFill>
                  <a:srgbClr val="FF0000"/>
                </a:solidFill>
                <a:latin typeface="10X10 Bold" charset="0"/>
                <a:ea typeface="10X10 Bold" charset="0"/>
              </a:rPr>
              <a:t> 초기화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하여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선언하고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아래와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0" name="그림 9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15" name="TextBox 14"/>
          <p:cNvSpPr txBox="1">
            <a:spLocks/>
          </p:cNvSpPr>
          <p:nvPr/>
        </p:nvSpPr>
        <p:spPr>
          <a:xfrm>
            <a:off x="876300" y="3057288"/>
            <a:ext cx="8145145" cy="178715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차례로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A,B,C,D,E,F,G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로 </a:t>
            </a:r>
            <a:r>
              <a:rPr lang="ko-KR" altLang="en-US" sz="1400" dirty="0">
                <a:solidFill>
                  <a:srgbClr val="FF0000"/>
                </a:solidFill>
                <a:latin typeface="10X10 Bold" charset="0"/>
                <a:ea typeface="10X10 Bold" charset="0"/>
              </a:rPr>
              <a:t>초기화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하여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선언하고 아래와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6" name="그림 1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3135393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604DBD4-9A88-2428-18CC-048A4697E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7096" y="1729977"/>
            <a:ext cx="2178756" cy="128162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252435C-BB60-F0D2-D3A9-16A6480910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2070" y="3427921"/>
            <a:ext cx="2153782" cy="145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039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초기값 사용하기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118904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9" name="그림 8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52" y="3197468"/>
            <a:ext cx="150495" cy="166370"/>
          </a:xfrm>
          <a:prstGeom prst="rect">
            <a:avLst/>
          </a:prstGeom>
          <a:noFill/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C531192-662E-9603-9428-7A2200D77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640" y="3018357"/>
            <a:ext cx="3577704" cy="17114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5A5E3D9-820B-36E3-88F0-AD29694FB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5405" y="1118870"/>
            <a:ext cx="3721720" cy="160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99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요소 변경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178715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>
                <a:latin typeface="10X10 Bold" charset="0"/>
                <a:ea typeface="10X10 Bold" charset="0"/>
              </a:rPr>
              <a:t>리스트의 길이가 </a:t>
            </a:r>
            <a:r>
              <a:rPr lang="en-US" altLang="ko-KR" sz="1400" dirty="0">
                <a:latin typeface="10X10 Bold" charset="0"/>
                <a:ea typeface="10X10 Bold" charset="0"/>
              </a:rPr>
              <a:t>5</a:t>
            </a:r>
            <a:r>
              <a:rPr lang="ko-KR" altLang="en-US" sz="1400" dirty="0">
                <a:latin typeface="10X10 Bold" charset="0"/>
                <a:ea typeface="10X10 Bold" charset="0"/>
              </a:rPr>
              <a:t>인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[0]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1, [1]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2, [2]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대입하여 오른쪽과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EBFF0DB-DE31-9D94-EA48-8A0D42CEB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683644"/>
            <a:ext cx="54229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97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요소 변경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5668645" cy="172342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>
                <a:latin typeface="10X10 Bold" charset="0"/>
                <a:ea typeface="10X10 Bold" charset="0"/>
              </a:rPr>
              <a:t>리스트의 길이가 </a:t>
            </a:r>
            <a:r>
              <a:rPr lang="en-US" altLang="ko-KR" sz="1400" dirty="0"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latin typeface="10X10 Bold" charset="0"/>
                <a:ea typeface="10X10 Bold" charset="0"/>
              </a:rPr>
              <a:t>인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[0]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10, [1]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20, [2]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대입하여 오른쪽과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9" name="TextBox 8"/>
          <p:cNvSpPr txBox="1">
            <a:spLocks/>
          </p:cNvSpPr>
          <p:nvPr/>
        </p:nvSpPr>
        <p:spPr>
          <a:xfrm>
            <a:off x="876300" y="2971654"/>
            <a:ext cx="5668645" cy="172342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>
                <a:latin typeface="10X10 Bold" charset="0"/>
                <a:ea typeface="10X10 Bold" charset="0"/>
              </a:rPr>
              <a:t>리스트의 길이가 </a:t>
            </a:r>
            <a:r>
              <a:rPr lang="en-US" altLang="ko-KR" sz="1400" dirty="0"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latin typeface="10X10 Bold" charset="0"/>
                <a:ea typeface="10X10 Bold" charset="0"/>
              </a:rPr>
              <a:t>인 </a:t>
            </a:r>
            <a:r>
              <a:rPr lang="en-US" altLang="ko-KR" sz="1400" dirty="0">
                <a:solidFill>
                  <a:srgbClr val="FF0000"/>
                </a:solidFill>
                <a:latin typeface="10X10 Bold" charset="0"/>
                <a:ea typeface="10X10 Bold" charset="0"/>
              </a:rPr>
              <a:t>double [ ]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[0]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0.1, [3]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0.4, [5]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0.6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대입하여 오른쪽과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0" name="그림 9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3049759"/>
            <a:ext cx="150495" cy="166370"/>
          </a:xfrm>
          <a:prstGeom prst="rect">
            <a:avLst/>
          </a:prstGeom>
          <a:noFill/>
        </p:spPr>
      </p:pic>
      <p:sp>
        <p:nvSpPr>
          <p:cNvPr id="3" name="직사각형 2"/>
          <p:cNvSpPr/>
          <p:nvPr/>
        </p:nvSpPr>
        <p:spPr>
          <a:xfrm>
            <a:off x="6766500" y="1040765"/>
            <a:ext cx="771686" cy="321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7608B8D-533C-C5CB-99E3-B26C185E5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029" y="887183"/>
            <a:ext cx="2092887" cy="19104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BE6324-332C-FA30-C932-606C15600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335" y="2924925"/>
            <a:ext cx="2092887" cy="191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136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요소 변경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118904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888" y="957580"/>
            <a:ext cx="150495" cy="166370"/>
          </a:xfrm>
          <a:prstGeom prst="rect">
            <a:avLst/>
          </a:prstGeom>
          <a:noFill/>
        </p:spPr>
      </p:pic>
      <p:pic>
        <p:nvPicPr>
          <p:cNvPr id="9" name="그림 8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356" y="874395"/>
            <a:ext cx="150495" cy="166370"/>
          </a:xfrm>
          <a:prstGeom prst="rect">
            <a:avLst/>
          </a:prstGeom>
          <a:noFill/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CFF5EFA-2146-B4A3-255A-2F6D15E1C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971" y="1221823"/>
            <a:ext cx="4284886" cy="272507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AA44E8C-212D-F9D0-887F-6B221B47B6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673" y="1218173"/>
            <a:ext cx="4284886" cy="272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99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요소 변경</a:t>
            </a:r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(2)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207377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>
                <a:latin typeface="10X10 Bold" charset="0"/>
                <a:ea typeface="10X10 Bold" charset="0"/>
              </a:rPr>
              <a:t>리스트의 길이가 </a:t>
            </a:r>
            <a:r>
              <a:rPr lang="en-US" altLang="ko-KR" sz="1400" dirty="0"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latin typeface="10X10 Bold" charset="0"/>
                <a:ea typeface="10X10 Bold" charset="0"/>
              </a:rPr>
              <a:t>인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[0]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번부터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[9]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번까지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’10’~’100’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대입하여 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아래와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554A1C4-64CB-655F-219F-43B94A2E9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042" y="1347614"/>
            <a:ext cx="4837658" cy="342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141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요소 변경</a:t>
            </a:r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(2)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88998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>
                <a:latin typeface="10X10 Bold" charset="0"/>
                <a:ea typeface="10X10 Bold" charset="0"/>
              </a:rPr>
              <a:t>리스트의 길이가 </a:t>
            </a:r>
            <a:r>
              <a:rPr lang="en-US" altLang="ko-KR" sz="1400" dirty="0"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latin typeface="10X10 Bold" charset="0"/>
                <a:ea typeface="10X10 Bold" charset="0"/>
              </a:rPr>
              <a:t>인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[0]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번부터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[9]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번까지 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’100’~’1000’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대입하여 오른쪽과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11" name="TextBox 10"/>
          <p:cNvSpPr txBox="1">
            <a:spLocks/>
          </p:cNvSpPr>
          <p:nvPr/>
        </p:nvSpPr>
        <p:spPr>
          <a:xfrm>
            <a:off x="876300" y="3036085"/>
            <a:ext cx="8145145" cy="118904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>
                <a:latin typeface="10X10 Bold" charset="0"/>
                <a:ea typeface="10X10 Bold" charset="0"/>
              </a:rPr>
              <a:t>리스트의 길이가 </a:t>
            </a:r>
            <a:r>
              <a:rPr lang="en-US" altLang="ko-KR" sz="1400" dirty="0"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latin typeface="10X10 Bold" charset="0"/>
                <a:ea typeface="10X10 Bold" charset="0"/>
              </a:rPr>
              <a:t>인 </a:t>
            </a:r>
            <a:r>
              <a:rPr lang="en-US" altLang="ko-KR" sz="1400" dirty="0">
                <a:solidFill>
                  <a:srgbClr val="FF0000"/>
                </a:solidFill>
                <a:latin typeface="10X10 Bold" charset="0"/>
                <a:ea typeface="10X10 Bold" charset="0"/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[0]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번부터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[9]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번까지 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’2’~’20’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중 짝수를 대입하여 오른쪽과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3114190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CB7006C-7518-E5CB-8D6F-FA692EE79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894" y="1040765"/>
            <a:ext cx="2044842" cy="176554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C32A891-5071-1A8F-F98B-673842B80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9894" y="2902813"/>
            <a:ext cx="2044843" cy="176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448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요소 변경</a:t>
            </a:r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(2)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1189043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888" y="957580"/>
            <a:ext cx="150495" cy="166370"/>
          </a:xfrm>
          <a:prstGeom prst="rect">
            <a:avLst/>
          </a:prstGeom>
          <a:noFill/>
        </p:spPr>
      </p:pic>
      <p:pic>
        <p:nvPicPr>
          <p:cNvPr id="9" name="그림 8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300" y="2727573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C6A66A2-F7B0-09A1-DEAC-22D14F057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995" y="1025579"/>
            <a:ext cx="3757786" cy="312677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594C01E-10E3-3216-05B3-0A00732002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475" y="1025579"/>
            <a:ext cx="3920881" cy="326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55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리스트값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입력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177471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</a:t>
            </a:r>
            <a:r>
              <a:rPr lang="ko-KR" altLang="en-US" sz="1400" dirty="0">
                <a:solidFill>
                  <a:srgbClr val="FF0000"/>
                </a:solidFill>
                <a:latin typeface="10X10 Bold" charset="0"/>
                <a:ea typeface="10X10 Bold" charset="0"/>
              </a:rPr>
              <a:t>값을 입력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받은 후 아래와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en-US" altLang="ko-KR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A47476D-27CE-3C2E-0FE2-0D01F8A22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504200"/>
            <a:ext cx="4615815" cy="307721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CBD5439-11EC-1ECF-92F9-B7146E840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056" y="2337955"/>
            <a:ext cx="34671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88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리스트값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입력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876300" y="1040765"/>
            <a:ext cx="8145145" cy="59093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7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</a:t>
            </a:r>
            <a:r>
              <a:rPr lang="ko-KR" altLang="en-US" sz="1400" dirty="0">
                <a:solidFill>
                  <a:srgbClr val="FF0000"/>
                </a:solidFill>
                <a:latin typeface="10X10 Bold" charset="0"/>
                <a:ea typeface="10X10 Bold" charset="0"/>
              </a:rPr>
              <a:t>값을 입력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받은 후 오른쪽과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eaLnBrk="0">
              <a:lnSpc>
                <a:spcPct val="114999"/>
              </a:lnSpc>
              <a:spcBef>
                <a:spcPts val="300"/>
              </a:spcBef>
            </a:pPr>
            <a:endParaRPr lang="ko-KR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9" name="TextBox 8"/>
          <p:cNvSpPr txBox="1">
            <a:spLocks/>
          </p:cNvSpPr>
          <p:nvPr/>
        </p:nvSpPr>
        <p:spPr>
          <a:xfrm>
            <a:off x="803910" y="2787774"/>
            <a:ext cx="8145145" cy="208621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리스트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4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</a:t>
            </a:r>
            <a:r>
              <a:rPr lang="ko-KR" altLang="en-US" sz="1400" dirty="0">
                <a:solidFill>
                  <a:srgbClr val="FF0000"/>
                </a:solidFill>
                <a:latin typeface="10X10 Bold" charset="0"/>
                <a:ea typeface="10X10 Bold" charset="0"/>
              </a:rPr>
              <a:t>값을 입력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받은 후 아래와 같이 </a:t>
            </a:r>
            <a:r>
              <a:rPr lang="ko-KR" altLang="en-US" sz="1400" dirty="0" err="1">
                <a:solidFill>
                  <a:srgbClr val="FF0000"/>
                </a:solidFill>
                <a:latin typeface="10X10 Bold" charset="0"/>
                <a:ea typeface="10X10 Bold" charset="0"/>
              </a:rPr>
              <a:t>출력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eaLnBrk="0">
              <a:lnSpc>
                <a:spcPct val="114999"/>
              </a:lnSpc>
              <a:spcBef>
                <a:spcPts val="300"/>
              </a:spcBef>
            </a:pPr>
            <a:endParaRPr lang="ko-KR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2" name="그림 11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2833087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F5CE302-7327-8365-03E0-52B4F67F3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775" y="1336230"/>
            <a:ext cx="1577953" cy="14193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13E3231-1EE5-AE94-209C-9256A4F56C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9146" y="1380841"/>
            <a:ext cx="2063014" cy="13321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DF06381-3B6D-1178-4117-7145D2D25D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078" y="3405781"/>
            <a:ext cx="1786423" cy="10116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EBFEF74-C025-98B3-E030-B847F2B382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0995" y="3405781"/>
            <a:ext cx="2109500" cy="101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45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236" y="444110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686" y="444110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리스트값</a:t>
            </a:r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 입력</a:t>
            </a:r>
          </a:p>
        </p:txBody>
      </p:sp>
      <p:pic>
        <p:nvPicPr>
          <p:cNvPr id="6" name="그림 5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40" y="977834"/>
            <a:ext cx="150495" cy="166370"/>
          </a:xfrm>
          <a:prstGeom prst="rect">
            <a:avLst/>
          </a:prstGeom>
          <a:noFill/>
        </p:spPr>
      </p:pic>
      <p:pic>
        <p:nvPicPr>
          <p:cNvPr id="10" name="그림 9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75" y="2355598"/>
            <a:ext cx="150495" cy="166370"/>
          </a:xfrm>
          <a:prstGeom prst="rect">
            <a:avLst/>
          </a:prstGeom>
          <a:noFill/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D4E70E4-BC2F-DAF2-FDBC-D17B4C8B5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3" y="1027758"/>
            <a:ext cx="3427626" cy="343584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EA6B6A9-4172-DA48-474F-4A9F69E95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218" y="1058915"/>
            <a:ext cx="4003594" cy="343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073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147566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1. 10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문자를 리스트에 저장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초기화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하고 차례로 출력하는 프로그램을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585" y="1540470"/>
            <a:ext cx="1800225" cy="2381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316B9E-F730-E136-77E5-4BAD552993EE}"/>
              </a:ext>
            </a:extLst>
          </p:cNvPr>
          <p:cNvSpPr txBox="1"/>
          <p:nvPr/>
        </p:nvSpPr>
        <p:spPr>
          <a:xfrm>
            <a:off x="1043608" y="1487874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출력예시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817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DE2AB-AC86-6CB3-E1DB-79AE2C960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6B3BD9F-CFBF-4AE5-4FB9-1B1E0E048539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66A2C5-E210-1115-BE68-1870B288743F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2BFD9B-B39B-CAE6-FEBF-3ADE5797EF1B}"/>
              </a:ext>
            </a:extLst>
          </p:cNvPr>
          <p:cNvSpPr txBox="1">
            <a:spLocks/>
          </p:cNvSpPr>
          <p:nvPr/>
        </p:nvSpPr>
        <p:spPr>
          <a:xfrm>
            <a:off x="876300" y="1040765"/>
            <a:ext cx="8145145" cy="208621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1. 10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문자를 리스트에 저장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초기화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하고 차례로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1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9341.png">
            <a:extLst>
              <a:ext uri="{FF2B5EF4-FFF2-40B4-BE49-F238E27FC236}">
                <a16:creationId xmlns:a16="http://schemas.microsoft.com/office/drawing/2014/main" id="{B9B064BE-F9F7-15D0-0F00-3904B9ADB3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4328FEB-0999-9E37-EDC4-5FC98B27C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707654"/>
            <a:ext cx="1800225" cy="2381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32215C7-41BF-5212-4F75-D032740C9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736" y="2231676"/>
            <a:ext cx="6540711" cy="187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04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57156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4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2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5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개의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숫자리스트을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선언하고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부터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까지 차례로 대입시킨 후 거꾸로 출력하는 프로그램을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</p:txBody>
      </p:sp>
      <p:pic>
        <p:nvPicPr>
          <p:cNvPr id="15" name="그림 14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C93ED35-BEBF-2F6A-6F1E-F0D847008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1625151"/>
            <a:ext cx="4392488" cy="294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91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82625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정수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개를 입력받은 후 세 번째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다섯 번째와 마지막으로 입력받은 정수를 차례로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68D7EF6-531B-8BF7-88CD-AE3058CBF4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723"/>
          <a:stretch/>
        </p:blipFill>
        <p:spPr>
          <a:xfrm>
            <a:off x="1029096" y="2269537"/>
            <a:ext cx="4342352" cy="181394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ECF1225-F96D-C033-6D7D-0D70D971C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139" y="2269537"/>
            <a:ext cx="1993900" cy="279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5628DA-FE38-8A8C-CAF2-E50C4DF78A54}"/>
              </a:ext>
            </a:extLst>
          </p:cNvPr>
          <p:cNvSpPr txBox="1"/>
          <p:nvPr/>
        </p:nvSpPr>
        <p:spPr>
          <a:xfrm>
            <a:off x="5652120" y="1831491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출력예시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473CC-BBF1-5A86-7288-5F72ADED2DFE}"/>
              </a:ext>
            </a:extLst>
          </p:cNvPr>
          <p:cNvSpPr txBox="1"/>
          <p:nvPr/>
        </p:nvSpPr>
        <p:spPr>
          <a:xfrm>
            <a:off x="954405" y="1831492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입력예시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201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1C155-86B0-797F-244F-198A24796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A85F348-99C3-F885-3895-06A76F3A072F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FA548-967D-6B14-C461-16154005BB05}"/>
              </a:ext>
            </a:extLst>
          </p:cNvPr>
          <p:cNvSpPr txBox="1">
            <a:spLocks/>
          </p:cNvSpPr>
          <p:nvPr/>
        </p:nvSpPr>
        <p:spPr>
          <a:xfrm>
            <a:off x="876300" y="1040765"/>
            <a:ext cx="8145145" cy="82625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3.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정수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개를 입력받은 후 세 번째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다섯 번째와 마지막으로 입력받은 정수를 차례로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9341.png">
            <a:extLst>
              <a:ext uri="{FF2B5EF4-FFF2-40B4-BE49-F238E27FC236}">
                <a16:creationId xmlns:a16="http://schemas.microsoft.com/office/drawing/2014/main" id="{7FEDA9B4-187E-F3FF-3C34-1AF53EF086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3397D9-B0B4-C81A-79A1-E9F78BF90331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CEF741A-7DE9-DDAA-813E-AD69A4169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707654"/>
            <a:ext cx="4342352" cy="282205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5935219-4027-CC55-693A-CE2E56781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517" y="3806075"/>
            <a:ext cx="1993900" cy="279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AC68E4-C014-E2EB-89EE-ED6F8BF1DB0C}"/>
              </a:ext>
            </a:extLst>
          </p:cNvPr>
          <p:cNvSpPr txBox="1"/>
          <p:nvPr/>
        </p:nvSpPr>
        <p:spPr>
          <a:xfrm>
            <a:off x="5943729" y="3400613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221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76300" y="1040765"/>
            <a:ext cx="8145145" cy="137306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4. 1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반부터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6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반까지의 평균점수를 저장한 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두 반을 입력받아 두 반의 평균 점수의 합을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이때 반별 평균 점수는 초기값으로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반부터 차례로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85.6 79.5 83.1 80.0 78.2 75.0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대입한다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9341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3212E33-CD0A-DA31-0C93-7AE6F6CB0F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2928" r="50976" b="-735"/>
          <a:stretch/>
        </p:blipFill>
        <p:spPr>
          <a:xfrm>
            <a:off x="1187624" y="2452362"/>
            <a:ext cx="2291191" cy="41670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31C2A82-6A61-DFD3-A2BF-2B77A0384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16" y="2452362"/>
            <a:ext cx="1612900" cy="279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84D0A5-2419-69AE-3BA5-519DDD843D9A}"/>
              </a:ext>
            </a:extLst>
          </p:cNvPr>
          <p:cNvSpPr txBox="1"/>
          <p:nvPr/>
        </p:nvSpPr>
        <p:spPr>
          <a:xfrm>
            <a:off x="4572000" y="2080313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출력예시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76722-B85B-85F2-FA00-68289838E0AD}"/>
              </a:ext>
            </a:extLst>
          </p:cNvPr>
          <p:cNvSpPr txBox="1"/>
          <p:nvPr/>
        </p:nvSpPr>
        <p:spPr>
          <a:xfrm>
            <a:off x="954405" y="2081878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입력예시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717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00C9D-2AD1-5BDD-300B-F84D9430F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6ABAA3A-0226-7F33-FDB1-E93F475FB45E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E67845-911E-F47B-9E79-66E43492DEAF}"/>
              </a:ext>
            </a:extLst>
          </p:cNvPr>
          <p:cNvSpPr txBox="1">
            <a:spLocks/>
          </p:cNvSpPr>
          <p:nvPr/>
        </p:nvSpPr>
        <p:spPr>
          <a:xfrm>
            <a:off x="876300" y="1040765"/>
            <a:ext cx="8145145" cy="137306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109855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4. 1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반부터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6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반까지의 평균점수를 저장한 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두 반을 입력받아 두 반의 평균 점수의 합을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이때 반별 평균 점수는 초기값으로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1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반부터 차례로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85.6 79.5 83.1 80.0 78.2 75.0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을 대입한다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endParaRPr lang="ko-KR" altLang="en-US" sz="14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393065" indent="0" algn="l" defTabSz="914400" eaLnBrk="0" fontAlgn="auto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FontTx/>
              <a:buNone/>
            </a:pP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pic>
        <p:nvPicPr>
          <p:cNvPr id="15" name="그림 14" descr="C:/Users/SAMSUNG/AppData/Roaming/PolarisOffice/ETemp/3684_5791712/fImage3229341.png">
            <a:extLst>
              <a:ext uri="{FF2B5EF4-FFF2-40B4-BE49-F238E27FC236}">
                <a16:creationId xmlns:a16="http://schemas.microsoft.com/office/drawing/2014/main" id="{66DD6C34-126F-1850-00E6-D20CE6D02B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0" y="1118870"/>
            <a:ext cx="150495" cy="16637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6C79CB-818A-C2D3-BBD2-F762D26BF1B1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3ACC52-9A85-8739-D8FE-2B689C3EA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689" y="2054881"/>
            <a:ext cx="4673600" cy="14986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93C9BE2-0094-8432-AAE9-7376D816F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192" y="3603704"/>
            <a:ext cx="1612900" cy="279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E6D10F-E424-0369-8CF4-EBE729BF295C}"/>
              </a:ext>
            </a:extLst>
          </p:cNvPr>
          <p:cNvSpPr txBox="1"/>
          <p:nvPr/>
        </p:nvSpPr>
        <p:spPr>
          <a:xfrm>
            <a:off x="6203079" y="3273798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236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pic>
        <p:nvPicPr>
          <p:cNvPr id="17" name="그림 16" descr="C:/Users/SAMSUNG/AppData/Roaming/PolarisOffice/ETemp/3684_5791712/fImage3222036334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16" y="1069719"/>
            <a:ext cx="150495" cy="166370"/>
          </a:xfrm>
          <a:prstGeom prst="rect">
            <a:avLst/>
          </a:prstGeom>
          <a:noFill/>
        </p:spPr>
      </p:pic>
      <p:sp>
        <p:nvSpPr>
          <p:cNvPr id="2" name="직사각형 1"/>
          <p:cNvSpPr/>
          <p:nvPr/>
        </p:nvSpPr>
        <p:spPr>
          <a:xfrm>
            <a:off x="683568" y="987574"/>
            <a:ext cx="8145145" cy="872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5. 10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명의 컴퓨터 점수를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리스트에 저장하고 총점과 평균을 구하여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D08F710-7A94-6BEB-16A1-0F38DF6439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959"/>
          <a:stretch/>
        </p:blipFill>
        <p:spPr>
          <a:xfrm>
            <a:off x="1273187" y="2059038"/>
            <a:ext cx="2459423" cy="18227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D788995-DFED-9B3C-6A23-ABEBB81BEE1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757"/>
          <a:stretch/>
        </p:blipFill>
        <p:spPr>
          <a:xfrm>
            <a:off x="4756140" y="2129588"/>
            <a:ext cx="1926803" cy="5404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0A409D-821F-34BD-4993-3D654443A909}"/>
              </a:ext>
            </a:extLst>
          </p:cNvPr>
          <p:cNvSpPr txBox="1"/>
          <p:nvPr/>
        </p:nvSpPr>
        <p:spPr>
          <a:xfrm>
            <a:off x="4572000" y="1707654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출력예시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8330D-7F00-4433-76D8-B127B4F256D3}"/>
              </a:ext>
            </a:extLst>
          </p:cNvPr>
          <p:cNvSpPr txBox="1"/>
          <p:nvPr/>
        </p:nvSpPr>
        <p:spPr>
          <a:xfrm>
            <a:off x="954405" y="1709219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ko-KR" altLang="en-US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입력예시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0148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409A-D813-07E9-6A64-DFEDD435C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F0105ED-2F6B-3B93-02FC-CFEE651FCADE}"/>
              </a:ext>
            </a:extLst>
          </p:cNvPr>
          <p:cNvSpPr txBox="1"/>
          <p:nvPr/>
        </p:nvSpPr>
        <p:spPr>
          <a:xfrm>
            <a:off x="79375" y="443865"/>
            <a:ext cx="2679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1</a:t>
            </a:r>
            <a:endParaRPr lang="ko-KR" altLang="en-US" b="1" dirty="0">
              <a:solidFill>
                <a:schemeClr val="bg1"/>
              </a:solidFill>
              <a:latin typeface="10X10" pitchFamily="50" charset="-127"/>
              <a:ea typeface="10X10" pitchFamily="50" charset="-127"/>
            </a:endParaRPr>
          </a:p>
        </p:txBody>
      </p:sp>
      <p:pic>
        <p:nvPicPr>
          <p:cNvPr id="17" name="그림 16" descr="C:/Users/SAMSUNG/AppData/Roaming/PolarisOffice/ETemp/3684_5791712/fImage3222036334.png">
            <a:extLst>
              <a:ext uri="{FF2B5EF4-FFF2-40B4-BE49-F238E27FC236}">
                <a16:creationId xmlns:a16="http://schemas.microsoft.com/office/drawing/2014/main" id="{4396B313-7CC2-2F49-7AEC-316619AE94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16" y="1069719"/>
            <a:ext cx="150495" cy="166370"/>
          </a:xfrm>
          <a:prstGeom prst="rect">
            <a:avLst/>
          </a:prstGeom>
          <a:noFill/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B44BE75-75B5-11E7-AB0F-8A458788BE27}"/>
              </a:ext>
            </a:extLst>
          </p:cNvPr>
          <p:cNvSpPr/>
          <p:nvPr/>
        </p:nvSpPr>
        <p:spPr>
          <a:xfrm>
            <a:off x="683568" y="987574"/>
            <a:ext cx="8145145" cy="1169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5. 10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명의 컴퓨터 점수를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입력받아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리스트에 저장하고 총점과 평균을 구하여 출력하는 프로그램을 작성하시오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.</a:t>
            </a: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  <a:p>
            <a:pPr marL="109855" eaLnBrk="0">
              <a:lnSpc>
                <a:spcPct val="114999"/>
              </a:lnSpc>
              <a:spcBef>
                <a:spcPts val="400"/>
              </a:spcBef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 ) 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02250D-9B3B-23B5-32EE-586A2D7A2373}"/>
              </a:ext>
            </a:extLst>
          </p:cNvPr>
          <p:cNvSpPr txBox="1"/>
          <p:nvPr/>
        </p:nvSpPr>
        <p:spPr>
          <a:xfrm>
            <a:off x="504825" y="44386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10X10" pitchFamily="50" charset="-127"/>
                <a:ea typeface="10X10" pitchFamily="50" charset="-127"/>
              </a:rPr>
              <a:t>리스트 예제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43FEE13-B3D6-6114-2CDE-AD304FA31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553" y="1306472"/>
            <a:ext cx="2459423" cy="35025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A1CFA7-6088-F035-C668-BC619850FA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757"/>
          <a:stretch/>
        </p:blipFill>
        <p:spPr>
          <a:xfrm>
            <a:off x="5597445" y="3343072"/>
            <a:ext cx="1926803" cy="5404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53329C-F35C-D100-FDC0-6947F190BA13}"/>
              </a:ext>
            </a:extLst>
          </p:cNvPr>
          <p:cNvSpPr txBox="1"/>
          <p:nvPr/>
        </p:nvSpPr>
        <p:spPr>
          <a:xfrm>
            <a:off x="5436096" y="3024901"/>
            <a:ext cx="1295977" cy="2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55" indent="0" algn="l" defTabSz="914400" eaLnBrk="0" fontAlgn="auto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FontTx/>
              <a:buNone/>
            </a:pPr>
            <a:r>
              <a:rPr lang="en-US" altLang="ko-KR" sz="1200" b="0" strike="noStrike" cap="non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결과</a:t>
            </a:r>
            <a:r>
              <a:rPr lang="en-US" altLang="ko-KR" sz="1200" b="0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10X10 Bold" charset="0"/>
                <a:ea typeface="10X10 Bold" charset="0"/>
              </a:rPr>
              <a:t> ) </a:t>
            </a:r>
            <a:endParaRPr lang="ko-KR" altLang="en-US" sz="1200" b="0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10X10 Bold" charset="0"/>
              <a:ea typeface="10X10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107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4753" y="3560844"/>
            <a:ext cx="35344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chemeClr val="bg1">
                    <a:lumMod val="65000"/>
                  </a:schemeClr>
                </a:solidFill>
              </a:rPr>
              <a:t>THANK YOU</a:t>
            </a:r>
            <a:endParaRPr lang="ko-KR" altLang="en-US" sz="4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Picture 2" descr="D:\은경\최종시안\스티커_로봇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084" y="987574"/>
            <a:ext cx="2521831" cy="2521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796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24985</TotalTime>
  <Words>798</Words>
  <Application>Microsoft Office PowerPoint</Application>
  <PresentationFormat>화면 슬라이드 쇼(16:9)</PresentationFormat>
  <Paragraphs>184</Paragraphs>
  <Slides>30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10X10</vt:lpstr>
      <vt:lpstr>10X10 Bold</vt:lpstr>
      <vt:lpstr>12LotteMartDreamMedium</vt:lpstr>
      <vt:lpstr>12롯데마트드림Bold</vt:lpstr>
      <vt:lpstr>12롯데마트드림Medium</vt:lpstr>
      <vt:lpstr>나눔바른고딕 옛한글</vt:lpstr>
      <vt:lpstr>맑은 고딕</vt:lpstr>
      <vt:lpstr>휴먼모음T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이소영</dc:creator>
  <cp:lastModifiedBy>은진 이</cp:lastModifiedBy>
  <cp:revision>1109</cp:revision>
  <cp:lastPrinted>2017-05-13T00:43:47Z</cp:lastPrinted>
  <dcterms:created xsi:type="dcterms:W3CDTF">2015-11-19T15:23:17Z</dcterms:created>
  <dcterms:modified xsi:type="dcterms:W3CDTF">2026-04-20T07:37:05Z</dcterms:modified>
</cp:coreProperties>
</file>