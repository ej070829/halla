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50" r:id="rId2"/>
    <p:sldId id="555" r:id="rId3"/>
    <p:sldId id="352" r:id="rId4"/>
    <p:sldId id="424" r:id="rId5"/>
    <p:sldId id="364" r:id="rId6"/>
    <p:sldId id="337" r:id="rId7"/>
    <p:sldId id="339" r:id="rId8"/>
    <p:sldId id="425" r:id="rId9"/>
    <p:sldId id="281" r:id="rId10"/>
    <p:sldId id="327" r:id="rId11"/>
    <p:sldId id="426" r:id="rId12"/>
    <p:sldId id="429" r:id="rId13"/>
    <p:sldId id="430" r:id="rId14"/>
    <p:sldId id="554" r:id="rId15"/>
    <p:sldId id="428" r:id="rId16"/>
    <p:sldId id="324" r:id="rId17"/>
    <p:sldId id="329" r:id="rId18"/>
    <p:sldId id="331" r:id="rId19"/>
    <p:sldId id="427" r:id="rId20"/>
    <p:sldId id="433" r:id="rId21"/>
    <p:sldId id="431" r:id="rId22"/>
    <p:sldId id="432" r:id="rId23"/>
    <p:sldId id="434" r:id="rId24"/>
    <p:sldId id="553" r:id="rId25"/>
  </p:sldIdLst>
  <p:sldSz cx="9144000" cy="5143500" type="screen16x9"/>
  <p:notesSz cx="6888163" cy="100218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E7D16"/>
    <a:srgbClr val="213540"/>
    <a:srgbClr val="FFD44E"/>
    <a:srgbClr val="704837"/>
    <a:srgbClr val="7396F5"/>
    <a:srgbClr val="EE6E73"/>
    <a:srgbClr val="FE4E50"/>
    <a:srgbClr val="E6E8E8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497" autoAdjust="0"/>
    <p:restoredTop sz="95494" autoAdjust="0"/>
  </p:normalViewPr>
  <p:slideViewPr>
    <p:cSldViewPr>
      <p:cViewPr varScale="1">
        <p:scale>
          <a:sx n="146" d="100"/>
          <a:sy n="146" d="100"/>
        </p:scale>
        <p:origin x="192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4871" cy="502835"/>
          </a:xfrm>
          <a:prstGeom prst="rect">
            <a:avLst/>
          </a:prstGeom>
        </p:spPr>
        <p:txBody>
          <a:bodyPr vert="horz" lIns="96616" tIns="48307" rIns="96616" bIns="48307" rtlCol="0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9" y="1"/>
            <a:ext cx="2984871" cy="502835"/>
          </a:xfrm>
          <a:prstGeom prst="rect">
            <a:avLst/>
          </a:prstGeom>
        </p:spPr>
        <p:txBody>
          <a:bodyPr vert="horz" lIns="96616" tIns="48307" rIns="96616" bIns="48307" rtlCol="0"/>
          <a:lstStyle>
            <a:lvl1pPr algn="r">
              <a:defRPr sz="1300"/>
            </a:lvl1pPr>
          </a:lstStyle>
          <a:p>
            <a:fld id="{72D9A5FD-E331-4056-855E-36F30E6A9905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1863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7" rIns="96616" bIns="48307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3035"/>
            <a:ext cx="5510530" cy="3946118"/>
          </a:xfrm>
          <a:prstGeom prst="rect">
            <a:avLst/>
          </a:prstGeom>
        </p:spPr>
        <p:txBody>
          <a:bodyPr vert="horz" lIns="96616" tIns="48307" rIns="96616" bIns="4830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519055"/>
            <a:ext cx="2984871" cy="502834"/>
          </a:xfrm>
          <a:prstGeom prst="rect">
            <a:avLst/>
          </a:prstGeom>
        </p:spPr>
        <p:txBody>
          <a:bodyPr vert="horz" lIns="96616" tIns="48307" rIns="96616" bIns="48307" rtlCol="0" anchor="b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9" y="9519055"/>
            <a:ext cx="2984871" cy="502834"/>
          </a:xfrm>
          <a:prstGeom prst="rect">
            <a:avLst/>
          </a:prstGeom>
        </p:spPr>
        <p:txBody>
          <a:bodyPr vert="horz" lIns="96616" tIns="48307" rIns="96616" bIns="48307" rtlCol="0" anchor="b"/>
          <a:lstStyle>
            <a:lvl1pPr algn="r">
              <a:defRPr sz="1300"/>
            </a:lvl1pPr>
          </a:lstStyle>
          <a:p>
            <a:fld id="{9599A198-E9C2-43A8-BA3B-B3D7BEBA52A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9496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643AC-21EC-6344-8204-58F9DC4B16F0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10891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99A198-E9C2-43A8-BA3B-B3D7BEBA52A1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0011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9951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0072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4875626"/>
            <a:ext cx="9162728" cy="107157"/>
          </a:xfrm>
          <a:prstGeom prst="rect">
            <a:avLst/>
          </a:prstGeom>
          <a:solidFill>
            <a:srgbClr val="213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213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14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2B46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2B46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6859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74C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74C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7060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FFD4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FFD4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7768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FE4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FE4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446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704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704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975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211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BDF18-086A-46A3-884F-0CFAD55014EA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868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41480"/>
            <a:ext cx="9144000" cy="1620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0" y="4840002"/>
            <a:ext cx="9144000" cy="1620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51033" y="1518044"/>
            <a:ext cx="6841938" cy="2136226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effectLst/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프로그램 언어</a:t>
            </a:r>
            <a:r>
              <a:rPr lang="en-US" altLang="ko-KR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effectLst/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[</a:t>
            </a: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파이썬</a:t>
            </a:r>
            <a:r>
              <a:rPr lang="en-US" altLang="ko-KR" sz="4800" b="1" spc="30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effectLst/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lang="en-US" altLang="ko-KR" sz="4800" b="1" spc="30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6. </a:t>
            </a: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이중</a:t>
            </a:r>
            <a:r>
              <a:rPr lang="en-US" altLang="ko-KR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 for</a:t>
            </a: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12롯데마트드림Medium" panose="02020603020101020101" pitchFamily="18" charset="-127"/>
                <a:ea typeface="12롯데마트드림Medium" panose="02020603020101020101" pitchFamily="18" charset="-127"/>
              </a:rPr>
              <a:t>문 이해하기</a:t>
            </a:r>
            <a:endParaRPr lang="ko-KR" altLang="en-US" sz="4800" b="1" spc="300" dirty="0">
              <a:ln>
                <a:solidFill>
                  <a:srgbClr val="75C3B6">
                    <a:alpha val="0"/>
                  </a:srgbClr>
                </a:solidFill>
              </a:ln>
              <a:solidFill>
                <a:srgbClr val="3792AB"/>
              </a:solidFill>
              <a:effectLst/>
              <a:latin typeface="12롯데마트드림Medium" panose="02020603020101020101" pitchFamily="18" charset="-127"/>
              <a:ea typeface="12롯데마트드림Medium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53417" y="2591414"/>
            <a:ext cx="4637167" cy="253916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spc="17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75C3B6"/>
                </a:solidFill>
                <a:latin typeface="10X10 Bold" panose="020D0604000000000000" pitchFamily="50" charset="-127"/>
                <a:ea typeface="10X10 Bold" panose="020D0604000000000000" pitchFamily="50" charset="-127"/>
              </a:rPr>
              <a:t>CODING SOFTWARE CREATIVE EDUCATION CENTER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3139076" y="2571750"/>
            <a:ext cx="2865849" cy="0"/>
          </a:xfrm>
          <a:prstGeom prst="line">
            <a:avLst/>
          </a:prstGeom>
          <a:ln w="6350">
            <a:solidFill>
              <a:srgbClr val="C5E5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3" descr="D:\은경\최종시안\스티커_로봇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7062" y="4576562"/>
            <a:ext cx="566938" cy="56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68CE04E-3AEA-2546-82B6-E6078099DA44}"/>
              </a:ext>
            </a:extLst>
          </p:cNvPr>
          <p:cNvSpPr txBox="1"/>
          <p:nvPr/>
        </p:nvSpPr>
        <p:spPr>
          <a:xfrm>
            <a:off x="8672658" y="411510"/>
            <a:ext cx="375745" cy="253916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spc="17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75C3B6"/>
                </a:solidFill>
                <a:latin typeface="10X10 Bold" panose="020D0604000000000000" pitchFamily="50" charset="-127"/>
                <a:ea typeface="10X10 Bold" panose="020D0604000000000000" pitchFamily="50" charset="-127"/>
              </a:rPr>
              <a:t>06</a:t>
            </a:r>
            <a:endParaRPr lang="en-US" altLang="ko-KR" sz="1050" spc="170" dirty="0">
              <a:ln>
                <a:solidFill>
                  <a:srgbClr val="75C3B6">
                    <a:alpha val="0"/>
                  </a:srgbClr>
                </a:solidFill>
              </a:ln>
              <a:solidFill>
                <a:srgbClr val="75C3B6"/>
              </a:solidFill>
              <a:latin typeface="10X10 Bold" panose="020D0604000000000000" pitchFamily="50" charset="-127"/>
              <a:ea typeface="10X10 Bold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3597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2433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이중 </a:t>
            </a:r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for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문                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r="15718" b="49944"/>
          <a:stretch/>
        </p:blipFill>
        <p:spPr>
          <a:xfrm>
            <a:off x="971600" y="2286444"/>
            <a:ext cx="6912768" cy="24129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36A9C6-C613-C83A-FACD-EA41944A7232}"/>
              </a:ext>
            </a:extLst>
          </p:cNvPr>
          <p:cNvSpPr txBox="1"/>
          <p:nvPr/>
        </p:nvSpPr>
        <p:spPr>
          <a:xfrm>
            <a:off x="755576" y="933270"/>
            <a:ext cx="4968552" cy="1194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600" dirty="0">
                <a:latin typeface="+mn-ea"/>
                <a:cs typeface="Arial Hebrew Scholar" pitchFamily="2" charset="-79"/>
              </a:rPr>
              <a:t>-</a:t>
            </a:r>
            <a:r>
              <a:rPr kumimoji="1" lang="ko-KR" altLang="en-US" sz="1600" dirty="0">
                <a:latin typeface="+mn-ea"/>
                <a:cs typeface="Arial Hebrew Scholar" pitchFamily="2" charset="-79"/>
              </a:rPr>
              <a:t> 이중 </a:t>
            </a:r>
            <a:r>
              <a:rPr kumimoji="1" lang="en-US" altLang="ko-KR" sz="1600" dirty="0">
                <a:latin typeface="+mn-ea"/>
                <a:cs typeface="Arial Hebrew Scholar" pitchFamily="2" charset="-79"/>
              </a:rPr>
              <a:t>for</a:t>
            </a:r>
            <a:r>
              <a:rPr kumimoji="1" lang="ko-KR" altLang="en-US" sz="1600" dirty="0">
                <a:latin typeface="+mn-ea"/>
                <a:cs typeface="Arial Hebrew Scholar" pitchFamily="2" charset="-79"/>
              </a:rPr>
              <a:t>문 </a:t>
            </a:r>
            <a:r>
              <a:rPr kumimoji="1" lang="en-US" altLang="ko-KR" sz="1600" dirty="0">
                <a:latin typeface="+mn-ea"/>
                <a:cs typeface="Arial Hebrew Scholar" pitchFamily="2" charset="-79"/>
              </a:rPr>
              <a:t>:</a:t>
            </a:r>
            <a:r>
              <a:rPr kumimoji="1" lang="ko-KR" altLang="en-US" sz="1600" dirty="0">
                <a:latin typeface="+mn-ea"/>
                <a:cs typeface="Arial Hebrew Scholar" pitchFamily="2" charset="-79"/>
              </a:rPr>
              <a:t> </a:t>
            </a:r>
            <a:r>
              <a:rPr kumimoji="1" lang="en-US" altLang="en-US" sz="1600" dirty="0">
                <a:latin typeface="+mn-ea"/>
                <a:cs typeface="Arial Hebrew Scholar" pitchFamily="2" charset="-79"/>
              </a:rPr>
              <a:t>for </a:t>
            </a:r>
            <a:r>
              <a:rPr kumimoji="1" lang="ko-KR" altLang="en-US" sz="1600" dirty="0">
                <a:latin typeface="+mn-ea"/>
                <a:cs typeface="Arial Hebrew Scholar" pitchFamily="2" charset="-79"/>
              </a:rPr>
              <a:t>문 안에 </a:t>
            </a:r>
            <a:r>
              <a:rPr kumimoji="1" lang="en-US" altLang="ko-KR" sz="1600" dirty="0">
                <a:latin typeface="+mn-ea"/>
                <a:cs typeface="Arial Hebrew Scholar" pitchFamily="2" charset="-79"/>
              </a:rPr>
              <a:t>for</a:t>
            </a:r>
            <a:r>
              <a:rPr kumimoji="1" lang="ko-KR" altLang="en-US" sz="1600" dirty="0">
                <a:latin typeface="+mn-ea"/>
                <a:cs typeface="Arial Hebrew Scholar" pitchFamily="2" charset="-79"/>
              </a:rPr>
              <a:t>문이 있는 구조</a:t>
            </a:r>
            <a:endParaRPr kumimoji="1" lang="en-US" altLang="ko-KR" sz="1600" dirty="0">
              <a:latin typeface="+mn-ea"/>
              <a:cs typeface="Arial Hebrew Scholar" pitchFamily="2" charset="-79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600" dirty="0">
                <a:latin typeface="+mn-ea"/>
                <a:cs typeface="Arial Hebrew Scholar" pitchFamily="2" charset="-79"/>
              </a:rPr>
              <a:t>-</a:t>
            </a:r>
            <a:r>
              <a:rPr kumimoji="1" lang="ko-KR" altLang="en-US" sz="1600" dirty="0">
                <a:latin typeface="+mn-ea"/>
                <a:cs typeface="Arial Hebrew Scholar" pitchFamily="2" charset="-79"/>
              </a:rPr>
              <a:t> 이중 </a:t>
            </a:r>
            <a:r>
              <a:rPr kumimoji="1" lang="en-US" altLang="ko-KR" sz="1600" dirty="0">
                <a:latin typeface="+mn-ea"/>
                <a:cs typeface="Arial Hebrew Scholar" pitchFamily="2" charset="-79"/>
              </a:rPr>
              <a:t>for</a:t>
            </a:r>
            <a:r>
              <a:rPr kumimoji="1" lang="ko-KR" altLang="en-US" sz="1600" dirty="0">
                <a:latin typeface="+mn-ea"/>
                <a:cs typeface="Arial Hebrew Scholar" pitchFamily="2" charset="-79"/>
              </a:rPr>
              <a:t>문을 학습하는 이유 </a:t>
            </a:r>
            <a:r>
              <a:rPr kumimoji="1" lang="en-US" altLang="ko-KR" sz="1600" dirty="0">
                <a:latin typeface="+mn-ea"/>
                <a:cs typeface="Arial Hebrew Scholar" pitchFamily="2" charset="-79"/>
              </a:rPr>
              <a:t>:</a:t>
            </a:r>
            <a:r>
              <a:rPr kumimoji="1" lang="ko-KR" altLang="en-US" sz="1600" dirty="0">
                <a:latin typeface="+mn-ea"/>
                <a:cs typeface="Arial Hebrew Scholar" pitchFamily="2" charset="-79"/>
              </a:rPr>
              <a:t> 배열 학습을 위함</a:t>
            </a:r>
            <a:endParaRPr kumimoji="1" lang="en-US" altLang="ko-KR" sz="1600" dirty="0">
              <a:latin typeface="+mn-ea"/>
              <a:cs typeface="Arial Hebrew Scholar" pitchFamily="2" charset="-79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600" b="1" dirty="0">
                <a:solidFill>
                  <a:srgbClr val="FF0000"/>
                </a:solidFill>
                <a:latin typeface="+mn-ea"/>
                <a:cs typeface="Arial Hebrew Scholar" pitchFamily="2" charset="-79"/>
              </a:rPr>
              <a:t>-</a:t>
            </a:r>
            <a:r>
              <a:rPr kumimoji="1" lang="ko-KR" altLang="en-US" sz="1600" b="1" dirty="0">
                <a:solidFill>
                  <a:srgbClr val="FF0000"/>
                </a:solidFill>
                <a:latin typeface="+mn-ea"/>
                <a:cs typeface="Arial Hebrew Scholar" pitchFamily="2" charset="-79"/>
              </a:rPr>
              <a:t> 이중 </a:t>
            </a:r>
            <a:r>
              <a:rPr kumimoji="1" lang="en-US" altLang="ko-KR" sz="1600" b="1" dirty="0">
                <a:solidFill>
                  <a:srgbClr val="FF0000"/>
                </a:solidFill>
                <a:latin typeface="+mn-ea"/>
                <a:cs typeface="Arial Hebrew Scholar" pitchFamily="2" charset="-79"/>
              </a:rPr>
              <a:t>for</a:t>
            </a:r>
            <a:r>
              <a:rPr kumimoji="1" lang="ko-KR" altLang="en-US" sz="1600" b="1" dirty="0">
                <a:solidFill>
                  <a:srgbClr val="FF0000"/>
                </a:solidFill>
                <a:latin typeface="+mn-ea"/>
                <a:cs typeface="Arial Hebrew Scholar" pitchFamily="2" charset="-79"/>
              </a:rPr>
              <a:t>문의 구조를 암기</a:t>
            </a:r>
            <a:endParaRPr kumimoji="1" lang="x-none" altLang="en-US" sz="1600" b="1" dirty="0">
              <a:solidFill>
                <a:srgbClr val="FF0000"/>
              </a:solidFill>
              <a:latin typeface="+mn-ea"/>
              <a:cs typeface="Arial Hebrew Scholar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7542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2433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이중 </a:t>
            </a:r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for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문                </a:t>
            </a:r>
            <a:endParaRPr lang="ko-KR" altLang="en-US" b="1" dirty="0">
              <a:solidFill>
                <a:srgbClr val="FFD44E"/>
              </a:solidFill>
              <a:latin typeface="210 연필스케치 R" panose="02020603020101020101" pitchFamily="18" charset="-127"/>
              <a:ea typeface="210 연필스케치 R" panose="02020603020101020101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t="50056" r="17626"/>
          <a:stretch/>
        </p:blipFill>
        <p:spPr>
          <a:xfrm>
            <a:off x="614004" y="1032445"/>
            <a:ext cx="7869596" cy="2804289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80BEEBB-08FE-B44F-ABE2-AFF5CECA3074}"/>
              </a:ext>
            </a:extLst>
          </p:cNvPr>
          <p:cNvGraphicFramePr>
            <a:graphicFrameLocks noGrp="1"/>
          </p:cNvGraphicFramePr>
          <p:nvPr/>
        </p:nvGraphicFramePr>
        <p:xfrm>
          <a:off x="46588" y="3882754"/>
          <a:ext cx="1800200" cy="101092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450050">
                  <a:extLst>
                    <a:ext uri="{9D8B030D-6E8A-4147-A177-3AD203B41FA5}">
                      <a16:colId xmlns:a16="http://schemas.microsoft.com/office/drawing/2014/main" val="3092537339"/>
                    </a:ext>
                  </a:extLst>
                </a:gridCol>
                <a:gridCol w="450050">
                  <a:extLst>
                    <a:ext uri="{9D8B030D-6E8A-4147-A177-3AD203B41FA5}">
                      <a16:colId xmlns:a16="http://schemas.microsoft.com/office/drawing/2014/main" val="171731398"/>
                    </a:ext>
                  </a:extLst>
                </a:gridCol>
                <a:gridCol w="450050">
                  <a:extLst>
                    <a:ext uri="{9D8B030D-6E8A-4147-A177-3AD203B41FA5}">
                      <a16:colId xmlns:a16="http://schemas.microsoft.com/office/drawing/2014/main" val="940262163"/>
                    </a:ext>
                  </a:extLst>
                </a:gridCol>
                <a:gridCol w="450050">
                  <a:extLst>
                    <a:ext uri="{9D8B030D-6E8A-4147-A177-3AD203B41FA5}">
                      <a16:colId xmlns:a16="http://schemas.microsoft.com/office/drawing/2014/main" val="1938265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    n</a:t>
                      </a:r>
                    </a:p>
                    <a:p>
                      <a:pPr algn="l"/>
                      <a:r>
                        <a:rPr lang="en-US" altLang="ko-Kore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m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1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2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3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0265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1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명</a:t>
                      </a:r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2;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명</a:t>
                      </a:r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2;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명</a:t>
                      </a:r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2;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246773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1A2B5866-F105-6A48-B5F1-074D2865BDF8}"/>
              </a:ext>
            </a:extLst>
          </p:cNvPr>
          <p:cNvSpPr txBox="1"/>
          <p:nvPr/>
        </p:nvSpPr>
        <p:spPr>
          <a:xfrm>
            <a:off x="1829676" y="4149743"/>
            <a:ext cx="510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1400" b="1" dirty="0">
                <a:solidFill>
                  <a:srgbClr val="FF0000"/>
                </a:solidFill>
                <a:latin typeface="+mn-ea"/>
              </a:rPr>
              <a:t>명</a:t>
            </a:r>
            <a:r>
              <a:rPr kumimoji="1" lang="en-US" altLang="ko-Kore-KR" sz="14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en-US" altLang="ko-KR" sz="1400" b="1" dirty="0">
                <a:solidFill>
                  <a:srgbClr val="FF0000"/>
                </a:solidFill>
                <a:latin typeface="+mn-ea"/>
              </a:rPr>
              <a:t>;</a:t>
            </a:r>
            <a:endParaRPr kumimoji="1" lang="ko-Kore-KR" altLang="en-US" sz="1400" b="1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6B687A65-2D6D-3B4D-A50A-2AEC9F0683B3}"/>
              </a:ext>
            </a:extLst>
          </p:cNvPr>
          <p:cNvGraphicFramePr>
            <a:graphicFrameLocks noGrp="1"/>
          </p:cNvGraphicFramePr>
          <p:nvPr/>
        </p:nvGraphicFramePr>
        <p:xfrm>
          <a:off x="2314774" y="3882754"/>
          <a:ext cx="1800200" cy="101092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450050">
                  <a:extLst>
                    <a:ext uri="{9D8B030D-6E8A-4147-A177-3AD203B41FA5}">
                      <a16:colId xmlns:a16="http://schemas.microsoft.com/office/drawing/2014/main" val="3092537339"/>
                    </a:ext>
                  </a:extLst>
                </a:gridCol>
                <a:gridCol w="450050">
                  <a:extLst>
                    <a:ext uri="{9D8B030D-6E8A-4147-A177-3AD203B41FA5}">
                      <a16:colId xmlns:a16="http://schemas.microsoft.com/office/drawing/2014/main" val="171731398"/>
                    </a:ext>
                  </a:extLst>
                </a:gridCol>
                <a:gridCol w="450050">
                  <a:extLst>
                    <a:ext uri="{9D8B030D-6E8A-4147-A177-3AD203B41FA5}">
                      <a16:colId xmlns:a16="http://schemas.microsoft.com/office/drawing/2014/main" val="940262163"/>
                    </a:ext>
                  </a:extLst>
                </a:gridCol>
                <a:gridCol w="450050">
                  <a:extLst>
                    <a:ext uri="{9D8B030D-6E8A-4147-A177-3AD203B41FA5}">
                      <a16:colId xmlns:a16="http://schemas.microsoft.com/office/drawing/2014/main" val="1938265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    n</a:t>
                      </a:r>
                    </a:p>
                    <a:p>
                      <a:pPr algn="l"/>
                      <a:r>
                        <a:rPr lang="en-US" altLang="ko-Kore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m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1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2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3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0265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2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명</a:t>
                      </a:r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2;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명</a:t>
                      </a:r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2;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명</a:t>
                      </a:r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2;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246773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90E77FEB-6E73-4F4B-99BF-C31039814ADE}"/>
              </a:ext>
            </a:extLst>
          </p:cNvPr>
          <p:cNvSpPr txBox="1"/>
          <p:nvPr/>
        </p:nvSpPr>
        <p:spPr>
          <a:xfrm>
            <a:off x="4097862" y="4149743"/>
            <a:ext cx="510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1400" b="1" dirty="0">
                <a:solidFill>
                  <a:srgbClr val="FF0000"/>
                </a:solidFill>
                <a:latin typeface="+mn-ea"/>
              </a:rPr>
              <a:t>명</a:t>
            </a:r>
            <a:r>
              <a:rPr kumimoji="1" lang="en-US" altLang="ko-Kore-KR" sz="14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en-US" altLang="ko-KR" sz="1400" b="1" dirty="0">
                <a:solidFill>
                  <a:srgbClr val="FF0000"/>
                </a:solidFill>
                <a:latin typeface="+mn-ea"/>
              </a:rPr>
              <a:t>;</a:t>
            </a:r>
            <a:endParaRPr kumimoji="1" lang="ko-Kore-KR" altLang="en-US" sz="1400" b="1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31AE742A-2191-6841-B1B6-3693AAF0B36F}"/>
              </a:ext>
            </a:extLst>
          </p:cNvPr>
          <p:cNvGraphicFramePr>
            <a:graphicFrameLocks noGrp="1"/>
          </p:cNvGraphicFramePr>
          <p:nvPr/>
        </p:nvGraphicFramePr>
        <p:xfrm>
          <a:off x="4607938" y="3836734"/>
          <a:ext cx="1800200" cy="101092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450050">
                  <a:extLst>
                    <a:ext uri="{9D8B030D-6E8A-4147-A177-3AD203B41FA5}">
                      <a16:colId xmlns:a16="http://schemas.microsoft.com/office/drawing/2014/main" val="3092537339"/>
                    </a:ext>
                  </a:extLst>
                </a:gridCol>
                <a:gridCol w="450050">
                  <a:extLst>
                    <a:ext uri="{9D8B030D-6E8A-4147-A177-3AD203B41FA5}">
                      <a16:colId xmlns:a16="http://schemas.microsoft.com/office/drawing/2014/main" val="171731398"/>
                    </a:ext>
                  </a:extLst>
                </a:gridCol>
                <a:gridCol w="450050">
                  <a:extLst>
                    <a:ext uri="{9D8B030D-6E8A-4147-A177-3AD203B41FA5}">
                      <a16:colId xmlns:a16="http://schemas.microsoft.com/office/drawing/2014/main" val="940262163"/>
                    </a:ext>
                  </a:extLst>
                </a:gridCol>
                <a:gridCol w="450050">
                  <a:extLst>
                    <a:ext uri="{9D8B030D-6E8A-4147-A177-3AD203B41FA5}">
                      <a16:colId xmlns:a16="http://schemas.microsoft.com/office/drawing/2014/main" val="1938265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    n</a:t>
                      </a:r>
                    </a:p>
                    <a:p>
                      <a:pPr algn="l"/>
                      <a:r>
                        <a:rPr lang="en-US" altLang="ko-Kore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m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1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2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3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0265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3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명</a:t>
                      </a:r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2;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명</a:t>
                      </a:r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2;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명</a:t>
                      </a:r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2;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2467736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2FA7F021-5186-6A45-8FBC-F858C99D221B}"/>
              </a:ext>
            </a:extLst>
          </p:cNvPr>
          <p:cNvSpPr txBox="1"/>
          <p:nvPr/>
        </p:nvSpPr>
        <p:spPr>
          <a:xfrm>
            <a:off x="6391026" y="4103723"/>
            <a:ext cx="510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1400" b="1" dirty="0">
                <a:solidFill>
                  <a:srgbClr val="FF0000"/>
                </a:solidFill>
                <a:latin typeface="+mn-ea"/>
              </a:rPr>
              <a:t>명</a:t>
            </a:r>
            <a:r>
              <a:rPr kumimoji="1" lang="en-US" altLang="ko-Kore-KR" sz="14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en-US" altLang="ko-KR" sz="1400" b="1" dirty="0">
                <a:solidFill>
                  <a:srgbClr val="FF0000"/>
                </a:solidFill>
                <a:latin typeface="+mn-ea"/>
              </a:rPr>
              <a:t>;</a:t>
            </a:r>
            <a:endParaRPr kumimoji="1" lang="ko-Kore-KR" altLang="en-US" sz="1400" b="1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D52F8EE4-8B13-A141-BFA8-DBFF41E1C6B7}"/>
              </a:ext>
            </a:extLst>
          </p:cNvPr>
          <p:cNvGraphicFramePr>
            <a:graphicFrameLocks noGrp="1"/>
          </p:cNvGraphicFramePr>
          <p:nvPr/>
        </p:nvGraphicFramePr>
        <p:xfrm>
          <a:off x="6901102" y="3836734"/>
          <a:ext cx="1800200" cy="101092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450050">
                  <a:extLst>
                    <a:ext uri="{9D8B030D-6E8A-4147-A177-3AD203B41FA5}">
                      <a16:colId xmlns:a16="http://schemas.microsoft.com/office/drawing/2014/main" val="3092537339"/>
                    </a:ext>
                  </a:extLst>
                </a:gridCol>
                <a:gridCol w="450050">
                  <a:extLst>
                    <a:ext uri="{9D8B030D-6E8A-4147-A177-3AD203B41FA5}">
                      <a16:colId xmlns:a16="http://schemas.microsoft.com/office/drawing/2014/main" val="171731398"/>
                    </a:ext>
                  </a:extLst>
                </a:gridCol>
                <a:gridCol w="450050">
                  <a:extLst>
                    <a:ext uri="{9D8B030D-6E8A-4147-A177-3AD203B41FA5}">
                      <a16:colId xmlns:a16="http://schemas.microsoft.com/office/drawing/2014/main" val="940262163"/>
                    </a:ext>
                  </a:extLst>
                </a:gridCol>
                <a:gridCol w="450050">
                  <a:extLst>
                    <a:ext uri="{9D8B030D-6E8A-4147-A177-3AD203B41FA5}">
                      <a16:colId xmlns:a16="http://schemas.microsoft.com/office/drawing/2014/main" val="1938265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    n</a:t>
                      </a:r>
                    </a:p>
                    <a:p>
                      <a:pPr algn="l"/>
                      <a:r>
                        <a:rPr lang="en-US" altLang="ko-Kore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m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1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2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3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0265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4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명</a:t>
                      </a:r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2;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명</a:t>
                      </a:r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2;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명</a:t>
                      </a:r>
                      <a:r>
                        <a:rPr lang="en-US" altLang="ko-KR" sz="12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2;</a:t>
                      </a:r>
                      <a:endParaRPr lang="ko-Kore-KR" altLang="en-US" sz="12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246773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2B9E6ED7-5683-3041-8FC6-CD0803E8EDF8}"/>
              </a:ext>
            </a:extLst>
          </p:cNvPr>
          <p:cNvSpPr txBox="1"/>
          <p:nvPr/>
        </p:nvSpPr>
        <p:spPr>
          <a:xfrm>
            <a:off x="8684190" y="4103723"/>
            <a:ext cx="510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1400" b="1" dirty="0">
                <a:solidFill>
                  <a:srgbClr val="FF0000"/>
                </a:solidFill>
                <a:latin typeface="+mn-ea"/>
              </a:rPr>
              <a:t>명</a:t>
            </a:r>
            <a:r>
              <a:rPr kumimoji="1" lang="en-US" altLang="ko-Kore-KR" sz="14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en-US" altLang="ko-KR" sz="1400" b="1" dirty="0">
                <a:solidFill>
                  <a:srgbClr val="FF0000"/>
                </a:solidFill>
                <a:latin typeface="+mn-ea"/>
              </a:rPr>
              <a:t>;</a:t>
            </a:r>
            <a:endParaRPr kumimoji="1" lang="ko-Kore-KR" altLang="en-US" sz="14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66362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816249" cy="369332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b="1" dirty="0">
                <a:solidFill>
                  <a:schemeClr val="bg1"/>
                </a:solidFill>
                <a:latin typeface="10X10" charset="0"/>
                <a:ea typeface="10X10" charset="0"/>
              </a:rPr>
              <a:t>문제 </a:t>
            </a:r>
            <a:r>
              <a:rPr lang="en-US" altLang="ko-KR" b="1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graphicFrame>
        <p:nvGraphicFramePr>
          <p:cNvPr id="2" name="표 4">
            <a:extLst>
              <a:ext uri="{FF2B5EF4-FFF2-40B4-BE49-F238E27FC236}">
                <a16:creationId xmlns:a16="http://schemas.microsoft.com/office/drawing/2014/main" id="{A9D5230D-BAD8-7444-99AA-297BB85F6D95}"/>
              </a:ext>
            </a:extLst>
          </p:cNvPr>
          <p:cNvGraphicFramePr>
            <a:graphicFrameLocks noGrp="1"/>
          </p:cNvGraphicFramePr>
          <p:nvPr/>
        </p:nvGraphicFramePr>
        <p:xfrm>
          <a:off x="1463361" y="1720440"/>
          <a:ext cx="1570820" cy="157139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4164">
                  <a:extLst>
                    <a:ext uri="{9D8B030D-6E8A-4147-A177-3AD203B41FA5}">
                      <a16:colId xmlns:a16="http://schemas.microsoft.com/office/drawing/2014/main" val="1188058429"/>
                    </a:ext>
                  </a:extLst>
                </a:gridCol>
                <a:gridCol w="314164">
                  <a:extLst>
                    <a:ext uri="{9D8B030D-6E8A-4147-A177-3AD203B41FA5}">
                      <a16:colId xmlns:a16="http://schemas.microsoft.com/office/drawing/2014/main" val="3277920138"/>
                    </a:ext>
                  </a:extLst>
                </a:gridCol>
                <a:gridCol w="314164">
                  <a:extLst>
                    <a:ext uri="{9D8B030D-6E8A-4147-A177-3AD203B41FA5}">
                      <a16:colId xmlns:a16="http://schemas.microsoft.com/office/drawing/2014/main" val="3602131934"/>
                    </a:ext>
                  </a:extLst>
                </a:gridCol>
                <a:gridCol w="314164">
                  <a:extLst>
                    <a:ext uri="{9D8B030D-6E8A-4147-A177-3AD203B41FA5}">
                      <a16:colId xmlns:a16="http://schemas.microsoft.com/office/drawing/2014/main" val="2823039526"/>
                    </a:ext>
                  </a:extLst>
                </a:gridCol>
                <a:gridCol w="314164">
                  <a:extLst>
                    <a:ext uri="{9D8B030D-6E8A-4147-A177-3AD203B41FA5}">
                      <a16:colId xmlns:a16="http://schemas.microsoft.com/office/drawing/2014/main" val="1855479732"/>
                    </a:ext>
                  </a:extLst>
                </a:gridCol>
              </a:tblGrid>
              <a:tr h="314278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794122"/>
                  </a:ext>
                </a:extLst>
              </a:tr>
              <a:tr h="314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7588"/>
                  </a:ext>
                </a:extLst>
              </a:tr>
              <a:tr h="314278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9116231"/>
                  </a:ext>
                </a:extLst>
              </a:tr>
              <a:tr h="314278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04967"/>
                  </a:ext>
                </a:extLst>
              </a:tr>
              <a:tr h="314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434195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37D7A58-2509-EC40-8E05-B6F9665EAAE9}"/>
              </a:ext>
            </a:extLst>
          </p:cNvPr>
          <p:cNvSpPr txBox="1"/>
          <p:nvPr/>
        </p:nvSpPr>
        <p:spPr>
          <a:xfrm>
            <a:off x="358642" y="1723118"/>
            <a:ext cx="816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for( </a:t>
            </a:r>
            <a:r>
              <a:rPr kumimoji="1" lang="en-US" altLang="ko-Kore-KR" sz="1400" b="1" dirty="0" err="1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i</a:t>
            </a:r>
            <a:r>
              <a:rPr kumimoji="1" lang="en-US" altLang="ko-Kore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)</a:t>
            </a:r>
          </a:p>
          <a:p>
            <a:pPr algn="ctr"/>
            <a:r>
              <a:rPr kumimoji="1" lang="ko-Kore-KR" altLang="en-US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밖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23DDBF-85A9-3148-A111-A40133F9DB1B}"/>
              </a:ext>
            </a:extLst>
          </p:cNvPr>
          <p:cNvSpPr txBox="1"/>
          <p:nvPr/>
        </p:nvSpPr>
        <p:spPr>
          <a:xfrm>
            <a:off x="1262737" y="1181480"/>
            <a:ext cx="1390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for( j )  </a:t>
            </a:r>
            <a:r>
              <a:rPr kumimoji="1" lang="ko-Kore-KR" altLang="en-US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안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7A9A84-D199-0C45-BDFD-F8361CAD0120}"/>
              </a:ext>
            </a:extLst>
          </p:cNvPr>
          <p:cNvSpPr txBox="1"/>
          <p:nvPr/>
        </p:nvSpPr>
        <p:spPr>
          <a:xfrm>
            <a:off x="831633" y="1703349"/>
            <a:ext cx="816249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</a:t>
            </a:r>
          </a:p>
          <a:p>
            <a:pPr algn="ctr"/>
            <a:endParaRPr kumimoji="1" lang="en-US" altLang="ko-KR" sz="6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2</a:t>
            </a:r>
          </a:p>
          <a:p>
            <a:pPr algn="ctr"/>
            <a:endParaRPr kumimoji="1" lang="en-US" altLang="ko-KR" sz="6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3</a:t>
            </a:r>
          </a:p>
          <a:p>
            <a:pPr algn="ctr"/>
            <a:endParaRPr kumimoji="1" lang="en-US" altLang="ko-KR" sz="6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4</a:t>
            </a:r>
          </a:p>
          <a:p>
            <a:pPr algn="ctr"/>
            <a:endParaRPr kumimoji="1" lang="en-US" altLang="ko-KR" sz="7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80170F-13B0-0943-AFAF-1238BA5EB7EC}"/>
              </a:ext>
            </a:extLst>
          </p:cNvPr>
          <p:cNvSpPr txBox="1"/>
          <p:nvPr/>
        </p:nvSpPr>
        <p:spPr>
          <a:xfrm>
            <a:off x="1239757" y="1459136"/>
            <a:ext cx="19725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1    2    3    4    5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BFD350C-E4BA-ED32-B719-C955F344F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927" y="1830801"/>
            <a:ext cx="4337080" cy="129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080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256030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반복문 예제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7673340" cy="2980055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1. 아래 출력예와 같이 출력하는 프로그램을 작성하시오.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결과1 )				결과3 )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결과2 )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2948703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EF3655A-174F-48FD-B6E5-ADFBCF1738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067"/>
          <a:stretch/>
        </p:blipFill>
        <p:spPr>
          <a:xfrm>
            <a:off x="1781210" y="1627634"/>
            <a:ext cx="1023359" cy="105238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07211BF-8B92-4855-A46A-ED17B91E2F9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811" t="7604"/>
          <a:stretch/>
        </p:blipFill>
        <p:spPr>
          <a:xfrm>
            <a:off x="1732763" y="3154222"/>
            <a:ext cx="1023359" cy="106731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185BEB5-4B14-412A-968E-4961B283C33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980" t="7462"/>
          <a:stretch/>
        </p:blipFill>
        <p:spPr>
          <a:xfrm>
            <a:off x="5580112" y="1627634"/>
            <a:ext cx="1054701" cy="105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84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256030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반복문 예제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7673340" cy="2980055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2. 2단부터 4단까지 구구단 출력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결과1 ) 				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결과2 )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3275547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0474CCC-627B-9745-925C-7CB3CFF5E9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8" t="21915"/>
          <a:stretch/>
        </p:blipFill>
        <p:spPr>
          <a:xfrm>
            <a:off x="1795552" y="1677084"/>
            <a:ext cx="3456384" cy="142822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9257528-12AA-1F47-8222-FCACCE7762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53" t="45139" r="529" b="-4339"/>
          <a:stretch/>
        </p:blipFill>
        <p:spPr>
          <a:xfrm>
            <a:off x="954405" y="3836536"/>
            <a:ext cx="8124948" cy="432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A1CB81-9500-5342-9801-79A71E779BA6}"/>
              </a:ext>
            </a:extLst>
          </p:cNvPr>
          <p:cNvSpPr txBox="1"/>
          <p:nvPr/>
        </p:nvSpPr>
        <p:spPr>
          <a:xfrm>
            <a:off x="3181491" y="502450"/>
            <a:ext cx="13905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탭 기능</a:t>
            </a:r>
            <a:r>
              <a:rPr kumimoji="1" lang="en-US" altLang="ko-KR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: “\t” </a:t>
            </a:r>
            <a:endParaRPr kumimoji="1" lang="ko-Kore-KR" altLang="en-US" sz="16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2235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256030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반복문 예제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7863840" cy="1237262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3.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행과 열의 수를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다음과 같이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3811842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17" name="그림 16" descr="C:/Users/SAMSUNG/AppData/Roaming/PolarisOffice/ETemp/3684_5791712/fImage322382288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2936875"/>
            <a:ext cx="150495" cy="166370"/>
          </a:xfrm>
          <a:prstGeom prst="rect">
            <a:avLst/>
          </a:prstGeom>
          <a:noFill/>
        </p:spPr>
      </p:pic>
      <p:sp>
        <p:nvSpPr>
          <p:cNvPr id="4" name="직사각형 3"/>
          <p:cNvSpPr/>
          <p:nvPr/>
        </p:nvSpPr>
        <p:spPr>
          <a:xfrm>
            <a:off x="954405" y="2848598"/>
            <a:ext cx="7785735" cy="938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4.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정수를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다음과 같이 순서쌍을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 (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공백  포함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)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2602827-DAEC-474A-895A-E849D4D259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926"/>
          <a:stretch/>
        </p:blipFill>
        <p:spPr>
          <a:xfrm>
            <a:off x="1754913" y="1827868"/>
            <a:ext cx="1085850" cy="79706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6ECBF20-80FC-4F3A-90E3-60E62579BF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4162"/>
          <a:stretch/>
        </p:blipFill>
        <p:spPr>
          <a:xfrm>
            <a:off x="1768487" y="3867894"/>
            <a:ext cx="2476500" cy="815036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4E2296-B2AC-1068-79F9-2C665D4B78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0463" y="1388888"/>
            <a:ext cx="1130300" cy="4318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DF3BEC1-C83B-DEDE-4D11-32CD950E89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4913" y="3362848"/>
            <a:ext cx="24765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1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816249" cy="369332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b="1" dirty="0">
                <a:solidFill>
                  <a:schemeClr val="bg1"/>
                </a:solidFill>
                <a:latin typeface="10X10" charset="0"/>
                <a:ea typeface="10X10" charset="0"/>
              </a:rPr>
              <a:t>문제 </a:t>
            </a:r>
            <a:r>
              <a:rPr lang="en-US" altLang="ko-KR" b="1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graphicFrame>
        <p:nvGraphicFramePr>
          <p:cNvPr id="2" name="표 4">
            <a:extLst>
              <a:ext uri="{FF2B5EF4-FFF2-40B4-BE49-F238E27FC236}">
                <a16:creationId xmlns:a16="http://schemas.microsoft.com/office/drawing/2014/main" id="{A9D5230D-BAD8-7444-99AA-297BB85F6D95}"/>
              </a:ext>
            </a:extLst>
          </p:cNvPr>
          <p:cNvGraphicFramePr>
            <a:graphicFrameLocks noGrp="1"/>
          </p:cNvGraphicFramePr>
          <p:nvPr/>
        </p:nvGraphicFramePr>
        <p:xfrm>
          <a:off x="1435151" y="1501738"/>
          <a:ext cx="1570820" cy="157139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4164">
                  <a:extLst>
                    <a:ext uri="{9D8B030D-6E8A-4147-A177-3AD203B41FA5}">
                      <a16:colId xmlns:a16="http://schemas.microsoft.com/office/drawing/2014/main" val="1188058429"/>
                    </a:ext>
                  </a:extLst>
                </a:gridCol>
                <a:gridCol w="314164">
                  <a:extLst>
                    <a:ext uri="{9D8B030D-6E8A-4147-A177-3AD203B41FA5}">
                      <a16:colId xmlns:a16="http://schemas.microsoft.com/office/drawing/2014/main" val="3277920138"/>
                    </a:ext>
                  </a:extLst>
                </a:gridCol>
                <a:gridCol w="314164">
                  <a:extLst>
                    <a:ext uri="{9D8B030D-6E8A-4147-A177-3AD203B41FA5}">
                      <a16:colId xmlns:a16="http://schemas.microsoft.com/office/drawing/2014/main" val="3602131934"/>
                    </a:ext>
                  </a:extLst>
                </a:gridCol>
                <a:gridCol w="314164">
                  <a:extLst>
                    <a:ext uri="{9D8B030D-6E8A-4147-A177-3AD203B41FA5}">
                      <a16:colId xmlns:a16="http://schemas.microsoft.com/office/drawing/2014/main" val="2823039526"/>
                    </a:ext>
                  </a:extLst>
                </a:gridCol>
                <a:gridCol w="314164">
                  <a:extLst>
                    <a:ext uri="{9D8B030D-6E8A-4147-A177-3AD203B41FA5}">
                      <a16:colId xmlns:a16="http://schemas.microsoft.com/office/drawing/2014/main" val="1855479732"/>
                    </a:ext>
                  </a:extLst>
                </a:gridCol>
              </a:tblGrid>
              <a:tr h="314278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794122"/>
                  </a:ext>
                </a:extLst>
              </a:tr>
              <a:tr h="314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ore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7588"/>
                  </a:ext>
                </a:extLst>
              </a:tr>
              <a:tr h="314278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9116231"/>
                  </a:ext>
                </a:extLst>
              </a:tr>
              <a:tr h="314278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04967"/>
                  </a:ext>
                </a:extLst>
              </a:tr>
              <a:tr h="314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434195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37D7A58-2509-EC40-8E05-B6F9665EAAE9}"/>
              </a:ext>
            </a:extLst>
          </p:cNvPr>
          <p:cNvSpPr txBox="1"/>
          <p:nvPr/>
        </p:nvSpPr>
        <p:spPr>
          <a:xfrm>
            <a:off x="330432" y="1504416"/>
            <a:ext cx="816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for( </a:t>
            </a:r>
            <a:r>
              <a:rPr kumimoji="1" lang="en-US" altLang="ko-Kore-KR" sz="1400" b="1" dirty="0" err="1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i</a:t>
            </a:r>
            <a:r>
              <a:rPr kumimoji="1" lang="en-US" altLang="ko-Kore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)</a:t>
            </a:r>
          </a:p>
          <a:p>
            <a:pPr algn="ctr"/>
            <a:r>
              <a:rPr kumimoji="1" lang="ko-Kore-KR" altLang="en-US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밖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23DDBF-85A9-3148-A111-A40133F9DB1B}"/>
              </a:ext>
            </a:extLst>
          </p:cNvPr>
          <p:cNvSpPr txBox="1"/>
          <p:nvPr/>
        </p:nvSpPr>
        <p:spPr>
          <a:xfrm>
            <a:off x="1234527" y="962778"/>
            <a:ext cx="1390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for( j)  </a:t>
            </a:r>
            <a:r>
              <a:rPr kumimoji="1" lang="ko-Kore-KR" altLang="en-US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안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7A9A84-D199-0C45-BDFD-F8361CAD0120}"/>
              </a:ext>
            </a:extLst>
          </p:cNvPr>
          <p:cNvSpPr txBox="1"/>
          <p:nvPr/>
        </p:nvSpPr>
        <p:spPr>
          <a:xfrm>
            <a:off x="803423" y="1484647"/>
            <a:ext cx="816249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</a:t>
            </a:r>
          </a:p>
          <a:p>
            <a:pPr algn="ctr"/>
            <a:endParaRPr kumimoji="1" lang="en-US" altLang="ko-KR" sz="6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2</a:t>
            </a:r>
          </a:p>
          <a:p>
            <a:pPr algn="ctr"/>
            <a:endParaRPr kumimoji="1" lang="en-US" altLang="ko-KR" sz="6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3</a:t>
            </a:r>
          </a:p>
          <a:p>
            <a:pPr algn="ctr"/>
            <a:endParaRPr kumimoji="1" lang="en-US" altLang="ko-KR" sz="6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4</a:t>
            </a:r>
          </a:p>
          <a:p>
            <a:pPr algn="ctr"/>
            <a:endParaRPr kumimoji="1" lang="en-US" altLang="ko-KR" sz="7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80170F-13B0-0943-AFAF-1238BA5EB7EC}"/>
              </a:ext>
            </a:extLst>
          </p:cNvPr>
          <p:cNvSpPr txBox="1"/>
          <p:nvPr/>
        </p:nvSpPr>
        <p:spPr>
          <a:xfrm>
            <a:off x="1211547" y="1240434"/>
            <a:ext cx="19725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1    2    3    4    5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0440A9D-18AB-BCDD-819E-C33713711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487" y="1484647"/>
            <a:ext cx="5088356" cy="170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531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825" y="443865"/>
            <a:ext cx="12712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 예제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8145145" cy="32824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5. 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아래 모양과 같이 출력하는 프로그램을 작성하시오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6. 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자연수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n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다음과 같이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17" name="그림 16" descr="C:/Users/SAMSUNG/AppData/Roaming/PolarisOffice/ETemp/3684_5791712/fImage3222036334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2936875"/>
            <a:ext cx="150495" cy="166370"/>
          </a:xfrm>
          <a:prstGeom prst="rect">
            <a:avLst/>
          </a:prstGeom>
          <a:noFill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7B3BBD5-63FF-4822-A53B-EC02C4C3F7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17" t="4496"/>
          <a:stretch/>
        </p:blipFill>
        <p:spPr>
          <a:xfrm>
            <a:off x="1707083" y="1540510"/>
            <a:ext cx="848693" cy="1058079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1628FF0-D9C1-4790-4B7A-7C5B76D1B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9205" y="3654547"/>
            <a:ext cx="1358900" cy="11684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544E94A-4BCF-5435-C9F2-01245D9345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1856" y="3154802"/>
            <a:ext cx="13589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95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256030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반복문 예제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8145145" cy="118904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7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 </a:t>
            </a: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자연수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n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n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줄만큼 다음과 같이 </a:t>
            </a: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출력하는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프로그램을 작성하시오.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결과1 )			</a:t>
            </a: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2292995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E8BCE9C-D311-411F-8D70-06EB3548E4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41" t="18528"/>
          <a:stretch/>
        </p:blipFill>
        <p:spPr>
          <a:xfrm>
            <a:off x="1932660" y="2229808"/>
            <a:ext cx="2207292" cy="162111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C32540B-E546-1484-EC28-9832EA9FD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1777" y="1635286"/>
            <a:ext cx="2697935" cy="467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816249" cy="369332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b="1" dirty="0">
                <a:solidFill>
                  <a:schemeClr val="bg1"/>
                </a:solidFill>
                <a:latin typeface="10X10" charset="0"/>
                <a:ea typeface="10X10" charset="0"/>
              </a:rPr>
              <a:t>문제 </a:t>
            </a:r>
            <a:r>
              <a:rPr lang="en-US" altLang="ko-KR" b="1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graphicFrame>
        <p:nvGraphicFramePr>
          <p:cNvPr id="2" name="표 4">
            <a:extLst>
              <a:ext uri="{FF2B5EF4-FFF2-40B4-BE49-F238E27FC236}">
                <a16:creationId xmlns:a16="http://schemas.microsoft.com/office/drawing/2014/main" id="{A9D5230D-BAD8-7444-99AA-297BB85F6D95}"/>
              </a:ext>
            </a:extLst>
          </p:cNvPr>
          <p:cNvGraphicFramePr>
            <a:graphicFrameLocks noGrp="1"/>
          </p:cNvGraphicFramePr>
          <p:nvPr/>
        </p:nvGraphicFramePr>
        <p:xfrm>
          <a:off x="1435151" y="1501738"/>
          <a:ext cx="1570820" cy="157139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4164">
                  <a:extLst>
                    <a:ext uri="{9D8B030D-6E8A-4147-A177-3AD203B41FA5}">
                      <a16:colId xmlns:a16="http://schemas.microsoft.com/office/drawing/2014/main" val="1188058429"/>
                    </a:ext>
                  </a:extLst>
                </a:gridCol>
                <a:gridCol w="314164">
                  <a:extLst>
                    <a:ext uri="{9D8B030D-6E8A-4147-A177-3AD203B41FA5}">
                      <a16:colId xmlns:a16="http://schemas.microsoft.com/office/drawing/2014/main" val="3277920138"/>
                    </a:ext>
                  </a:extLst>
                </a:gridCol>
                <a:gridCol w="314164">
                  <a:extLst>
                    <a:ext uri="{9D8B030D-6E8A-4147-A177-3AD203B41FA5}">
                      <a16:colId xmlns:a16="http://schemas.microsoft.com/office/drawing/2014/main" val="3602131934"/>
                    </a:ext>
                  </a:extLst>
                </a:gridCol>
                <a:gridCol w="314164">
                  <a:extLst>
                    <a:ext uri="{9D8B030D-6E8A-4147-A177-3AD203B41FA5}">
                      <a16:colId xmlns:a16="http://schemas.microsoft.com/office/drawing/2014/main" val="2823039526"/>
                    </a:ext>
                  </a:extLst>
                </a:gridCol>
                <a:gridCol w="314164">
                  <a:extLst>
                    <a:ext uri="{9D8B030D-6E8A-4147-A177-3AD203B41FA5}">
                      <a16:colId xmlns:a16="http://schemas.microsoft.com/office/drawing/2014/main" val="1855479732"/>
                    </a:ext>
                  </a:extLst>
                </a:gridCol>
              </a:tblGrid>
              <a:tr h="314278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794122"/>
                  </a:ext>
                </a:extLst>
              </a:tr>
              <a:tr h="314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ore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7588"/>
                  </a:ext>
                </a:extLst>
              </a:tr>
              <a:tr h="314278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9116231"/>
                  </a:ext>
                </a:extLst>
              </a:tr>
              <a:tr h="314278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04967"/>
                  </a:ext>
                </a:extLst>
              </a:tr>
              <a:tr h="314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ore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434195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37D7A58-2509-EC40-8E05-B6F9665EAAE9}"/>
              </a:ext>
            </a:extLst>
          </p:cNvPr>
          <p:cNvSpPr txBox="1"/>
          <p:nvPr/>
        </p:nvSpPr>
        <p:spPr>
          <a:xfrm>
            <a:off x="330432" y="1504416"/>
            <a:ext cx="816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for( </a:t>
            </a:r>
            <a:r>
              <a:rPr kumimoji="1" lang="en-US" altLang="ko-Kore-KR" sz="1400" b="1" dirty="0" err="1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i</a:t>
            </a:r>
            <a:r>
              <a:rPr kumimoji="1" lang="en-US" altLang="ko-Kore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)</a:t>
            </a:r>
          </a:p>
          <a:p>
            <a:pPr algn="ctr"/>
            <a:r>
              <a:rPr kumimoji="1" lang="ko-Kore-KR" altLang="en-US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밖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23DDBF-85A9-3148-A111-A40133F9DB1B}"/>
              </a:ext>
            </a:extLst>
          </p:cNvPr>
          <p:cNvSpPr txBox="1"/>
          <p:nvPr/>
        </p:nvSpPr>
        <p:spPr>
          <a:xfrm>
            <a:off x="1234527" y="962778"/>
            <a:ext cx="1390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for( j)  </a:t>
            </a:r>
            <a:r>
              <a:rPr kumimoji="1" lang="ko-Kore-KR" altLang="en-US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안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7A9A84-D199-0C45-BDFD-F8361CAD0120}"/>
              </a:ext>
            </a:extLst>
          </p:cNvPr>
          <p:cNvSpPr txBox="1"/>
          <p:nvPr/>
        </p:nvSpPr>
        <p:spPr>
          <a:xfrm>
            <a:off x="803423" y="1484647"/>
            <a:ext cx="816249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5</a:t>
            </a:r>
          </a:p>
          <a:p>
            <a:pPr algn="ctr"/>
            <a:endParaRPr kumimoji="1" lang="en-US" altLang="ko-KR" sz="6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4</a:t>
            </a:r>
          </a:p>
          <a:p>
            <a:pPr algn="ctr"/>
            <a:endParaRPr kumimoji="1" lang="en-US" altLang="ko-KR" sz="6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3</a:t>
            </a:r>
          </a:p>
          <a:p>
            <a:pPr algn="ctr"/>
            <a:endParaRPr kumimoji="1" lang="en-US" altLang="ko-KR" sz="6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2</a:t>
            </a:r>
          </a:p>
          <a:p>
            <a:pPr algn="ctr"/>
            <a:endParaRPr kumimoji="1" lang="en-US" altLang="ko-KR" sz="7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80170F-13B0-0943-AFAF-1238BA5EB7EC}"/>
              </a:ext>
            </a:extLst>
          </p:cNvPr>
          <p:cNvSpPr txBox="1"/>
          <p:nvPr/>
        </p:nvSpPr>
        <p:spPr>
          <a:xfrm>
            <a:off x="1211547" y="1240434"/>
            <a:ext cx="19725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1    2    3    4    5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F5D0263-7472-7738-6B36-05248368D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052" y="1510586"/>
            <a:ext cx="5469957" cy="187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783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825" y="443865"/>
            <a:ext cx="12712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반복문 예제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8145145" cy="32824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8. 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아래 모양과 같이 출력하는 프로그램을 작성하시오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9. 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자연수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n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다음과 같이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17" name="그림 16" descr="C:/Users/SAMSUNG/AppData/Roaming/PolarisOffice/ETemp/3684_5791712/fImage3222036334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2936875"/>
            <a:ext cx="150495" cy="166370"/>
          </a:xfrm>
          <a:prstGeom prst="rect">
            <a:avLst/>
          </a:prstGeom>
          <a:noFill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E68E920-93C4-4D0B-9B32-6B1865A62A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849"/>
          <a:stretch/>
        </p:blipFill>
        <p:spPr>
          <a:xfrm>
            <a:off x="1776095" y="1519591"/>
            <a:ext cx="995706" cy="1168494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91298A6-E0C6-5351-3548-F800DD73C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6095" y="3147814"/>
            <a:ext cx="1358900" cy="4699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FB44481-E379-3834-196A-5DBFA6A951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6095" y="3651870"/>
            <a:ext cx="12319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304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256030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반복문 예제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8145145" cy="118904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 </a:t>
            </a: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자연수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n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n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줄만큼 다음과 같이 </a:t>
            </a: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출력하는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프로그램을 작성하시오.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결과1 )				</a:t>
            </a: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2292995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81BFB3-8AA5-4C27-B7B6-739513B471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51" t="27639"/>
          <a:stretch/>
        </p:blipFill>
        <p:spPr>
          <a:xfrm>
            <a:off x="2100862" y="2065115"/>
            <a:ext cx="1185238" cy="1336386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3229024A-D732-D10C-E669-4391BE254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4200" y="1635286"/>
            <a:ext cx="1231900" cy="393700"/>
          </a:xfrm>
          <a:prstGeom prst="rect">
            <a:avLst/>
          </a:prstGeom>
        </p:spPr>
      </p:pic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D8327F34-0239-0935-CB94-ED3BB2980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598715"/>
              </p:ext>
            </p:extLst>
          </p:nvPr>
        </p:nvGraphicFramePr>
        <p:xfrm>
          <a:off x="4510662" y="2679980"/>
          <a:ext cx="4134585" cy="148336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1378195">
                  <a:extLst>
                    <a:ext uri="{9D8B030D-6E8A-4147-A177-3AD203B41FA5}">
                      <a16:colId xmlns:a16="http://schemas.microsoft.com/office/drawing/2014/main" val="3730121397"/>
                    </a:ext>
                  </a:extLst>
                </a:gridCol>
                <a:gridCol w="1378195">
                  <a:extLst>
                    <a:ext uri="{9D8B030D-6E8A-4147-A177-3AD203B41FA5}">
                      <a16:colId xmlns:a16="http://schemas.microsoft.com/office/drawing/2014/main" val="1546123902"/>
                    </a:ext>
                  </a:extLst>
                </a:gridCol>
                <a:gridCol w="1378195">
                  <a:extLst>
                    <a:ext uri="{9D8B030D-6E8A-4147-A177-3AD203B41FA5}">
                      <a16:colId xmlns:a16="http://schemas.microsoft.com/office/drawing/2014/main" val="2651913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소문자</a:t>
                      </a:r>
                      <a:endParaRPr lang="ko-Kore-KR" altLang="en-US" sz="1800" b="1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a</a:t>
                      </a:r>
                      <a:endParaRPr lang="ko-Kore-KR" altLang="en-US" sz="1800" b="1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z</a:t>
                      </a:r>
                      <a:endParaRPr lang="ko-Kore-KR" altLang="en-US" sz="1800" b="1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763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9</a:t>
                      </a:r>
                      <a:r>
                        <a:rPr lang="en-US" altLang="ko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7</a:t>
                      </a:r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1</a:t>
                      </a:r>
                      <a:r>
                        <a:rPr lang="en-US" altLang="ko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22</a:t>
                      </a:r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831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대문자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A</a:t>
                      </a:r>
                      <a:endParaRPr lang="ko-Kore-KR" altLang="en-US" sz="1800" b="1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Z</a:t>
                      </a:r>
                      <a:endParaRPr lang="ko-Kore-KR" altLang="en-US" sz="1800" b="1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082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65</a:t>
                      </a:r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90</a:t>
                      </a:r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44821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F9B5FD-0EB6-F57C-3DE5-2B2249D6A2A2}"/>
              </a:ext>
            </a:extLst>
          </p:cNvPr>
          <p:cNvSpPr txBox="1"/>
          <p:nvPr/>
        </p:nvSpPr>
        <p:spPr>
          <a:xfrm>
            <a:off x="4253227" y="1514963"/>
            <a:ext cx="31683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*[</a:t>
            </a:r>
            <a:r>
              <a:rPr kumimoji="1" lang="ko-KR" altLang="en-US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참고</a:t>
            </a:r>
            <a:r>
              <a:rPr kumimoji="1" lang="en-US" altLang="ko-KR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  <a:r>
              <a:rPr kumimoji="1" lang="ko-KR" altLang="en-US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알파벳 변수형</a:t>
            </a:r>
            <a:r>
              <a:rPr kumimoji="1" lang="en-US" altLang="ko-KR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  </a:t>
            </a:r>
            <a:r>
              <a:rPr kumimoji="1" lang="ko-KR" altLang="en-US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kumimoji="1" lang="en-US" altLang="ko-KR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chr</a:t>
            </a:r>
          </a:p>
          <a:p>
            <a:r>
              <a:rPr kumimoji="1" lang="en-US" altLang="ko-KR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   x=97</a:t>
            </a:r>
          </a:p>
          <a:p>
            <a:r>
              <a:rPr kumimoji="1" lang="en-US" altLang="ko-KR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   print( chr(x) 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256030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반복문 예제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8145145" cy="118904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 </a:t>
            </a: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자연수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n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n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줄만큼 다음과 같이 </a:t>
            </a: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출력하는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프로그램을 작성하시오.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결과1 )				</a:t>
            </a: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2292995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81BFB3-8AA5-4C27-B7B6-739513B471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51" t="27639"/>
          <a:stretch/>
        </p:blipFill>
        <p:spPr>
          <a:xfrm>
            <a:off x="2100862" y="2065115"/>
            <a:ext cx="1185238" cy="1336386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3229024A-D732-D10C-E669-4391BE254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4200" y="1635286"/>
            <a:ext cx="1231900" cy="3937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09CE275-78EB-9D42-0A08-C7D83019E9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3338" y="1609574"/>
            <a:ext cx="4102618" cy="222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068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816249" cy="369332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b="1" dirty="0">
                <a:solidFill>
                  <a:schemeClr val="bg1"/>
                </a:solidFill>
                <a:latin typeface="10X10" charset="0"/>
                <a:ea typeface="10X10" charset="0"/>
              </a:rPr>
              <a:t>문제 </a:t>
            </a:r>
            <a:r>
              <a:rPr lang="en-US" altLang="ko-KR" b="1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graphicFrame>
        <p:nvGraphicFramePr>
          <p:cNvPr id="2" name="표 4">
            <a:extLst>
              <a:ext uri="{FF2B5EF4-FFF2-40B4-BE49-F238E27FC236}">
                <a16:creationId xmlns:a16="http://schemas.microsoft.com/office/drawing/2014/main" id="{A9D5230D-BAD8-7444-99AA-297BB85F6D95}"/>
              </a:ext>
            </a:extLst>
          </p:cNvPr>
          <p:cNvGraphicFramePr>
            <a:graphicFrameLocks noGrp="1"/>
          </p:cNvGraphicFramePr>
          <p:nvPr/>
        </p:nvGraphicFramePr>
        <p:xfrm>
          <a:off x="1435151" y="1501738"/>
          <a:ext cx="1570820" cy="157139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4164">
                  <a:extLst>
                    <a:ext uri="{9D8B030D-6E8A-4147-A177-3AD203B41FA5}">
                      <a16:colId xmlns:a16="http://schemas.microsoft.com/office/drawing/2014/main" val="1188058429"/>
                    </a:ext>
                  </a:extLst>
                </a:gridCol>
                <a:gridCol w="314164">
                  <a:extLst>
                    <a:ext uri="{9D8B030D-6E8A-4147-A177-3AD203B41FA5}">
                      <a16:colId xmlns:a16="http://schemas.microsoft.com/office/drawing/2014/main" val="3277920138"/>
                    </a:ext>
                  </a:extLst>
                </a:gridCol>
                <a:gridCol w="314164">
                  <a:extLst>
                    <a:ext uri="{9D8B030D-6E8A-4147-A177-3AD203B41FA5}">
                      <a16:colId xmlns:a16="http://schemas.microsoft.com/office/drawing/2014/main" val="3602131934"/>
                    </a:ext>
                  </a:extLst>
                </a:gridCol>
                <a:gridCol w="314164">
                  <a:extLst>
                    <a:ext uri="{9D8B030D-6E8A-4147-A177-3AD203B41FA5}">
                      <a16:colId xmlns:a16="http://schemas.microsoft.com/office/drawing/2014/main" val="2823039526"/>
                    </a:ext>
                  </a:extLst>
                </a:gridCol>
                <a:gridCol w="314164">
                  <a:extLst>
                    <a:ext uri="{9D8B030D-6E8A-4147-A177-3AD203B41FA5}">
                      <a16:colId xmlns:a16="http://schemas.microsoft.com/office/drawing/2014/main" val="1855479732"/>
                    </a:ext>
                  </a:extLst>
                </a:gridCol>
              </a:tblGrid>
              <a:tr h="314278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400" dirty="0"/>
                        <a:t>@</a:t>
                      </a:r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400" dirty="0"/>
                        <a:t>@</a:t>
                      </a:r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400" dirty="0"/>
                        <a:t>@</a:t>
                      </a:r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400" dirty="0"/>
                        <a:t>@</a:t>
                      </a:r>
                      <a:endParaRPr lang="ko-Kore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794122"/>
                  </a:ext>
                </a:extLst>
              </a:tr>
              <a:tr h="314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400" dirty="0"/>
                        <a:t>@</a:t>
                      </a:r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400" dirty="0"/>
                        <a:t>@</a:t>
                      </a:r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400" dirty="0"/>
                        <a:t>@</a:t>
                      </a:r>
                      <a:endParaRPr lang="ko-Kore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7588"/>
                  </a:ext>
                </a:extLst>
              </a:tr>
              <a:tr h="314278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400" dirty="0"/>
                        <a:t>@</a:t>
                      </a:r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400" dirty="0"/>
                        <a:t>@</a:t>
                      </a:r>
                      <a:endParaRPr lang="ko-Kore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9116231"/>
                  </a:ext>
                </a:extLst>
              </a:tr>
              <a:tr h="314278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400" dirty="0"/>
                        <a:t>@</a:t>
                      </a:r>
                      <a:endParaRPr lang="ko-Kore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04967"/>
                  </a:ext>
                </a:extLst>
              </a:tr>
              <a:tr h="314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434195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37D7A58-2509-EC40-8E05-B6F9665EAAE9}"/>
              </a:ext>
            </a:extLst>
          </p:cNvPr>
          <p:cNvSpPr txBox="1"/>
          <p:nvPr/>
        </p:nvSpPr>
        <p:spPr>
          <a:xfrm>
            <a:off x="330432" y="1504416"/>
            <a:ext cx="816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for( </a:t>
            </a:r>
            <a:r>
              <a:rPr kumimoji="1" lang="en-US" altLang="ko-Kore-KR" sz="1400" b="1" dirty="0" err="1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i</a:t>
            </a:r>
            <a:r>
              <a:rPr kumimoji="1" lang="en-US" altLang="ko-Kore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)</a:t>
            </a:r>
          </a:p>
          <a:p>
            <a:pPr algn="ctr"/>
            <a:r>
              <a:rPr kumimoji="1" lang="ko-Kore-KR" altLang="en-US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밖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23DDBF-85A9-3148-A111-A40133F9DB1B}"/>
              </a:ext>
            </a:extLst>
          </p:cNvPr>
          <p:cNvSpPr txBox="1"/>
          <p:nvPr/>
        </p:nvSpPr>
        <p:spPr>
          <a:xfrm>
            <a:off x="1234527" y="962778"/>
            <a:ext cx="1390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for( j)  </a:t>
            </a:r>
            <a:r>
              <a:rPr kumimoji="1" lang="ko-Kore-KR" altLang="en-US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안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7A9A84-D199-0C45-BDFD-F8361CAD0120}"/>
              </a:ext>
            </a:extLst>
          </p:cNvPr>
          <p:cNvSpPr txBox="1"/>
          <p:nvPr/>
        </p:nvSpPr>
        <p:spPr>
          <a:xfrm>
            <a:off x="803423" y="1484647"/>
            <a:ext cx="816249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</a:t>
            </a:r>
          </a:p>
          <a:p>
            <a:pPr algn="ctr"/>
            <a:endParaRPr kumimoji="1" lang="en-US" altLang="ko-KR" sz="6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2</a:t>
            </a:r>
          </a:p>
          <a:p>
            <a:pPr algn="ctr"/>
            <a:endParaRPr kumimoji="1" lang="en-US" altLang="ko-KR" sz="6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3</a:t>
            </a:r>
          </a:p>
          <a:p>
            <a:pPr algn="ctr"/>
            <a:endParaRPr kumimoji="1" lang="en-US" altLang="ko-KR" sz="6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4</a:t>
            </a:r>
          </a:p>
          <a:p>
            <a:pPr algn="ctr"/>
            <a:endParaRPr kumimoji="1" lang="en-US" altLang="ko-KR" sz="7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80170F-13B0-0943-AFAF-1238BA5EB7EC}"/>
              </a:ext>
            </a:extLst>
          </p:cNvPr>
          <p:cNvSpPr txBox="1"/>
          <p:nvPr/>
        </p:nvSpPr>
        <p:spPr>
          <a:xfrm>
            <a:off x="1211547" y="1240434"/>
            <a:ext cx="19725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1    2    3    4    5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1E9A795-170B-212B-F9DF-F084E857E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838" y="1460228"/>
            <a:ext cx="4901604" cy="226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668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256030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반복문 예제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8145145" cy="1176604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11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자연수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n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다음과 같이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결과1 )				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			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1756962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0C4F0A1-367A-45E4-99AB-DB68376620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26" t="20169"/>
          <a:stretch/>
        </p:blipFill>
        <p:spPr>
          <a:xfrm>
            <a:off x="1979712" y="2217369"/>
            <a:ext cx="1368152" cy="181340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0A05512-ABA9-2E46-5455-51DBEAD8F4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2" y="1629067"/>
            <a:ext cx="13589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256030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반복문 예제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8016179" cy="2372829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12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 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아래와 같이 출력하는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250292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3228692-E4C5-41DB-98B9-164D49158B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97" t="6593"/>
          <a:stretch/>
        </p:blipFill>
        <p:spPr>
          <a:xfrm>
            <a:off x="1953663" y="1682776"/>
            <a:ext cx="1631567" cy="1777948"/>
          </a:xfrm>
          <a:prstGeom prst="rect">
            <a:avLst/>
          </a:prstGeom>
        </p:spPr>
      </p:pic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D1A2234E-8E34-F78C-F8EC-FCE7C4B34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967907"/>
              </p:ext>
            </p:extLst>
          </p:nvPr>
        </p:nvGraphicFramePr>
        <p:xfrm>
          <a:off x="4427984" y="2481554"/>
          <a:ext cx="4134585" cy="148336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1378195">
                  <a:extLst>
                    <a:ext uri="{9D8B030D-6E8A-4147-A177-3AD203B41FA5}">
                      <a16:colId xmlns:a16="http://schemas.microsoft.com/office/drawing/2014/main" val="3730121397"/>
                    </a:ext>
                  </a:extLst>
                </a:gridCol>
                <a:gridCol w="1378195">
                  <a:extLst>
                    <a:ext uri="{9D8B030D-6E8A-4147-A177-3AD203B41FA5}">
                      <a16:colId xmlns:a16="http://schemas.microsoft.com/office/drawing/2014/main" val="1546123902"/>
                    </a:ext>
                  </a:extLst>
                </a:gridCol>
                <a:gridCol w="1378195">
                  <a:extLst>
                    <a:ext uri="{9D8B030D-6E8A-4147-A177-3AD203B41FA5}">
                      <a16:colId xmlns:a16="http://schemas.microsoft.com/office/drawing/2014/main" val="2651913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소문자</a:t>
                      </a:r>
                      <a:endParaRPr lang="ko-Kore-KR" altLang="en-US" sz="1800" b="1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a</a:t>
                      </a:r>
                      <a:endParaRPr lang="ko-Kore-KR" altLang="en-US" sz="1800" b="1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z</a:t>
                      </a:r>
                      <a:endParaRPr lang="ko-Kore-KR" altLang="en-US" sz="1800" b="1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763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9</a:t>
                      </a:r>
                      <a:r>
                        <a:rPr lang="en-US" altLang="ko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7</a:t>
                      </a:r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1</a:t>
                      </a:r>
                      <a:r>
                        <a:rPr lang="en-US" altLang="ko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22</a:t>
                      </a:r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831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대문자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A</a:t>
                      </a:r>
                      <a:endParaRPr lang="ko-Kore-KR" altLang="en-US" sz="1800" b="1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800" b="1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Z</a:t>
                      </a:r>
                      <a:endParaRPr lang="ko-Kore-KR" altLang="en-US" sz="1800" b="1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082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65</a:t>
                      </a:r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latin typeface="12LotteMartDreamMedium" panose="02020603020101020101" pitchFamily="18" charset="-127"/>
                          <a:ea typeface="12LotteMartDreamMedium" panose="02020603020101020101" pitchFamily="18" charset="-127"/>
                        </a:rPr>
                        <a:t>90</a:t>
                      </a:r>
                      <a:endParaRPr lang="ko-Kore-KR" altLang="en-US" sz="1600" dirty="0">
                        <a:latin typeface="12LotteMartDreamMedium" panose="02020603020101020101" pitchFamily="18" charset="-127"/>
                        <a:ea typeface="12LotteMartDreamMedium" panose="0202060302010102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44821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48FE728-C47F-4BA9-11D5-E3C2DFEED21E}"/>
              </a:ext>
            </a:extLst>
          </p:cNvPr>
          <p:cNvSpPr txBox="1"/>
          <p:nvPr/>
        </p:nvSpPr>
        <p:spPr>
          <a:xfrm>
            <a:off x="4253227" y="1514963"/>
            <a:ext cx="31683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*[</a:t>
            </a:r>
            <a:r>
              <a:rPr kumimoji="1" lang="ko-KR" altLang="en-US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참고</a:t>
            </a:r>
            <a:r>
              <a:rPr kumimoji="1" lang="en-US" altLang="ko-KR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  <a:r>
              <a:rPr kumimoji="1" lang="ko-KR" altLang="en-US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알파벳 변수형</a:t>
            </a:r>
            <a:r>
              <a:rPr kumimoji="1" lang="en-US" altLang="ko-KR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  </a:t>
            </a:r>
            <a:r>
              <a:rPr kumimoji="1" lang="ko-KR" altLang="en-US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kumimoji="1" lang="en-US" altLang="ko-KR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chr</a:t>
            </a:r>
          </a:p>
          <a:p>
            <a:r>
              <a:rPr kumimoji="1" lang="en-US" altLang="ko-KR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   x=97</a:t>
            </a:r>
          </a:p>
          <a:p>
            <a:r>
              <a:rPr kumimoji="1" lang="en-US" altLang="ko-KR" sz="16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   print( chr(x) 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256030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반복문 예제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7673340" cy="921919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13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 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자연수 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n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</a:t>
            </a:r>
            <a:r>
              <a:rPr lang="ko-KR" altLang="en-US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공백에 주의하여 다음과 같이 출력하는 프로그램을 작성하시오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결과1 )				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272477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C1C8356-FB33-4EF2-9E65-6C4E16AF9B6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96" t="19573"/>
          <a:stretch/>
        </p:blipFill>
        <p:spPr>
          <a:xfrm>
            <a:off x="1907704" y="2189380"/>
            <a:ext cx="2160240" cy="173007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7E94D91-C82D-84BB-9CB8-9ABB86FF03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9712" y="1629067"/>
            <a:ext cx="13589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816249" cy="369332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ko-KR" altLang="en-US" b="1" dirty="0">
                <a:solidFill>
                  <a:schemeClr val="bg1"/>
                </a:solidFill>
                <a:latin typeface="10X10" charset="0"/>
                <a:ea typeface="10X10" charset="0"/>
              </a:rPr>
              <a:t>문제 </a:t>
            </a:r>
            <a:r>
              <a:rPr lang="en-US" altLang="ko-KR" b="1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graphicFrame>
        <p:nvGraphicFramePr>
          <p:cNvPr id="2" name="표 4">
            <a:extLst>
              <a:ext uri="{FF2B5EF4-FFF2-40B4-BE49-F238E27FC236}">
                <a16:creationId xmlns:a16="http://schemas.microsoft.com/office/drawing/2014/main" id="{A9D5230D-BAD8-7444-99AA-297BB85F6D95}"/>
              </a:ext>
            </a:extLst>
          </p:cNvPr>
          <p:cNvGraphicFramePr>
            <a:graphicFrameLocks noGrp="1"/>
          </p:cNvGraphicFramePr>
          <p:nvPr/>
        </p:nvGraphicFramePr>
        <p:xfrm>
          <a:off x="1435151" y="1501738"/>
          <a:ext cx="1570820" cy="157139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4164">
                  <a:extLst>
                    <a:ext uri="{9D8B030D-6E8A-4147-A177-3AD203B41FA5}">
                      <a16:colId xmlns:a16="http://schemas.microsoft.com/office/drawing/2014/main" val="1188058429"/>
                    </a:ext>
                  </a:extLst>
                </a:gridCol>
                <a:gridCol w="314164">
                  <a:extLst>
                    <a:ext uri="{9D8B030D-6E8A-4147-A177-3AD203B41FA5}">
                      <a16:colId xmlns:a16="http://schemas.microsoft.com/office/drawing/2014/main" val="3277920138"/>
                    </a:ext>
                  </a:extLst>
                </a:gridCol>
                <a:gridCol w="314164">
                  <a:extLst>
                    <a:ext uri="{9D8B030D-6E8A-4147-A177-3AD203B41FA5}">
                      <a16:colId xmlns:a16="http://schemas.microsoft.com/office/drawing/2014/main" val="3602131934"/>
                    </a:ext>
                  </a:extLst>
                </a:gridCol>
                <a:gridCol w="314164">
                  <a:extLst>
                    <a:ext uri="{9D8B030D-6E8A-4147-A177-3AD203B41FA5}">
                      <a16:colId xmlns:a16="http://schemas.microsoft.com/office/drawing/2014/main" val="2823039526"/>
                    </a:ext>
                  </a:extLst>
                </a:gridCol>
                <a:gridCol w="314164">
                  <a:extLst>
                    <a:ext uri="{9D8B030D-6E8A-4147-A177-3AD203B41FA5}">
                      <a16:colId xmlns:a16="http://schemas.microsoft.com/office/drawing/2014/main" val="1855479732"/>
                    </a:ext>
                  </a:extLst>
                </a:gridCol>
              </a:tblGrid>
              <a:tr h="314278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794122"/>
                  </a:ext>
                </a:extLst>
              </a:tr>
              <a:tr h="314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400" dirty="0"/>
                        <a:t>@</a:t>
                      </a:r>
                      <a:endParaRPr lang="ko-Kore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7588"/>
                  </a:ext>
                </a:extLst>
              </a:tr>
              <a:tr h="314278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400" dirty="0"/>
                        <a:t>@</a:t>
                      </a:r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400" dirty="0"/>
                        <a:t>@</a:t>
                      </a:r>
                      <a:endParaRPr lang="ko-Kore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9116231"/>
                  </a:ext>
                </a:extLst>
              </a:tr>
              <a:tr h="314278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400" dirty="0"/>
                        <a:t>@</a:t>
                      </a:r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400" dirty="0"/>
                        <a:t>@</a:t>
                      </a:r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400" dirty="0"/>
                        <a:t>@</a:t>
                      </a:r>
                      <a:endParaRPr lang="ko-Kore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04967"/>
                  </a:ext>
                </a:extLst>
              </a:tr>
              <a:tr h="314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4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400" dirty="0"/>
                        <a:t>@</a:t>
                      </a:r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400" dirty="0"/>
                        <a:t>@</a:t>
                      </a:r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400" dirty="0"/>
                        <a:t>@</a:t>
                      </a:r>
                      <a:endParaRPr lang="ko-Kore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400" dirty="0"/>
                        <a:t>@</a:t>
                      </a:r>
                      <a:endParaRPr lang="ko-Kore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434195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37D7A58-2509-EC40-8E05-B6F9665EAAE9}"/>
              </a:ext>
            </a:extLst>
          </p:cNvPr>
          <p:cNvSpPr txBox="1"/>
          <p:nvPr/>
        </p:nvSpPr>
        <p:spPr>
          <a:xfrm>
            <a:off x="330432" y="1504416"/>
            <a:ext cx="816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for( </a:t>
            </a:r>
            <a:r>
              <a:rPr kumimoji="1" lang="en-US" altLang="ko-Kore-KR" sz="1400" b="1" dirty="0" err="1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i</a:t>
            </a:r>
            <a:r>
              <a:rPr kumimoji="1" lang="en-US" altLang="ko-Kore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)</a:t>
            </a:r>
          </a:p>
          <a:p>
            <a:pPr algn="ctr"/>
            <a:r>
              <a:rPr kumimoji="1" lang="ko-Kore-KR" altLang="en-US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밖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23DDBF-85A9-3148-A111-A40133F9DB1B}"/>
              </a:ext>
            </a:extLst>
          </p:cNvPr>
          <p:cNvSpPr txBox="1"/>
          <p:nvPr/>
        </p:nvSpPr>
        <p:spPr>
          <a:xfrm>
            <a:off x="1234527" y="962778"/>
            <a:ext cx="1390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for( j)  </a:t>
            </a:r>
            <a:r>
              <a:rPr kumimoji="1" lang="ko-Kore-KR" altLang="en-US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안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7A9A84-D199-0C45-BDFD-F8361CAD0120}"/>
              </a:ext>
            </a:extLst>
          </p:cNvPr>
          <p:cNvSpPr txBox="1"/>
          <p:nvPr/>
        </p:nvSpPr>
        <p:spPr>
          <a:xfrm>
            <a:off x="803423" y="1484647"/>
            <a:ext cx="816249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5</a:t>
            </a:r>
          </a:p>
          <a:p>
            <a:pPr algn="ctr"/>
            <a:endParaRPr kumimoji="1" lang="en-US" altLang="ko-KR" sz="6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4</a:t>
            </a:r>
          </a:p>
          <a:p>
            <a:pPr algn="ctr"/>
            <a:endParaRPr kumimoji="1" lang="en-US" altLang="ko-KR" sz="6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3</a:t>
            </a:r>
          </a:p>
          <a:p>
            <a:pPr algn="ctr"/>
            <a:endParaRPr kumimoji="1" lang="en-US" altLang="ko-KR" sz="6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2</a:t>
            </a:r>
          </a:p>
          <a:p>
            <a:pPr algn="ctr"/>
            <a:endParaRPr kumimoji="1" lang="en-US" altLang="ko-KR" sz="700" b="1" dirty="0">
              <a:solidFill>
                <a:srgbClr val="FF0000"/>
              </a:solidFill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algn="ctr"/>
            <a:r>
              <a:rPr kumimoji="1" lang="en-US" altLang="ko-KR" sz="14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80170F-13B0-0943-AFAF-1238BA5EB7EC}"/>
              </a:ext>
            </a:extLst>
          </p:cNvPr>
          <p:cNvSpPr txBox="1"/>
          <p:nvPr/>
        </p:nvSpPr>
        <p:spPr>
          <a:xfrm>
            <a:off x="1211547" y="1240434"/>
            <a:ext cx="19725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b="1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1    2    3    4    5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14D05B8-B46A-A1D9-A44A-18483DF0A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66" y="1484647"/>
            <a:ext cx="4792711" cy="221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375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256030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반복문 예제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8145145" cy="1176604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14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자연수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n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다음과 같이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결과1 )				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			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1756962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39E855D-E1B8-4002-ABB4-563A1956C2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37" t="17288" r="22560"/>
          <a:stretch/>
        </p:blipFill>
        <p:spPr>
          <a:xfrm>
            <a:off x="1979712" y="2211710"/>
            <a:ext cx="1358900" cy="2088232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D57CBC0-6BCD-2B44-7132-2857A3D41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2" y="1629067"/>
            <a:ext cx="13589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256030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반복문 예제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8016179" cy="1723421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15. 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자연수 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n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</a:t>
            </a:r>
            <a:r>
              <a:rPr lang="ko-KR" altLang="en-US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n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개의 줄에 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n + 1 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개의 숫자와 문자로 채워서 다음과 같이 출력하는 프로그램을 작성하시오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250292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048EEB3-F23E-4C4B-BD73-67CC5CC0EB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97" t="27478" r="1"/>
          <a:stretch/>
        </p:blipFill>
        <p:spPr>
          <a:xfrm>
            <a:off x="1697078" y="2379315"/>
            <a:ext cx="1235108" cy="1416572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0EA0320-99CC-6CCB-CAAC-E39EC8D81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7078" y="1887882"/>
            <a:ext cx="1231900" cy="3937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256030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반복문 예제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7673340" cy="152176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16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 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자연수 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n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</a:t>
            </a:r>
            <a:r>
              <a:rPr lang="ko-KR" altLang="en-US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공백에 주의하여 다음과 같이 출력하는 프로그램을 작성하시오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결과1 )				결과2 ) 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272477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1119EA3-7D03-4715-8EE3-71A4E3AE78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06" t="24833"/>
          <a:stretch/>
        </p:blipFill>
        <p:spPr>
          <a:xfrm>
            <a:off x="1796033" y="2141151"/>
            <a:ext cx="1262711" cy="165473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E43801C-342D-4764-89E0-AE7C9829575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061" t="30398"/>
          <a:stretch/>
        </p:blipFill>
        <p:spPr>
          <a:xfrm>
            <a:off x="5535297" y="2067286"/>
            <a:ext cx="1262711" cy="1549972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E3DD97A9-248F-B403-E1CE-A4455C3981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0855" y="1673586"/>
            <a:ext cx="1231900" cy="3937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CA71F2F-67BA-C021-7A40-6A94F4ADE5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5297" y="1604796"/>
            <a:ext cx="1231900" cy="3937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/>
          </p:cNvSpPr>
          <p:nvPr/>
        </p:nvSpPr>
        <p:spPr>
          <a:xfrm>
            <a:off x="79375" y="443865"/>
            <a:ext cx="268605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1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04825" y="443865"/>
            <a:ext cx="1256030" cy="370205"/>
          </a:xfrm>
          <a:prstGeom prst="rect">
            <a:avLst/>
          </a:prstGeom>
          <a:noFill/>
        </p:spPr>
        <p:txBody>
          <a:bodyPr vert="horz" wrap="non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800" b="1" strike="noStrike" cap="none" dirty="0">
                <a:solidFill>
                  <a:schemeClr val="bg1"/>
                </a:solidFill>
                <a:latin typeface="10X10" charset="0"/>
                <a:ea typeface="10X10" charset="0"/>
              </a:rPr>
              <a:t>반복문 예제</a:t>
            </a:r>
            <a:endParaRPr lang="ko-KR" altLang="en-US" sz="1800" b="1" strike="noStrike" cap="none" dirty="0">
              <a:solidFill>
                <a:schemeClr val="bg1"/>
              </a:solidFill>
              <a:latin typeface="10X10" charset="0"/>
              <a:ea typeface="10X10" charset="0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7673340" cy="152176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17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 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자연수 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n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</a:t>
            </a:r>
            <a:r>
              <a:rPr lang="ko-KR" altLang="en-US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공백에 주의하여 다음과 같이 출력하는 프로그램을 작성하시오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결과1 )				결과4 ) 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272477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198B92C-9382-4247-A7FF-E902CF3539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95" t="29702"/>
          <a:stretch/>
        </p:blipFill>
        <p:spPr>
          <a:xfrm>
            <a:off x="5407858" y="2080734"/>
            <a:ext cx="1231900" cy="109520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AEA6B89-034E-E84E-A6D8-0C3E34643D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48" t="39840" r="49297"/>
          <a:stretch/>
        </p:blipFill>
        <p:spPr>
          <a:xfrm>
            <a:off x="1971511" y="2080734"/>
            <a:ext cx="1148683" cy="154494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13A3073-152F-8525-9ECB-14760C384D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8294" y="1615806"/>
            <a:ext cx="1231900" cy="3937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FF411CC-4E96-5BE3-18B2-AA23ACE4F5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7858" y="1604796"/>
            <a:ext cx="1231900" cy="3937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04753" y="3560844"/>
            <a:ext cx="35344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chemeClr val="bg1">
                    <a:lumMod val="65000"/>
                  </a:schemeClr>
                </a:solidFill>
              </a:rPr>
              <a:t>THANK YOU</a:t>
            </a:r>
            <a:endParaRPr lang="ko-KR" altLang="en-US" sz="4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Picture 2" descr="D:\은경\최종시안\스티커_로봇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084" y="987574"/>
            <a:ext cx="2521831" cy="2521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796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24828</TotalTime>
  <Words>793</Words>
  <Application>Microsoft Office PowerPoint</Application>
  <PresentationFormat>화면 슬라이드 쇼(16:9)</PresentationFormat>
  <Paragraphs>365</Paragraphs>
  <Slides>24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3" baseType="lpstr">
      <vt:lpstr>10X10</vt:lpstr>
      <vt:lpstr>10X10 Bold</vt:lpstr>
      <vt:lpstr>12LotteMartDreamMedium</vt:lpstr>
      <vt:lpstr>12롯데마트드림Medium</vt:lpstr>
      <vt:lpstr>210 연필스케치 R</vt:lpstr>
      <vt:lpstr>나눔바른고딕 옛한글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이소영</dc:creator>
  <cp:lastModifiedBy>은진 이</cp:lastModifiedBy>
  <cp:revision>1104</cp:revision>
  <cp:lastPrinted>2017-05-13T00:43:47Z</cp:lastPrinted>
  <dcterms:created xsi:type="dcterms:W3CDTF">2015-11-19T15:23:17Z</dcterms:created>
  <dcterms:modified xsi:type="dcterms:W3CDTF">2025-01-16T04:14:50Z</dcterms:modified>
</cp:coreProperties>
</file>