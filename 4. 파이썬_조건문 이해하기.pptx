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414" r:id="rId2"/>
    <p:sldId id="1369" r:id="rId3"/>
    <p:sldId id="381" r:id="rId4"/>
    <p:sldId id="382" r:id="rId5"/>
    <p:sldId id="384" r:id="rId6"/>
    <p:sldId id="422" r:id="rId7"/>
    <p:sldId id="429" r:id="rId8"/>
    <p:sldId id="423" r:id="rId9"/>
    <p:sldId id="430" r:id="rId10"/>
    <p:sldId id="387" r:id="rId11"/>
    <p:sldId id="390" r:id="rId12"/>
    <p:sldId id="434" r:id="rId13"/>
    <p:sldId id="435" r:id="rId14"/>
    <p:sldId id="392" r:id="rId15"/>
    <p:sldId id="1373" r:id="rId16"/>
    <p:sldId id="1372" r:id="rId17"/>
    <p:sldId id="393" r:id="rId18"/>
    <p:sldId id="394" r:id="rId19"/>
    <p:sldId id="407" r:id="rId20"/>
    <p:sldId id="458" r:id="rId21"/>
    <p:sldId id="419" r:id="rId22"/>
    <p:sldId id="418" r:id="rId23"/>
    <p:sldId id="427" r:id="rId24"/>
    <p:sldId id="437" r:id="rId25"/>
    <p:sldId id="404" r:id="rId26"/>
    <p:sldId id="400" r:id="rId27"/>
    <p:sldId id="436" r:id="rId28"/>
    <p:sldId id="385" r:id="rId29"/>
    <p:sldId id="421" r:id="rId30"/>
    <p:sldId id="424" r:id="rId31"/>
    <p:sldId id="428" r:id="rId32"/>
    <p:sldId id="438" r:id="rId33"/>
    <p:sldId id="411" r:id="rId34"/>
    <p:sldId id="420" r:id="rId35"/>
    <p:sldId id="450" r:id="rId36"/>
    <p:sldId id="462" r:id="rId37"/>
    <p:sldId id="463" r:id="rId38"/>
    <p:sldId id="1374" r:id="rId39"/>
    <p:sldId id="464" r:id="rId40"/>
    <p:sldId id="465" r:id="rId41"/>
    <p:sldId id="466" r:id="rId42"/>
    <p:sldId id="553" r:id="rId43"/>
  </p:sldIdLst>
  <p:sldSz cx="9144000" cy="5143500" type="screen16x9"/>
  <p:notesSz cx="6888163" cy="100187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EE7D16"/>
    <a:srgbClr val="213540"/>
    <a:srgbClr val="FFD44E"/>
    <a:srgbClr val="704837"/>
    <a:srgbClr val="7396F5"/>
    <a:srgbClr val="EE6E73"/>
    <a:srgbClr val="FE4E50"/>
    <a:srgbClr val="E6E8E8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266" autoAdjust="0"/>
    <p:restoredTop sz="95494" autoAdjust="0"/>
  </p:normalViewPr>
  <p:slideViewPr>
    <p:cSldViewPr>
      <p:cViewPr varScale="1">
        <p:scale>
          <a:sx n="146" d="100"/>
          <a:sy n="146" d="100"/>
        </p:scale>
        <p:origin x="192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2984871" cy="502676"/>
          </a:xfrm>
          <a:prstGeom prst="rect">
            <a:avLst/>
          </a:prstGeom>
        </p:spPr>
        <p:txBody>
          <a:bodyPr vert="horz" lIns="96616" tIns="48307" rIns="96616" bIns="48307" rtlCol="0"/>
          <a:lstStyle>
            <a:lvl1pPr algn="l">
              <a:defRPr sz="13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901700" y="1"/>
            <a:ext cx="2984871" cy="502676"/>
          </a:xfrm>
          <a:prstGeom prst="rect">
            <a:avLst/>
          </a:prstGeom>
        </p:spPr>
        <p:txBody>
          <a:bodyPr vert="horz" lIns="96616" tIns="48307" rIns="96616" bIns="48307" rtlCol="0"/>
          <a:lstStyle>
            <a:lvl1pPr algn="r">
              <a:defRPr sz="1300"/>
            </a:lvl1pPr>
          </a:lstStyle>
          <a:p>
            <a:fld id="{72D9A5FD-E331-4056-855E-36F30E6A9905}" type="datetimeFigureOut">
              <a:rPr lang="ko-KR" altLang="en-US" smtClean="0"/>
              <a:pPr/>
              <a:t>2025-01-16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1863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16" tIns="48307" rIns="96616" bIns="48307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8817" y="4821507"/>
            <a:ext cx="5510530" cy="3944868"/>
          </a:xfrm>
          <a:prstGeom prst="rect">
            <a:avLst/>
          </a:prstGeom>
        </p:spPr>
        <p:txBody>
          <a:bodyPr vert="horz" lIns="96616" tIns="48307" rIns="96616" bIns="48307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9516039"/>
            <a:ext cx="2984871" cy="502675"/>
          </a:xfrm>
          <a:prstGeom prst="rect">
            <a:avLst/>
          </a:prstGeom>
        </p:spPr>
        <p:txBody>
          <a:bodyPr vert="horz" lIns="96616" tIns="48307" rIns="96616" bIns="48307" rtlCol="0" anchor="b"/>
          <a:lstStyle>
            <a:lvl1pPr algn="l">
              <a:defRPr sz="13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901700" y="9516039"/>
            <a:ext cx="2984871" cy="502675"/>
          </a:xfrm>
          <a:prstGeom prst="rect">
            <a:avLst/>
          </a:prstGeom>
        </p:spPr>
        <p:txBody>
          <a:bodyPr vert="horz" lIns="96616" tIns="48307" rIns="96616" bIns="48307" rtlCol="0" anchor="b"/>
          <a:lstStyle>
            <a:lvl1pPr algn="r">
              <a:defRPr sz="1300"/>
            </a:lvl1pPr>
          </a:lstStyle>
          <a:p>
            <a:fld id="{9599A198-E9C2-43A8-BA3B-B3D7BEBA52A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69496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74DE24-B95C-480B-B5B5-59E36C12ED66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934390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99A198-E9C2-43A8-BA3B-B3D7BEBA52A1}" type="slidenum">
              <a:rPr lang="ko-KR" altLang="en-US" smtClean="0"/>
              <a:pPr/>
              <a:t>42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80011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DF18-086A-46A3-884F-0CFAD55014EA}" type="datetimeFigureOut">
              <a:rPr lang="ko-KR" altLang="en-US" smtClean="0"/>
              <a:pPr/>
              <a:t>2025-01-16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52E4F-3B81-40C3-914E-0EE44736E4B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79951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DF18-086A-46A3-884F-0CFAD55014EA}" type="datetimeFigureOut">
              <a:rPr lang="ko-KR" altLang="en-US" smtClean="0"/>
              <a:pPr/>
              <a:t>2025-01-16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52E4F-3B81-40C3-914E-0EE44736E4B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90072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DF18-086A-46A3-884F-0CFAD55014EA}" type="datetimeFigureOut">
              <a:rPr lang="ko-KR" altLang="en-US" smtClean="0"/>
              <a:pPr/>
              <a:t>2025-01-16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52E4F-3B81-40C3-914E-0EE44736E4B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5" name="직사각형 4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9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직사각형 5"/>
          <p:cNvSpPr/>
          <p:nvPr userDrawn="1"/>
        </p:nvSpPr>
        <p:spPr>
          <a:xfrm>
            <a:off x="0" y="4875626"/>
            <a:ext cx="9162728" cy="107157"/>
          </a:xfrm>
          <a:prstGeom prst="rect">
            <a:avLst/>
          </a:prstGeom>
          <a:solidFill>
            <a:srgbClr val="213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13540"/>
              </a:solidFill>
            </a:endParaRPr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482600" cy="5143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 userDrawn="1"/>
        </p:nvSpPr>
        <p:spPr>
          <a:xfrm>
            <a:off x="-1" y="447876"/>
            <a:ext cx="2676525" cy="361800"/>
          </a:xfrm>
          <a:prstGeom prst="rect">
            <a:avLst/>
          </a:prstGeom>
          <a:solidFill>
            <a:srgbClr val="213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6138073" y="4811949"/>
            <a:ext cx="28264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CODING SOFTWARE CREATIVE EDUCATION CENTER</a:t>
            </a:r>
            <a:endParaRPr lang="ko-KR" altLang="en-US" sz="900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0144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DF18-086A-46A3-884F-0CFAD55014EA}" type="datetimeFigureOut">
              <a:rPr lang="ko-KR" altLang="en-US" smtClean="0"/>
              <a:pPr/>
              <a:t>2025-01-16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52E4F-3B81-40C3-914E-0EE44736E4B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5" name="직사각형 4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9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직사각형 9"/>
          <p:cNvSpPr/>
          <p:nvPr userDrawn="1"/>
        </p:nvSpPr>
        <p:spPr>
          <a:xfrm>
            <a:off x="0" y="4875626"/>
            <a:ext cx="9215470" cy="107157"/>
          </a:xfrm>
          <a:prstGeom prst="rect">
            <a:avLst/>
          </a:prstGeom>
          <a:solidFill>
            <a:srgbClr val="2B46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13540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482600" cy="5143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/>
          <p:cNvSpPr/>
          <p:nvPr userDrawn="1"/>
        </p:nvSpPr>
        <p:spPr>
          <a:xfrm>
            <a:off x="-1" y="447876"/>
            <a:ext cx="2676525" cy="361800"/>
          </a:xfrm>
          <a:prstGeom prst="rect">
            <a:avLst/>
          </a:prstGeom>
          <a:solidFill>
            <a:srgbClr val="2B46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6138073" y="4811949"/>
            <a:ext cx="28264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CODING SOFTWARE CREATIVE EDUCATION CENTER</a:t>
            </a:r>
            <a:endParaRPr lang="ko-KR" altLang="en-US" sz="900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26859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DF18-086A-46A3-884F-0CFAD55014EA}" type="datetimeFigureOut">
              <a:rPr lang="ko-KR" altLang="en-US" smtClean="0"/>
              <a:pPr/>
              <a:t>2025-01-16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52E4F-3B81-40C3-914E-0EE44736E4B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5" name="직사각형 4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9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직사각형 9"/>
          <p:cNvSpPr/>
          <p:nvPr userDrawn="1"/>
        </p:nvSpPr>
        <p:spPr>
          <a:xfrm>
            <a:off x="0" y="4875626"/>
            <a:ext cx="9215470" cy="107157"/>
          </a:xfrm>
          <a:prstGeom prst="rect">
            <a:avLst/>
          </a:prstGeom>
          <a:solidFill>
            <a:srgbClr val="74C4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13540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482600" cy="5143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/>
          <p:cNvSpPr/>
          <p:nvPr userDrawn="1"/>
        </p:nvSpPr>
        <p:spPr>
          <a:xfrm>
            <a:off x="-1" y="447876"/>
            <a:ext cx="2676525" cy="361800"/>
          </a:xfrm>
          <a:prstGeom prst="rect">
            <a:avLst/>
          </a:prstGeom>
          <a:solidFill>
            <a:srgbClr val="74C4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6138073" y="4811949"/>
            <a:ext cx="28264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CODING SOFTWARE CREATIVE EDUCATION CENTER</a:t>
            </a:r>
            <a:endParaRPr lang="ko-KR" altLang="en-US" sz="900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7060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DF18-086A-46A3-884F-0CFAD55014EA}" type="datetimeFigureOut">
              <a:rPr lang="ko-KR" altLang="en-US" smtClean="0"/>
              <a:pPr/>
              <a:t>2025-01-16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52E4F-3B81-40C3-914E-0EE44736E4B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5" name="직사각형 4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9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482600" cy="5143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직사각형 9"/>
          <p:cNvSpPr/>
          <p:nvPr userDrawn="1"/>
        </p:nvSpPr>
        <p:spPr>
          <a:xfrm>
            <a:off x="0" y="4875626"/>
            <a:ext cx="9215470" cy="107157"/>
          </a:xfrm>
          <a:prstGeom prst="rect">
            <a:avLst/>
          </a:prstGeom>
          <a:solidFill>
            <a:srgbClr val="FFD4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13540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6138073" y="4811949"/>
            <a:ext cx="28264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CODING SOFTWARE CREATIVE EDUCATION CENTER</a:t>
            </a:r>
            <a:endParaRPr lang="ko-KR" altLang="en-US" sz="900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1" name="직사각형 10"/>
          <p:cNvSpPr/>
          <p:nvPr userDrawn="1"/>
        </p:nvSpPr>
        <p:spPr>
          <a:xfrm>
            <a:off x="-1" y="447876"/>
            <a:ext cx="2676525" cy="361800"/>
          </a:xfrm>
          <a:prstGeom prst="rect">
            <a:avLst/>
          </a:prstGeom>
          <a:solidFill>
            <a:srgbClr val="FFD4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10X10" pitchFamily="50" charset="-127"/>
              <a:ea typeface="10X1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67768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DF18-086A-46A3-884F-0CFAD55014EA}" type="datetimeFigureOut">
              <a:rPr lang="ko-KR" altLang="en-US" smtClean="0"/>
              <a:pPr/>
              <a:t>2025-01-16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52E4F-3B81-40C3-914E-0EE44736E4B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6" name="직사각형 5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9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0" y="4875626"/>
            <a:ext cx="9215470" cy="107157"/>
          </a:xfrm>
          <a:prstGeom prst="rect">
            <a:avLst/>
          </a:prstGeom>
          <a:solidFill>
            <a:srgbClr val="FE4E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13540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8" name="직사각형 7"/>
          <p:cNvSpPr/>
          <p:nvPr userDrawn="1"/>
        </p:nvSpPr>
        <p:spPr>
          <a:xfrm>
            <a:off x="0" y="0"/>
            <a:ext cx="482600" cy="5143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9" name="직사각형 8"/>
          <p:cNvSpPr/>
          <p:nvPr userDrawn="1"/>
        </p:nvSpPr>
        <p:spPr>
          <a:xfrm>
            <a:off x="-1" y="447876"/>
            <a:ext cx="3347865" cy="361800"/>
          </a:xfrm>
          <a:prstGeom prst="rect">
            <a:avLst/>
          </a:prstGeom>
          <a:solidFill>
            <a:srgbClr val="FE4E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6138073" y="4811949"/>
            <a:ext cx="28264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CODING SOFTWARE CREATIVE EDUCATION CENTER</a:t>
            </a:r>
            <a:endParaRPr lang="ko-KR" altLang="en-US" sz="900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24462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DF18-086A-46A3-884F-0CFAD55014EA}" type="datetimeFigureOut">
              <a:rPr lang="ko-KR" altLang="en-US" smtClean="0"/>
              <a:pPr/>
              <a:t>2025-01-16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52E4F-3B81-40C3-914E-0EE44736E4B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6" name="직사각형 5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9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0" y="4875626"/>
            <a:ext cx="9215470" cy="107157"/>
          </a:xfrm>
          <a:prstGeom prst="rect">
            <a:avLst/>
          </a:prstGeom>
          <a:solidFill>
            <a:srgbClr val="7048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13540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8" name="직사각형 7"/>
          <p:cNvSpPr/>
          <p:nvPr userDrawn="1"/>
        </p:nvSpPr>
        <p:spPr>
          <a:xfrm>
            <a:off x="0" y="0"/>
            <a:ext cx="482600" cy="5143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9" name="직사각형 8"/>
          <p:cNvSpPr/>
          <p:nvPr userDrawn="1"/>
        </p:nvSpPr>
        <p:spPr>
          <a:xfrm>
            <a:off x="-1" y="447876"/>
            <a:ext cx="2676525" cy="361800"/>
          </a:xfrm>
          <a:prstGeom prst="rect">
            <a:avLst/>
          </a:prstGeom>
          <a:solidFill>
            <a:srgbClr val="7048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6138073" y="4811949"/>
            <a:ext cx="28264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CODING SOFTWARE CREATIVE EDUCATION CENTER</a:t>
            </a:r>
            <a:endParaRPr lang="ko-KR" altLang="en-US" sz="900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975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DF18-086A-46A3-884F-0CFAD55014EA}" type="datetimeFigureOut">
              <a:rPr lang="ko-KR" altLang="en-US" smtClean="0"/>
              <a:pPr/>
              <a:t>2025-01-16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52E4F-3B81-40C3-914E-0EE44736E4B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6" name="직사각형 5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9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12116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3BDF18-086A-46A3-884F-0CFAD55014EA}" type="datetimeFigureOut">
              <a:rPr lang="ko-KR" altLang="en-US" smtClean="0"/>
              <a:pPr/>
              <a:t>2025-01-16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452E4F-3B81-40C3-914E-0EE44736E4B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68686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Relationship Id="rId9" Type="http://schemas.openxmlformats.org/officeDocument/2006/relationships/image" Target="../media/image4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7" Type="http://schemas.openxmlformats.org/officeDocument/2006/relationships/image" Target="../media/image44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4.png"/><Relationship Id="rId4" Type="http://schemas.openxmlformats.org/officeDocument/2006/relationships/image" Target="../media/image7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4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7" Type="http://schemas.openxmlformats.org/officeDocument/2006/relationships/image" Target="../media/image82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7" Type="http://schemas.openxmlformats.org/officeDocument/2006/relationships/image" Target="../media/image4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141480"/>
            <a:ext cx="9144000" cy="16201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0" y="4840002"/>
            <a:ext cx="9144000" cy="16201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151029" y="1518044"/>
            <a:ext cx="6841938" cy="2165529"/>
          </a:xfrm>
          <a:prstGeom prst="rect">
            <a:avLst/>
          </a:prstGeom>
          <a:noFill/>
          <a:ln>
            <a:solidFill>
              <a:schemeClr val="tx1">
                <a:alpha val="0"/>
              </a:schemeClr>
            </a:solidFill>
          </a:ln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4800" b="1" spc="30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rgbClr val="3792AB"/>
                </a:solidFill>
                <a:effectLst/>
                <a:latin typeface="나눔바른고딕 옛한글" panose="020B0603020101020101" pitchFamily="50" charset="-127"/>
                <a:ea typeface="나눔바른고딕 옛한글" panose="020B0603020101020101" pitchFamily="50" charset="-127"/>
              </a:rPr>
              <a:t>프로그램 언어</a:t>
            </a:r>
            <a:r>
              <a:rPr lang="en-US" altLang="ko-KR" sz="4800" b="1" spc="30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rgbClr val="3792AB"/>
                </a:solidFill>
                <a:effectLst/>
                <a:latin typeface="나눔바른고딕 옛한글" panose="020B0603020101020101" pitchFamily="50" charset="-127"/>
                <a:ea typeface="나눔바른고딕 옛한글" panose="020B0603020101020101" pitchFamily="50" charset="-127"/>
              </a:rPr>
              <a:t>[</a:t>
            </a:r>
            <a:r>
              <a:rPr lang="ko-KR" altLang="en-US" sz="4800" b="1" spc="30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rgbClr val="3792AB"/>
                </a:solidFill>
                <a:latin typeface="나눔바른고딕 옛한글" panose="020B0603020101020101" pitchFamily="50" charset="-127"/>
                <a:ea typeface="나눔바른고딕 옛한글" panose="020B0603020101020101" pitchFamily="50" charset="-127"/>
              </a:rPr>
              <a:t>파이썬</a:t>
            </a:r>
            <a:r>
              <a:rPr lang="en-US" altLang="ko-KR" sz="4800" b="1" spc="30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rgbClr val="3792AB"/>
                </a:solidFill>
                <a:effectLst/>
                <a:latin typeface="나눔바른고딕 옛한글" panose="020B0603020101020101" pitchFamily="50" charset="-127"/>
                <a:ea typeface="나눔바른고딕 옛한글" panose="020B0603020101020101" pitchFamily="50" charset="-127"/>
              </a:rPr>
              <a:t>]</a:t>
            </a:r>
          </a:p>
          <a:p>
            <a:pPr algn="ctr">
              <a:lnSpc>
                <a:spcPct val="150000"/>
              </a:lnSpc>
            </a:pPr>
            <a:r>
              <a:rPr lang="en-US" altLang="ko-KR" sz="4800" b="1" spc="30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rgbClr val="3792AB"/>
                </a:solidFill>
                <a:latin typeface="나눔바른고딕 옛한글" panose="020B0603020101020101" pitchFamily="50" charset="-127"/>
                <a:ea typeface="나눔바른고딕 옛한글" panose="020B0603020101020101" pitchFamily="50" charset="-127"/>
              </a:rPr>
              <a:t>4. </a:t>
            </a:r>
            <a:r>
              <a:rPr lang="ko-KR" altLang="en-US" sz="4800" b="1" spc="300" dirty="0" err="1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rgbClr val="3792AB"/>
                </a:solidFill>
                <a:latin typeface="나눔바른고딕 옛한글" panose="020B0603020101020101" pitchFamily="50" charset="-127"/>
                <a:ea typeface="나눔바른고딕 옛한글" panose="020B0603020101020101" pitchFamily="50" charset="-127"/>
              </a:rPr>
              <a:t>제어문</a:t>
            </a:r>
            <a:r>
              <a:rPr lang="ko-KR" altLang="en-US" sz="4800" b="1" spc="30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rgbClr val="3792AB"/>
                </a:solidFill>
                <a:latin typeface="나눔바른고딕 옛한글" panose="020B0603020101020101" pitchFamily="50" charset="-127"/>
                <a:ea typeface="나눔바른고딕 옛한글" panose="020B0603020101020101" pitchFamily="50" charset="-127"/>
              </a:rPr>
              <a:t> 이해하기</a:t>
            </a:r>
            <a:endParaRPr lang="ko-KR" altLang="en-US" sz="4800" b="1" spc="300" dirty="0">
              <a:ln>
                <a:solidFill>
                  <a:srgbClr val="75C3B6">
                    <a:alpha val="0"/>
                  </a:srgbClr>
                </a:solidFill>
              </a:ln>
              <a:solidFill>
                <a:srgbClr val="3792AB"/>
              </a:solidFill>
              <a:effectLst/>
              <a:latin typeface="나눔바른고딕 옛한글" panose="020B0603020101020101" pitchFamily="50" charset="-127"/>
              <a:ea typeface="나눔바른고딕 옛한글" panose="020B0603020101020101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253417" y="2591414"/>
            <a:ext cx="4637167" cy="253916"/>
          </a:xfrm>
          <a:prstGeom prst="rect">
            <a:avLst/>
          </a:prstGeom>
          <a:noFill/>
          <a:ln>
            <a:solidFill>
              <a:schemeClr val="tx1">
                <a:alpha val="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spc="17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rgbClr val="75C3B6"/>
                </a:solidFill>
                <a:latin typeface="10X10 Bold" panose="020D0604000000000000" pitchFamily="50" charset="-127"/>
                <a:ea typeface="10X10 Bold" panose="020D0604000000000000" pitchFamily="50" charset="-127"/>
              </a:rPr>
              <a:t>CODING SOFTWARE CREATIVE EDUCATION CENTER</a:t>
            </a:r>
          </a:p>
        </p:txBody>
      </p:sp>
      <p:cxnSp>
        <p:nvCxnSpPr>
          <p:cNvPr id="10" name="직선 연결선 9"/>
          <p:cNvCxnSpPr/>
          <p:nvPr/>
        </p:nvCxnSpPr>
        <p:spPr>
          <a:xfrm>
            <a:off x="3139076" y="2571750"/>
            <a:ext cx="2865849" cy="0"/>
          </a:xfrm>
          <a:prstGeom prst="line">
            <a:avLst/>
          </a:prstGeom>
          <a:ln w="6350">
            <a:solidFill>
              <a:srgbClr val="C5E5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3" descr="D:\은경\최종시안\스티커_로봇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7062" y="4576562"/>
            <a:ext cx="566938" cy="566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8672658" y="411510"/>
            <a:ext cx="375745" cy="253916"/>
          </a:xfrm>
          <a:prstGeom prst="rect">
            <a:avLst/>
          </a:prstGeom>
          <a:noFill/>
          <a:ln>
            <a:solidFill>
              <a:schemeClr val="tx1">
                <a:alpha val="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spc="17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rgbClr val="75C3B6"/>
                </a:solidFill>
                <a:latin typeface="10X10 Bold" panose="020D0604000000000000" pitchFamily="50" charset="-127"/>
                <a:ea typeface="10X10 Bold" panose="020D0604000000000000" pitchFamily="50" charset="-127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7050739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04686" y="444110"/>
            <a:ext cx="7954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조건문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9236" y="444110"/>
            <a:ext cx="271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902391" y="1707654"/>
            <a:ext cx="160307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40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if </a:t>
            </a:r>
            <a:r>
              <a:rPr lang="ko-KR" altLang="en-US" sz="140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구문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137314" y="2189120"/>
            <a:ext cx="3127887" cy="53482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조건:</a:t>
            </a:r>
          </a:p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조건이 참일 때 문장</a:t>
            </a:r>
            <a:endParaRPr kumimoji="0" lang="ko-KR" altLang="ko-KR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137314" y="3475176"/>
            <a:ext cx="3127887" cy="10949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조건:</a:t>
            </a:r>
          </a:p>
          <a:p>
            <a:pPr lv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solidFill>
                  <a:srgbClr val="010101"/>
                </a:solidFill>
                <a:latin typeface="Consolas" panose="020B0609020204030204" pitchFamily="49" charset="0"/>
              </a:rPr>
              <a:t> 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조건이 참일 때 문장</a:t>
            </a:r>
          </a:p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:</a:t>
            </a:r>
          </a:p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dirty="0">
                <a:solidFill>
                  <a:srgbClr val="A71D5D"/>
                </a:solidFill>
                <a:latin typeface="Consolas" panose="020B0609020204030204" pitchFamily="49" charset="0"/>
              </a:rPr>
              <a:t> 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조건이 거짓일 때 실행할 문장</a:t>
            </a:r>
            <a:endParaRPr kumimoji="0" lang="ko-KR" altLang="ko-KR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902389" y="3095391"/>
            <a:ext cx="160307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40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else </a:t>
            </a:r>
            <a:r>
              <a:rPr lang="ko-KR" altLang="en-US" sz="140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구문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4737716" y="1707653"/>
            <a:ext cx="160307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40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</a:t>
            </a:r>
            <a:r>
              <a:rPr lang="en-US" altLang="ko-KR" sz="1400" dirty="0" err="1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elif</a:t>
            </a:r>
            <a:r>
              <a:rPr lang="en-US" altLang="ko-KR" sz="140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</a:t>
            </a:r>
            <a:r>
              <a:rPr lang="ko-KR" altLang="en-US" sz="140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구문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4953740" y="2141636"/>
            <a:ext cx="3308598" cy="221528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조건A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:</a:t>
            </a:r>
          </a:p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조건A가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참일 때 실행할 문장</a:t>
            </a:r>
          </a:p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조건B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:</a:t>
            </a:r>
          </a:p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조건B가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참일 때 실행할 문장</a:t>
            </a:r>
          </a:p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조건C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:</a:t>
            </a:r>
          </a:p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조건C가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참일 때 실행할 문장</a:t>
            </a:r>
          </a:p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:</a:t>
            </a:r>
          </a:p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모든 조건이 거짓일 때 실행할 문장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873500" y="956424"/>
            <a:ext cx="686685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altLang="ko-KR" sz="140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</a:t>
            </a:r>
            <a:r>
              <a:rPr lang="ko-KR" altLang="en-US" sz="140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조건을 기반으로 코드의 실행 흐름을 변경하는 구문</a:t>
            </a:r>
            <a:endParaRPr lang="en-US" altLang="ko-KR" sz="1400" dirty="0">
              <a:latin typeface="12롯데마트드림Medium" panose="02020603020101020101" pitchFamily="18" charset="-127"/>
              <a:ea typeface="12롯데마트드림Medium" panose="02020603020101020101" pitchFamily="18" charset="-127"/>
            </a:endParaRPr>
          </a:p>
          <a:p>
            <a:pPr>
              <a:buFont typeface="Arial" pitchFamily="34" charset="0"/>
              <a:buChar char="•"/>
            </a:pPr>
            <a:r>
              <a:rPr lang="en-US" altLang="ko-KR" sz="140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</a:t>
            </a:r>
            <a:r>
              <a:rPr lang="ko-KR" altLang="en-US" sz="1400" dirty="0" err="1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파이썬은</a:t>
            </a:r>
            <a:r>
              <a:rPr lang="ko-KR" altLang="en-US" sz="140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코드 블록을 구성하기 위하여 </a:t>
            </a:r>
            <a:r>
              <a:rPr lang="en-US" altLang="ko-KR" sz="140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{ } </a:t>
            </a:r>
            <a:r>
              <a:rPr lang="ko-KR" altLang="en-US" sz="140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대신 </a:t>
            </a:r>
            <a:r>
              <a:rPr lang="ko-KR" altLang="en-US" sz="1400" dirty="0">
                <a:solidFill>
                  <a:srgbClr val="0070C0"/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들여쓰기 </a:t>
            </a:r>
            <a:r>
              <a:rPr lang="en-US" altLang="ko-KR" sz="1400" dirty="0">
                <a:solidFill>
                  <a:srgbClr val="0070C0"/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(indent) </a:t>
            </a:r>
            <a:r>
              <a:rPr lang="ko-KR" altLang="en-US" sz="140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사용</a:t>
            </a:r>
          </a:p>
        </p:txBody>
      </p:sp>
    </p:spTree>
    <p:extLst>
      <p:ext uri="{BB962C8B-B14F-4D97-AF65-F5344CB8AC3E}">
        <p14:creationId xmlns:p14="http://schemas.microsoft.com/office/powerpoint/2010/main" val="3295898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4686" y="44411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조건문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7584" y="887044"/>
            <a:ext cx="7907024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조건문</a:t>
            </a:r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프로그램의 기본적인 로직을 구성하는 문법</a:t>
            </a:r>
          </a:p>
          <a:p>
            <a:pPr lvl="1">
              <a:lnSpc>
                <a:spcPct val="150000"/>
              </a:lnSpc>
            </a:pP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모든 프로그램 언어의 가장 기본임</a:t>
            </a:r>
          </a:p>
          <a:p>
            <a:pPr lvl="1">
              <a:lnSpc>
                <a:spcPct val="150000"/>
              </a:lnSpc>
            </a:pP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논리적 수행을 지원하는 명령어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조건문의 종류 </a:t>
            </a:r>
          </a:p>
          <a:p>
            <a:pPr lvl="1">
              <a:lnSpc>
                <a:spcPct val="150000"/>
              </a:lnSpc>
            </a:pP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if</a:t>
            </a:r>
          </a:p>
          <a:p>
            <a:pPr lvl="1">
              <a:lnSpc>
                <a:spcPct val="150000"/>
              </a:lnSpc>
            </a:pP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비교 연산자와 관계 연산자 사용</a:t>
            </a:r>
          </a:p>
          <a:p>
            <a:pPr>
              <a:lnSpc>
                <a:spcPct val="150000"/>
              </a:lnSpc>
            </a:pPr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>
              <a:lnSpc>
                <a:spcPct val="150000"/>
              </a:lnSpc>
            </a:pPr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>
              <a:lnSpc>
                <a:spcPct val="150000"/>
              </a:lnSpc>
            </a:pPr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pic>
        <p:nvPicPr>
          <p:cNvPr id="6" name="Picture 3" descr="H:\한빛\강의교안제작\[보안주의]출판원고PDF\자바기초_그림&amp;표\ch03_img\표3-10.jpg"/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0158"/>
          <a:stretch/>
        </p:blipFill>
        <p:spPr bwMode="auto">
          <a:xfrm>
            <a:off x="2987824" y="2967586"/>
            <a:ext cx="5904690" cy="1895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2" descr="H:\한빛\강의교안제작\[보안주의]출판원고PDF\자바기초_그림&amp;표\ch03_img\ch03-08_cut.jpg"/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AFEFD"/>
              </a:clrFrom>
              <a:clrTo>
                <a:srgbClr val="FAFEFD">
                  <a:alpha val="0"/>
                </a:srgbClr>
              </a:clrTo>
            </a:clrChange>
          </a:blip>
          <a:srcRect b="9860"/>
          <a:stretch/>
        </p:blipFill>
        <p:spPr bwMode="auto">
          <a:xfrm>
            <a:off x="5868144" y="123478"/>
            <a:ext cx="2353947" cy="2648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8" name="꺾인 연결선 7"/>
          <p:cNvCxnSpPr>
            <a:cxnSpLocks/>
            <a:endCxn id="7" idx="1"/>
          </p:cNvCxnSpPr>
          <p:nvPr/>
        </p:nvCxnSpPr>
        <p:spPr>
          <a:xfrm rot="5400000" flipH="1" flipV="1">
            <a:off x="4712094" y="1811536"/>
            <a:ext cx="1520013" cy="792088"/>
          </a:xfrm>
          <a:prstGeom prst="bentConnector2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48896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4686" y="444110"/>
            <a:ext cx="1904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If 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단일 선택 구문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7584" y="986687"/>
            <a:ext cx="7111825" cy="1431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조건를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위한 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if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문</a:t>
            </a:r>
          </a:p>
          <a:p>
            <a:pPr lvl="1">
              <a:lnSpc>
                <a:spcPct val="150000"/>
              </a:lnSpc>
            </a:pP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if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문에서 가장 많이 활용하는 명령어</a:t>
            </a:r>
          </a:p>
          <a:p>
            <a:pPr lvl="1">
              <a:lnSpc>
                <a:spcPct val="150000"/>
              </a:lnSpc>
            </a:pP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조건이 참이면 명령문을 수행하고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b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</a:b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거짓이면 명령문을 수행하지 않는다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.</a:t>
            </a:r>
          </a:p>
        </p:txBody>
      </p:sp>
      <p:grpSp>
        <p:nvGrpSpPr>
          <p:cNvPr id="7" name="그룹 5"/>
          <p:cNvGrpSpPr>
            <a:grpSpLocks/>
          </p:cNvGrpSpPr>
          <p:nvPr/>
        </p:nvGrpSpPr>
        <p:grpSpPr bwMode="auto">
          <a:xfrm>
            <a:off x="1189604" y="2462806"/>
            <a:ext cx="2596170" cy="1125705"/>
            <a:chOff x="1514475" y="3928990"/>
            <a:chExt cx="1885950" cy="1750238"/>
          </a:xfrm>
        </p:grpSpPr>
        <p:sp>
          <p:nvSpPr>
            <p:cNvPr id="8" name="모서리가 둥근 직사각형 7"/>
            <p:cNvSpPr/>
            <p:nvPr/>
          </p:nvSpPr>
          <p:spPr bwMode="auto">
            <a:xfrm>
              <a:off x="1600540" y="4419798"/>
              <a:ext cx="1564142" cy="1259430"/>
            </a:xfrm>
            <a:prstGeom prst="roundRect">
              <a:avLst>
                <a:gd name="adj" fmla="val 5891"/>
              </a:avLst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>
                <a:lnSpc>
                  <a:spcPct val="120000"/>
                </a:lnSpc>
                <a:defRPr/>
              </a:pPr>
              <a:r>
                <a:rPr lang="en-US" altLang="ko-KR" sz="1400" b="0" dirty="0">
                  <a:solidFill>
                    <a:schemeClr val="tx1"/>
                  </a:solidFill>
                  <a:latin typeface="휴먼엑스포" pitchFamily="18" charset="-127"/>
                  <a:ea typeface="휴먼엑스포" pitchFamily="18" charset="-127"/>
                </a:rPr>
                <a:t>If</a:t>
              </a:r>
              <a:r>
                <a:rPr lang="ko-KR" altLang="en-US" sz="1400" b="0" dirty="0">
                  <a:solidFill>
                    <a:schemeClr val="tx1"/>
                  </a:solidFill>
                  <a:latin typeface="휴먼엑스포" pitchFamily="18" charset="-127"/>
                  <a:ea typeface="휴먼엑스포" pitchFamily="18" charset="-127"/>
                </a:rPr>
                <a:t> 조건</a:t>
              </a:r>
              <a:r>
                <a:rPr lang="en-US" altLang="ko-KR" sz="1400" dirty="0">
                  <a:solidFill>
                    <a:schemeClr val="tx1"/>
                  </a:solidFill>
                  <a:latin typeface="휴먼엑스포" pitchFamily="18" charset="-127"/>
                  <a:ea typeface="휴먼엑스포" pitchFamily="18" charset="-127"/>
                </a:rPr>
                <a:t>:</a:t>
              </a:r>
              <a:endParaRPr lang="en-US" altLang="ko-KR" sz="1400" b="0" dirty="0">
                <a:solidFill>
                  <a:schemeClr val="tx1"/>
                </a:solidFill>
                <a:latin typeface="휴먼엑스포" pitchFamily="18" charset="-127"/>
                <a:ea typeface="휴먼엑스포" pitchFamily="18" charset="-127"/>
              </a:endParaRPr>
            </a:p>
            <a:p>
              <a:pPr algn="l">
                <a:defRPr/>
              </a:pPr>
              <a:r>
                <a:rPr lang="ko-KR" altLang="en-US" sz="1400" b="0" dirty="0">
                  <a:solidFill>
                    <a:schemeClr val="tx1"/>
                  </a:solidFill>
                  <a:latin typeface="휴먼엑스포" pitchFamily="18" charset="-127"/>
                  <a:ea typeface="휴먼엑스포" pitchFamily="18" charset="-127"/>
                </a:rPr>
                <a:t>  명령문</a:t>
              </a:r>
              <a:endParaRPr lang="en-US" altLang="ko-KR" sz="1400" b="0" dirty="0">
                <a:solidFill>
                  <a:schemeClr val="tx1"/>
                </a:solidFill>
                <a:latin typeface="휴먼엑스포" pitchFamily="18" charset="-127"/>
                <a:ea typeface="휴먼엑스포" pitchFamily="18" charset="-127"/>
              </a:endParaRPr>
            </a:p>
            <a:p>
              <a:pPr algn="l">
                <a:defRPr/>
              </a:pPr>
              <a:endParaRPr lang="en-US" altLang="ko-KR" sz="1400" b="0" dirty="0">
                <a:solidFill>
                  <a:schemeClr val="tx1"/>
                </a:solidFill>
                <a:latin typeface="휴먼엑스포" pitchFamily="18" charset="-127"/>
                <a:ea typeface="휴먼엑스포" pitchFamily="18" charset="-127"/>
              </a:endParaRPr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1514475" y="3928990"/>
              <a:ext cx="1885950" cy="43067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lang="en-US" altLang="ko-KR" sz="1200" b="0" kern="0" dirty="0">
                  <a:solidFill>
                    <a:srgbClr val="000000"/>
                  </a:solidFill>
                  <a:latin typeface="휴먼엑스포" pitchFamily="18" charset="-127"/>
                  <a:ea typeface="휴먼엑스포" pitchFamily="18" charset="-127"/>
                </a:rPr>
                <a:t>[if </a:t>
              </a:r>
              <a:r>
                <a:rPr lang="ko-KR" altLang="en-US" sz="1200" b="0" kern="0" dirty="0">
                  <a:solidFill>
                    <a:srgbClr val="000000"/>
                  </a:solidFill>
                  <a:latin typeface="휴먼엑스포" pitchFamily="18" charset="-127"/>
                  <a:ea typeface="휴먼엑스포" pitchFamily="18" charset="-127"/>
                </a:rPr>
                <a:t>문의 구조</a:t>
              </a:r>
              <a:r>
                <a:rPr lang="en-US" altLang="ko-KR" sz="1200" b="0" kern="0" dirty="0">
                  <a:solidFill>
                    <a:srgbClr val="000000"/>
                  </a:solidFill>
                  <a:latin typeface="휴먼엑스포" pitchFamily="18" charset="-127"/>
                  <a:ea typeface="휴먼엑스포" pitchFamily="18" charset="-127"/>
                </a:rPr>
                <a:t>]</a:t>
              </a:r>
              <a:endParaRPr lang="ko-KR" altLang="en-US" sz="1200" dirty="0">
                <a:latin typeface="휴먼엑스포" pitchFamily="18" charset="-127"/>
                <a:ea typeface="휴먼엑스포" pitchFamily="18" charset="-127"/>
              </a:endParaRPr>
            </a:p>
          </p:txBody>
        </p:sp>
      </p:grpSp>
      <p:pic>
        <p:nvPicPr>
          <p:cNvPr id="10" name="Picture 5" descr="H:\한빛\강의교안제작\[보안주의]출판원고PDF\자바기초_그림&amp;표\ch03_img\ch03-09_cut.jpg"/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6069"/>
          <a:stretch/>
        </p:blipFill>
        <p:spPr bwMode="auto">
          <a:xfrm>
            <a:off x="5564441" y="536089"/>
            <a:ext cx="2340372" cy="38534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970927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4686" y="444110"/>
            <a:ext cx="1904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If 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단일 선택 구문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F199029-11E9-0EFD-F3C3-92E54BC09D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060" y="1750466"/>
            <a:ext cx="4530764" cy="189163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3A9537B-BDD9-6956-C3EE-BE24948F6B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2080" y="3244589"/>
            <a:ext cx="3207973" cy="96239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0D8F4EDA-3A05-1B18-8668-72B2378C039A}"/>
              </a:ext>
            </a:extLst>
          </p:cNvPr>
          <p:cNvSpPr/>
          <p:nvPr/>
        </p:nvSpPr>
        <p:spPr>
          <a:xfrm>
            <a:off x="873500" y="956424"/>
            <a:ext cx="6866852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altLang="ko-KR" sz="160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</a:t>
            </a:r>
            <a:r>
              <a:rPr lang="ko-KR" altLang="en-US" sz="160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조건을 기반으로 코드의 실행 흐름을 변경하는 구문</a:t>
            </a:r>
            <a:endParaRPr lang="en-US" altLang="ko-KR" sz="1600" dirty="0">
              <a:latin typeface="12롯데마트드림Medium" panose="02020603020101020101" pitchFamily="18" charset="-127"/>
              <a:ea typeface="12롯데마트드림Medium" panose="02020603020101020101" pitchFamily="18" charset="-127"/>
            </a:endParaRPr>
          </a:p>
          <a:p>
            <a:pPr>
              <a:buFont typeface="Arial" pitchFamily="34" charset="0"/>
              <a:buChar char="•"/>
            </a:pPr>
            <a:r>
              <a:rPr lang="en-US" altLang="ko-KR" sz="160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</a:t>
            </a:r>
            <a:r>
              <a:rPr lang="ko-KR" altLang="en-US" sz="1600" dirty="0" err="1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파이썬은</a:t>
            </a:r>
            <a:r>
              <a:rPr lang="ko-KR" altLang="en-US" sz="160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코드 블록을 구성하기 위하여 </a:t>
            </a:r>
            <a:r>
              <a:rPr lang="en-US" altLang="ko-KR" sz="160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{ } </a:t>
            </a:r>
            <a:r>
              <a:rPr lang="ko-KR" altLang="en-US" sz="160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대신 </a:t>
            </a:r>
            <a:r>
              <a:rPr lang="ko-KR" altLang="en-US" b="1" dirty="0">
                <a:solidFill>
                  <a:srgbClr val="0070C0"/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들여쓰기 </a:t>
            </a:r>
            <a:r>
              <a:rPr lang="en-US" altLang="ko-KR" b="1" dirty="0">
                <a:solidFill>
                  <a:srgbClr val="0070C0"/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(indent)</a:t>
            </a:r>
            <a:r>
              <a:rPr lang="en-US" altLang="ko-KR" sz="1400" dirty="0">
                <a:solidFill>
                  <a:srgbClr val="0070C0"/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</a:t>
            </a:r>
            <a:r>
              <a:rPr lang="ko-KR" altLang="en-US" sz="160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사용</a:t>
            </a:r>
          </a:p>
        </p:txBody>
      </p:sp>
    </p:spTree>
    <p:extLst>
      <p:ext uri="{BB962C8B-B14F-4D97-AF65-F5344CB8AC3E}">
        <p14:creationId xmlns:p14="http://schemas.microsoft.com/office/powerpoint/2010/main" val="1273567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4686" y="444110"/>
            <a:ext cx="1904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If 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단일 선택 구문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5576" y="987574"/>
            <a:ext cx="81369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정수를 입력 받아 첫 줄에 입력 받은 숫자를 출력하고 음수이면 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“minus”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라고 출력하는 프로그램을 작성하시오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.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endParaRPr lang="en-US" altLang="ko-KR" sz="1600" dirty="0"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48BF2CC-A295-A22C-F948-514C1695FB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875" y="1746481"/>
            <a:ext cx="2413000" cy="4318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2B197DE-A9F0-3BB0-F733-4A244E24FA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2875" y="2352413"/>
            <a:ext cx="2527300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554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4686" y="444110"/>
            <a:ext cx="1904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If 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단일 선택 구문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5576" y="987574"/>
            <a:ext cx="81369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정수를 입력 받아 첫 줄에 입력 받은 숫자를 출력하고 음수이면 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“minus”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라고 출력하는 프로그램을 작성하시오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.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endParaRPr lang="en-US" altLang="ko-KR" sz="1600" dirty="0"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D3E1EC7-811A-A7FF-5106-9031D3D30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998" y="1746481"/>
            <a:ext cx="3347132" cy="2489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0811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4686" y="444110"/>
            <a:ext cx="1904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If 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단일 선택 구문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7C866B-22FB-944E-91C5-BDB42DCD6844}"/>
              </a:ext>
            </a:extLst>
          </p:cNvPr>
          <p:cNvSpPr txBox="1"/>
          <p:nvPr/>
        </p:nvSpPr>
        <p:spPr>
          <a:xfrm>
            <a:off x="755576" y="813442"/>
            <a:ext cx="8064896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2. 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키와 몸무게를 </a:t>
            </a:r>
            <a:r>
              <a:rPr lang="ko-KR" altLang="en-US" sz="1600" dirty="0" err="1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입력받아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첫 번째 줄에 </a:t>
            </a:r>
            <a:r>
              <a:rPr lang="ko-KR" altLang="en-US" sz="1600" dirty="0" err="1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비만수치를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출력하고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,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r>
              <a:rPr lang="ko-KR" altLang="en-US" sz="1600" dirty="0" err="1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비만수치가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0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보다 크면 다음 줄에 비만이라면 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“Obesity”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라는 메시지를 출력하는 프로그램을 작성하시오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     </a:t>
            </a:r>
            <a:r>
              <a:rPr lang="en-US" altLang="ko-KR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-</a:t>
            </a:r>
            <a:r>
              <a:rPr lang="ko-KR" altLang="en-US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r>
              <a:rPr lang="ko-KR" altLang="en-US" dirty="0" err="1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비만수치</a:t>
            </a:r>
            <a:r>
              <a:rPr lang="ko-KR" altLang="en-US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공식 </a:t>
            </a:r>
            <a:r>
              <a:rPr lang="en-US" altLang="ko-KR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:</a:t>
            </a:r>
            <a:r>
              <a:rPr lang="ko-KR" altLang="en-US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몸무게 </a:t>
            </a:r>
            <a:r>
              <a:rPr lang="en-US" altLang="ko-KR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+100</a:t>
            </a:r>
            <a:r>
              <a:rPr lang="ko-KR" altLang="en-US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r>
              <a:rPr lang="en-US" altLang="ko-KR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-</a:t>
            </a:r>
            <a:r>
              <a:rPr lang="ko-KR" altLang="en-US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키</a:t>
            </a:r>
            <a:endParaRPr lang="en-US" altLang="ko-KR" dirty="0">
              <a:solidFill>
                <a:srgbClr val="FF0000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1600" dirty="0"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5876FA1-1A42-9BA5-3C69-A2FB13DE11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030" y="2266950"/>
            <a:ext cx="2527300" cy="6096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BFA39AD-7E55-6FA6-EC7B-9AA81879E9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7685" y="2941513"/>
            <a:ext cx="2527300" cy="6096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44FA021-D244-FF4F-1FB3-CE4F7499B9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7685" y="3616077"/>
            <a:ext cx="25273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885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4686" y="444110"/>
            <a:ext cx="1904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If 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단일 선택 구문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7C866B-22FB-944E-91C5-BDB42DCD6844}"/>
              </a:ext>
            </a:extLst>
          </p:cNvPr>
          <p:cNvSpPr txBox="1"/>
          <p:nvPr/>
        </p:nvSpPr>
        <p:spPr>
          <a:xfrm>
            <a:off x="755576" y="813442"/>
            <a:ext cx="8064896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2. 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키와 몸무게를 </a:t>
            </a:r>
            <a:r>
              <a:rPr lang="ko-KR" altLang="en-US" sz="1600" dirty="0" err="1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입력받아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첫 번째 줄에 </a:t>
            </a:r>
            <a:r>
              <a:rPr lang="ko-KR" altLang="en-US" sz="1600" dirty="0" err="1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비만수치를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출력하고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,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r>
              <a:rPr lang="ko-KR" altLang="en-US" sz="1600" dirty="0" err="1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비만수치가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0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보다 크면 다음 줄에 비만이라면 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“Obesity”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라는 메시지를 출력하는 프로그램을 작성하시오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     </a:t>
            </a:r>
            <a:r>
              <a:rPr lang="en-US" altLang="ko-KR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-</a:t>
            </a:r>
            <a:r>
              <a:rPr lang="ko-KR" altLang="en-US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r>
              <a:rPr lang="ko-KR" altLang="en-US" dirty="0" err="1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비만수치</a:t>
            </a:r>
            <a:r>
              <a:rPr lang="ko-KR" altLang="en-US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공식 </a:t>
            </a:r>
            <a:r>
              <a:rPr lang="en-US" altLang="ko-KR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:</a:t>
            </a:r>
            <a:r>
              <a:rPr lang="ko-KR" altLang="en-US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몸무게 </a:t>
            </a:r>
            <a:r>
              <a:rPr lang="en-US" altLang="ko-KR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+100</a:t>
            </a:r>
            <a:r>
              <a:rPr lang="ko-KR" altLang="en-US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r>
              <a:rPr lang="en-US" altLang="ko-KR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–</a:t>
            </a:r>
            <a:r>
              <a:rPr lang="ko-KR" altLang="en-US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키</a:t>
            </a:r>
            <a:endParaRPr lang="en-US" altLang="ko-KR" dirty="0">
              <a:solidFill>
                <a:srgbClr val="FF0000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1600" dirty="0"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DECB3A4-E7EA-D795-3858-8733B4AC62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951" y="2139702"/>
            <a:ext cx="4102100" cy="252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557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4686" y="444110"/>
            <a:ext cx="2702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if… else 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이중 선택 구문 </a:t>
            </a:r>
          </a:p>
        </p:txBody>
      </p:sp>
      <p:sp>
        <p:nvSpPr>
          <p:cNvPr id="11" name="내용 개체 틀 2"/>
          <p:cNvSpPr txBox="1">
            <a:spLocks/>
          </p:cNvSpPr>
          <p:nvPr/>
        </p:nvSpPr>
        <p:spPr>
          <a:xfrm>
            <a:off x="803805" y="963101"/>
            <a:ext cx="6091970" cy="33067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if ~else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문</a:t>
            </a:r>
          </a:p>
          <a:p>
            <a:pPr algn="l"/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조건을 만족하지 않았을 때 특정 명령어를 수행할 수 있는 방법</a:t>
            </a:r>
          </a:p>
        </p:txBody>
      </p:sp>
      <p:grpSp>
        <p:nvGrpSpPr>
          <p:cNvPr id="12" name="그룹 5"/>
          <p:cNvGrpSpPr>
            <a:grpSpLocks/>
          </p:cNvGrpSpPr>
          <p:nvPr/>
        </p:nvGrpSpPr>
        <p:grpSpPr bwMode="auto">
          <a:xfrm>
            <a:off x="1091879" y="1995687"/>
            <a:ext cx="2904058" cy="1728192"/>
            <a:chOff x="1514476" y="3880980"/>
            <a:chExt cx="6115111" cy="2688163"/>
          </a:xfrm>
        </p:grpSpPr>
        <p:sp>
          <p:nvSpPr>
            <p:cNvPr id="13" name="모서리가 둥근 직사각형 12"/>
            <p:cNvSpPr/>
            <p:nvPr/>
          </p:nvSpPr>
          <p:spPr bwMode="auto">
            <a:xfrm>
              <a:off x="1601084" y="4419797"/>
              <a:ext cx="5118732" cy="2149346"/>
            </a:xfrm>
            <a:prstGeom prst="roundRect">
              <a:avLst>
                <a:gd name="adj" fmla="val 5891"/>
              </a:avLst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>
                <a:lnSpc>
                  <a:spcPct val="120000"/>
                </a:lnSpc>
                <a:defRPr/>
              </a:pPr>
              <a:r>
                <a:rPr lang="en-US" altLang="ko-KR" sz="1600" dirty="0">
                  <a:solidFill>
                    <a:schemeClr val="tx1"/>
                  </a:solidFill>
                  <a:latin typeface="휴먼엑스포" pitchFamily="18" charset="-127"/>
                  <a:ea typeface="휴먼엑스포" pitchFamily="18" charset="-127"/>
                </a:rPr>
                <a:t>i</a:t>
              </a:r>
              <a:r>
                <a:rPr lang="en-US" altLang="ko-KR" sz="1600" b="0" dirty="0">
                  <a:solidFill>
                    <a:schemeClr val="tx1"/>
                  </a:solidFill>
                  <a:latin typeface="휴먼엑스포" pitchFamily="18" charset="-127"/>
                  <a:ea typeface="휴먼엑스포" pitchFamily="18" charset="-127"/>
                </a:rPr>
                <a:t>f </a:t>
              </a:r>
              <a:r>
                <a:rPr lang="ko-KR" altLang="en-US" sz="1600" b="0" dirty="0">
                  <a:solidFill>
                    <a:schemeClr val="tx1"/>
                  </a:solidFill>
                  <a:latin typeface="휴먼엑스포" pitchFamily="18" charset="-127"/>
                  <a:ea typeface="휴먼엑스포" pitchFamily="18" charset="-127"/>
                </a:rPr>
                <a:t>조건</a:t>
              </a:r>
              <a:r>
                <a:rPr lang="en-US" altLang="ko-KR" sz="1600" dirty="0">
                  <a:solidFill>
                    <a:schemeClr val="tx1"/>
                  </a:solidFill>
                  <a:latin typeface="휴먼엑스포" pitchFamily="18" charset="-127"/>
                  <a:ea typeface="휴먼엑스포" pitchFamily="18" charset="-127"/>
                </a:rPr>
                <a:t> :</a:t>
              </a:r>
              <a:endParaRPr lang="en-US" altLang="ko-KR" sz="1600" b="0" dirty="0">
                <a:solidFill>
                  <a:schemeClr val="tx1"/>
                </a:solidFill>
                <a:latin typeface="휴먼엑스포" pitchFamily="18" charset="-127"/>
                <a:ea typeface="휴먼엑스포" pitchFamily="18" charset="-127"/>
              </a:endParaRPr>
            </a:p>
            <a:p>
              <a:pPr algn="l">
                <a:lnSpc>
                  <a:spcPct val="120000"/>
                </a:lnSpc>
                <a:defRPr/>
              </a:pPr>
              <a:r>
                <a:rPr lang="ko-KR" altLang="en-US" sz="1600" b="0" dirty="0">
                  <a:solidFill>
                    <a:schemeClr val="tx1"/>
                  </a:solidFill>
                  <a:latin typeface="휴먼엑스포" pitchFamily="18" charset="-127"/>
                  <a:ea typeface="휴먼엑스포" pitchFamily="18" charset="-127"/>
                </a:rPr>
                <a:t> 명령문</a:t>
              </a:r>
              <a:r>
                <a:rPr lang="en-US" altLang="ko-KR" sz="1600" b="0" dirty="0">
                  <a:solidFill>
                    <a:schemeClr val="tx1"/>
                  </a:solidFill>
                  <a:latin typeface="휴먼엑스포" pitchFamily="18" charset="-127"/>
                  <a:ea typeface="휴먼엑스포" pitchFamily="18" charset="-127"/>
                </a:rPr>
                <a:t>1</a:t>
              </a:r>
            </a:p>
            <a:p>
              <a:pPr algn="l">
                <a:lnSpc>
                  <a:spcPct val="120000"/>
                </a:lnSpc>
                <a:defRPr/>
              </a:pPr>
              <a:r>
                <a:rPr lang="en-US" altLang="ko-KR" sz="1600" dirty="0">
                  <a:solidFill>
                    <a:schemeClr val="tx1"/>
                  </a:solidFill>
                  <a:latin typeface="휴먼엑스포" pitchFamily="18" charset="-127"/>
                  <a:ea typeface="휴먼엑스포" pitchFamily="18" charset="-127"/>
                </a:rPr>
                <a:t>e</a:t>
              </a:r>
              <a:r>
                <a:rPr lang="en-US" altLang="ko-KR" sz="1600" b="0" dirty="0">
                  <a:solidFill>
                    <a:schemeClr val="tx1"/>
                  </a:solidFill>
                  <a:latin typeface="휴먼엑스포" pitchFamily="18" charset="-127"/>
                  <a:ea typeface="휴먼엑스포" pitchFamily="18" charset="-127"/>
                </a:rPr>
                <a:t>lse :</a:t>
              </a:r>
            </a:p>
            <a:p>
              <a:pPr algn="l">
                <a:lnSpc>
                  <a:spcPct val="120000"/>
                </a:lnSpc>
                <a:defRPr/>
              </a:pPr>
              <a:r>
                <a:rPr lang="ko-KR" altLang="en-US" sz="1600" b="0" dirty="0">
                  <a:solidFill>
                    <a:schemeClr val="tx1"/>
                  </a:solidFill>
                  <a:latin typeface="휴먼엑스포" pitchFamily="18" charset="-127"/>
                  <a:ea typeface="휴먼엑스포" pitchFamily="18" charset="-127"/>
                </a:rPr>
                <a:t> 명령문</a:t>
              </a:r>
              <a:r>
                <a:rPr lang="en-US" altLang="ko-KR" sz="1600" b="0" dirty="0">
                  <a:solidFill>
                    <a:schemeClr val="tx1"/>
                  </a:solidFill>
                  <a:latin typeface="휴먼엑스포" pitchFamily="18" charset="-127"/>
                  <a:ea typeface="휴먼엑스포" pitchFamily="18" charset="-127"/>
                </a:rPr>
                <a:t>2</a:t>
              </a:r>
              <a:endParaRPr lang="ko-KR" altLang="en-US" sz="1600" b="0" dirty="0">
                <a:solidFill>
                  <a:schemeClr val="tx1"/>
                </a:solidFill>
                <a:latin typeface="휴먼엑스포" pitchFamily="18" charset="-127"/>
                <a:ea typeface="휴먼엑스포" pitchFamily="18" charset="-127"/>
              </a:endParaRPr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1514476" y="3880980"/>
              <a:ext cx="6115111" cy="47874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>
                <a:defRPr/>
              </a:pPr>
              <a:r>
                <a:rPr lang="en-US" altLang="ko-KR" sz="1400" b="0" kern="0" dirty="0">
                  <a:solidFill>
                    <a:srgbClr val="000000"/>
                  </a:solidFill>
                  <a:latin typeface="휴먼엑스포" pitchFamily="18" charset="-127"/>
                  <a:ea typeface="휴먼엑스포" pitchFamily="18" charset="-127"/>
                </a:rPr>
                <a:t>[else</a:t>
              </a:r>
              <a:r>
                <a:rPr lang="ko-KR" altLang="en-US" sz="1400" b="0" kern="0" dirty="0">
                  <a:solidFill>
                    <a:srgbClr val="000000"/>
                  </a:solidFill>
                  <a:latin typeface="휴먼엑스포" pitchFamily="18" charset="-127"/>
                  <a:ea typeface="휴먼엑스포" pitchFamily="18" charset="-127"/>
                </a:rPr>
                <a:t>를 사용한 </a:t>
              </a:r>
              <a:r>
                <a:rPr lang="en-US" altLang="ko-KR" sz="1400" b="0" kern="0" dirty="0">
                  <a:solidFill>
                    <a:srgbClr val="000000"/>
                  </a:solidFill>
                  <a:latin typeface="휴먼엑스포" pitchFamily="18" charset="-127"/>
                  <a:ea typeface="휴먼엑스포" pitchFamily="18" charset="-127"/>
                </a:rPr>
                <a:t>if </a:t>
              </a:r>
              <a:r>
                <a:rPr lang="ko-KR" altLang="en-US" sz="1400" b="0" kern="0" dirty="0">
                  <a:solidFill>
                    <a:srgbClr val="000000"/>
                  </a:solidFill>
                  <a:latin typeface="휴먼엑스포" pitchFamily="18" charset="-127"/>
                  <a:ea typeface="휴먼엑스포" pitchFamily="18" charset="-127"/>
                </a:rPr>
                <a:t>문의 구조</a:t>
              </a:r>
              <a:r>
                <a:rPr lang="en-US" altLang="ko-KR" sz="1400" b="0" kern="0" dirty="0">
                  <a:solidFill>
                    <a:srgbClr val="000000"/>
                  </a:solidFill>
                  <a:latin typeface="휴먼엑스포" pitchFamily="18" charset="-127"/>
                  <a:ea typeface="휴먼엑스포" pitchFamily="18" charset="-127"/>
                </a:rPr>
                <a:t>]</a:t>
              </a:r>
              <a:endParaRPr lang="ko-KR" altLang="en-US" sz="1400" dirty="0">
                <a:latin typeface="휴먼엑스포" pitchFamily="18" charset="-127"/>
                <a:ea typeface="휴먼엑스포" pitchFamily="18" charset="-127"/>
              </a:endParaRPr>
            </a:p>
          </p:txBody>
        </p:sp>
      </p:grpSp>
      <p:pic>
        <p:nvPicPr>
          <p:cNvPr id="15" name="Picture 5" descr="H:\한빛\강의교안제작\[보안주의]출판원고PDF\자바기초_그림&amp;표\ch03_img\ch03-10_cut.jpg"/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6316"/>
          <a:stretch/>
        </p:blipFill>
        <p:spPr bwMode="auto">
          <a:xfrm>
            <a:off x="5148064" y="1604943"/>
            <a:ext cx="3055693" cy="3271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791044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4686" y="444110"/>
            <a:ext cx="2702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if… else 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이중 선택 구문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D69F5AB-4A89-F93C-9E3D-0F011B4D55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612" y="1323552"/>
            <a:ext cx="4102100" cy="1765300"/>
          </a:xfrm>
          <a:prstGeom prst="rect">
            <a:avLst/>
          </a:prstGeom>
        </p:spPr>
      </p:pic>
      <p:sp>
        <p:nvSpPr>
          <p:cNvPr id="5" name="Rectangle 18">
            <a:extLst>
              <a:ext uri="{FF2B5EF4-FFF2-40B4-BE49-F238E27FC236}">
                <a16:creationId xmlns:a16="http://schemas.microsoft.com/office/drawing/2014/main" id="{D752FB23-10CA-4D54-EEE4-A4B8CEA5D2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7448" y="1768382"/>
            <a:ext cx="3108325" cy="3079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ko-KR" sz="1400" b="0" dirty="0">
                <a:solidFill>
                  <a:schemeClr val="tx1"/>
                </a:solidFill>
                <a:latin typeface="휴먼모음T" pitchFamily="18" charset="-127"/>
                <a:ea typeface="휴먼모음T" pitchFamily="18" charset="-127"/>
              </a:rPr>
              <a:t>num1</a:t>
            </a:r>
            <a:r>
              <a:rPr lang="ko-KR" altLang="en-US" sz="1400" b="0" dirty="0">
                <a:solidFill>
                  <a:schemeClr val="tx1"/>
                </a:solidFill>
                <a:latin typeface="휴먼모음T" pitchFamily="18" charset="-127"/>
                <a:ea typeface="휴먼모음T" pitchFamily="18" charset="-127"/>
              </a:rPr>
              <a:t>과 </a:t>
            </a:r>
            <a:r>
              <a:rPr lang="en-US" altLang="ko-KR" sz="1400" b="0" dirty="0">
                <a:solidFill>
                  <a:schemeClr val="tx1"/>
                </a:solidFill>
                <a:latin typeface="휴먼모음T" pitchFamily="18" charset="-127"/>
                <a:ea typeface="휴먼모음T" pitchFamily="18" charset="-127"/>
              </a:rPr>
              <a:t>num2 </a:t>
            </a:r>
            <a:r>
              <a:rPr lang="ko-KR" altLang="en-US" sz="1400" b="0" dirty="0">
                <a:solidFill>
                  <a:schemeClr val="tx1"/>
                </a:solidFill>
                <a:latin typeface="휴먼모음T" pitchFamily="18" charset="-127"/>
                <a:ea typeface="휴먼모음T" pitchFamily="18" charset="-127"/>
              </a:rPr>
              <a:t>중 큰 값을 출력합니다</a:t>
            </a:r>
            <a:r>
              <a:rPr lang="en-US" altLang="ko-KR" sz="1400" b="0" dirty="0">
                <a:solidFill>
                  <a:schemeClr val="tx1"/>
                </a:solidFill>
                <a:latin typeface="휴먼모음T" pitchFamily="18" charset="-127"/>
                <a:ea typeface="휴먼모음T" pitchFamily="18" charset="-127"/>
              </a:rPr>
              <a:t>.</a:t>
            </a:r>
          </a:p>
        </p:txBody>
      </p:sp>
      <p:sp>
        <p:nvSpPr>
          <p:cNvPr id="6" name="AutoShape 19">
            <a:extLst>
              <a:ext uri="{FF2B5EF4-FFF2-40B4-BE49-F238E27FC236}">
                <a16:creationId xmlns:a16="http://schemas.microsoft.com/office/drawing/2014/main" id="{B843E01C-72D9-8C8C-B187-33CCC1C2F26C}"/>
              </a:ext>
            </a:extLst>
          </p:cNvPr>
          <p:cNvSpPr>
            <a:spLocks/>
          </p:cNvSpPr>
          <p:nvPr/>
        </p:nvSpPr>
        <p:spPr bwMode="auto">
          <a:xfrm>
            <a:off x="3863901" y="2158219"/>
            <a:ext cx="216024" cy="434663"/>
          </a:xfrm>
          <a:prstGeom prst="rightBracket">
            <a:avLst>
              <a:gd name="adj" fmla="val 107978"/>
            </a:avLst>
          </a:prstGeom>
          <a:noFill/>
          <a:ln>
            <a:headEnd/>
            <a:tailEnd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pPr>
              <a:defRPr/>
            </a:pPr>
            <a:endParaRPr lang="ko-KR" altLang="en-US" sz="1400" b="0">
              <a:solidFill>
                <a:schemeClr val="tx1"/>
              </a:solidFill>
              <a:latin typeface="휴먼모음T" pitchFamily="18" charset="-127"/>
              <a:ea typeface="휴먼모음T" pitchFamily="18" charset="-127"/>
            </a:endParaRPr>
          </a:p>
        </p:txBody>
      </p:sp>
      <p:cxnSp>
        <p:nvCxnSpPr>
          <p:cNvPr id="7" name="AutoShape 20">
            <a:extLst>
              <a:ext uri="{FF2B5EF4-FFF2-40B4-BE49-F238E27FC236}">
                <a16:creationId xmlns:a16="http://schemas.microsoft.com/office/drawing/2014/main" id="{CC206D69-3E04-8FA6-6663-38F463A75EDF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069088" y="2074093"/>
            <a:ext cx="442885" cy="301458"/>
          </a:xfrm>
          <a:prstGeom prst="straightConnector1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71F8BBEC-DB77-D79D-A5D3-82AAEA48B1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9367" y="3273658"/>
            <a:ext cx="2617291" cy="797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2645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4686" y="444110"/>
            <a:ext cx="2744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if… else 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이중 선택 구문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7C866B-22FB-944E-91C5-BDB42DCD6844}"/>
              </a:ext>
            </a:extLst>
          </p:cNvPr>
          <p:cNvSpPr txBox="1"/>
          <p:nvPr/>
        </p:nvSpPr>
        <p:spPr>
          <a:xfrm>
            <a:off x="611561" y="915566"/>
            <a:ext cx="8064896" cy="1142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나이를 </a:t>
            </a:r>
            <a:r>
              <a:rPr lang="ko-KR" altLang="en-US" sz="1600" dirty="0" err="1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입력받아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20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살 이상이면 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“adult” </a:t>
            </a:r>
            <a:r>
              <a:rPr lang="ko-KR" altLang="en-US" sz="1600" dirty="0" err="1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라고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출력하고 그렇지 않으면 몇 </a:t>
            </a:r>
            <a:r>
              <a:rPr lang="ko-KR" altLang="en-US" sz="1600" dirty="0" err="1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년후에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성인이 되는지를 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＂xx years later”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라는 메시지를 출력하는 프로그램을 작성하시오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ko-KR" altLang="en-US" sz="1600" dirty="0"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A0EBFC1-F4BA-438B-B433-2AA928EA91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3219"/>
          <a:stretch/>
        </p:blipFill>
        <p:spPr>
          <a:xfrm>
            <a:off x="1001616" y="2781308"/>
            <a:ext cx="2028825" cy="28825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9110221-D4BD-4DFD-8541-57E20B87128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2946"/>
          <a:stretch/>
        </p:blipFill>
        <p:spPr>
          <a:xfrm>
            <a:off x="4075311" y="2740950"/>
            <a:ext cx="2076450" cy="293762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E629C32-E972-6FFC-AB60-9B08D7BA2E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729" y="2055745"/>
            <a:ext cx="1917700" cy="5842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8662B6E4-DA60-900C-2714-0911A5A2FA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5311" y="1966225"/>
            <a:ext cx="1917700" cy="58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7463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4686" y="444110"/>
            <a:ext cx="2744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if… else 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이중 선택 구문 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rcRect b="87262"/>
          <a:stretch/>
        </p:blipFill>
        <p:spPr>
          <a:xfrm>
            <a:off x="611560" y="1203598"/>
            <a:ext cx="7393519" cy="62063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A132A95-EC3A-1F47-911A-77057E04F95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989" t="19045" r="73373" b="70153"/>
          <a:stretch/>
        </p:blipFill>
        <p:spPr>
          <a:xfrm>
            <a:off x="1348570" y="2970782"/>
            <a:ext cx="1928572" cy="7366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A16E75A-21A6-C441-97C3-8A739F9C7A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793" t="20519" r="33442" b="66743"/>
          <a:stretch/>
        </p:blipFill>
        <p:spPr>
          <a:xfrm>
            <a:off x="4736384" y="2970782"/>
            <a:ext cx="2532609" cy="82510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DCB5E66-D215-13FD-0739-68159658B8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570" y="2048301"/>
            <a:ext cx="1917700" cy="7366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48A61B9-8059-1234-DC10-A85FAD72C5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8024" y="2029207"/>
            <a:ext cx="1917700" cy="73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6355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4686" y="444110"/>
            <a:ext cx="2476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중첩된 </a:t>
            </a:r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if … else 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구문 </a:t>
            </a:r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511557" y="915566"/>
            <a:ext cx="8229600" cy="51435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400" dirty="0">
                <a:solidFill>
                  <a:srgbClr val="929292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if ~else if ~else</a:t>
            </a:r>
          </a:p>
          <a:p>
            <a:pPr algn="l"/>
            <a:r>
              <a:rPr lang="ko-KR" altLang="en-US" sz="1400" dirty="0">
                <a:solidFill>
                  <a:srgbClr val="929292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다양한 조건을 처리하는 다중 </a:t>
            </a:r>
            <a:r>
              <a:rPr lang="ko-KR" altLang="en-US" sz="1400" dirty="0" err="1">
                <a:solidFill>
                  <a:srgbClr val="929292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조건문</a:t>
            </a:r>
            <a:r>
              <a:rPr lang="en-US" altLang="ko-KR" sz="1400" dirty="0">
                <a:solidFill>
                  <a:srgbClr val="929292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.</a:t>
            </a:r>
          </a:p>
          <a:p>
            <a:pPr algn="l"/>
            <a:r>
              <a:rPr lang="en-US" altLang="ko-KR" sz="1400" dirty="0">
                <a:solidFill>
                  <a:srgbClr val="929292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if </a:t>
            </a:r>
            <a:r>
              <a:rPr lang="ko-KR" altLang="en-US" sz="1400" dirty="0">
                <a:solidFill>
                  <a:srgbClr val="929292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문의 다양한 조건 중에서 참인 문장을 수행한 뒤 </a:t>
            </a:r>
            <a:r>
              <a:rPr lang="en-US" altLang="ko-KR" sz="1400" dirty="0">
                <a:solidFill>
                  <a:srgbClr val="929292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if </a:t>
            </a:r>
            <a:r>
              <a:rPr lang="ko-KR" altLang="en-US" sz="1400" dirty="0">
                <a:solidFill>
                  <a:srgbClr val="929292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문을 종료한다</a:t>
            </a:r>
          </a:p>
          <a:p>
            <a:pPr algn="l"/>
            <a:endParaRPr lang="ko-KR" altLang="en-US" sz="1400" dirty="0">
              <a:solidFill>
                <a:srgbClr val="929292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algn="l"/>
            <a:endParaRPr lang="ko-KR" altLang="en-US" sz="1400" dirty="0">
              <a:solidFill>
                <a:srgbClr val="929292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pic>
        <p:nvPicPr>
          <p:cNvPr id="6" name="Picture 3" descr="H:\한빛\강의교안제작\[보안주의]출판원고PDF\자바기초_그림&amp;표\ch03_img\ch03-11_cut.jpg"/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7628"/>
          <a:stretch/>
        </p:blipFill>
        <p:spPr bwMode="auto">
          <a:xfrm>
            <a:off x="965254" y="1956786"/>
            <a:ext cx="3882809" cy="27649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" name="그룹 5"/>
          <p:cNvGrpSpPr>
            <a:grpSpLocks/>
          </p:cNvGrpSpPr>
          <p:nvPr/>
        </p:nvGrpSpPr>
        <p:grpSpPr bwMode="auto">
          <a:xfrm>
            <a:off x="6074157" y="438150"/>
            <a:ext cx="2667000" cy="4267200"/>
            <a:chOff x="1514476" y="4111823"/>
            <a:chExt cx="4275978" cy="4267200"/>
          </a:xfrm>
        </p:grpSpPr>
        <p:sp>
          <p:nvSpPr>
            <p:cNvPr id="8" name="모서리가 둥근 직사각형 7"/>
            <p:cNvSpPr/>
            <p:nvPr/>
          </p:nvSpPr>
          <p:spPr bwMode="auto">
            <a:xfrm>
              <a:off x="1601014" y="4419798"/>
              <a:ext cx="3713397" cy="3959225"/>
            </a:xfrm>
            <a:prstGeom prst="roundRect">
              <a:avLst>
                <a:gd name="adj" fmla="val 5891"/>
              </a:avLst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>
                <a:lnSpc>
                  <a:spcPct val="120000"/>
                </a:lnSpc>
                <a:defRPr/>
              </a:pPr>
              <a:r>
                <a:rPr lang="en-US" altLang="ko-KR" sz="1200" dirty="0">
                  <a:solidFill>
                    <a:schemeClr val="tx1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if(</a:t>
              </a:r>
              <a:r>
                <a:rPr lang="ko-KR" altLang="en-US" sz="1200" dirty="0">
                  <a:solidFill>
                    <a:schemeClr val="tx1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조건</a:t>
              </a:r>
              <a:r>
                <a:rPr lang="en-US" altLang="ko-KR" sz="1200" dirty="0">
                  <a:solidFill>
                    <a:schemeClr val="tx1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1) :</a:t>
              </a:r>
            </a:p>
            <a:p>
              <a:pPr algn="l">
                <a:lnSpc>
                  <a:spcPct val="120000"/>
                </a:lnSpc>
                <a:defRPr/>
              </a:pPr>
              <a:r>
                <a:rPr lang="ko-KR" altLang="en-US" sz="1200" dirty="0">
                  <a:solidFill>
                    <a:schemeClr val="tx1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명령문</a:t>
              </a:r>
              <a:r>
                <a:rPr lang="en-US" altLang="ko-KR" sz="1200" dirty="0">
                  <a:solidFill>
                    <a:schemeClr val="tx1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1</a:t>
              </a:r>
            </a:p>
            <a:p>
              <a:pPr algn="l">
                <a:lnSpc>
                  <a:spcPct val="120000"/>
                </a:lnSpc>
                <a:defRPr/>
              </a:pPr>
              <a:r>
                <a:rPr lang="ko-KR" altLang="en-US" sz="1200" dirty="0">
                  <a:solidFill>
                    <a:schemeClr val="tx1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명령문</a:t>
              </a:r>
              <a:r>
                <a:rPr lang="en-US" altLang="ko-KR" sz="1200" dirty="0">
                  <a:solidFill>
                    <a:schemeClr val="tx1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2</a:t>
              </a:r>
            </a:p>
            <a:p>
              <a:pPr algn="l">
                <a:lnSpc>
                  <a:spcPct val="120000"/>
                </a:lnSpc>
                <a:defRPr/>
              </a:pPr>
              <a:r>
                <a:rPr lang="en-US" altLang="ko-KR" sz="1200" dirty="0">
                  <a:solidFill>
                    <a:schemeClr val="tx1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...</a:t>
              </a:r>
            </a:p>
            <a:p>
              <a:pPr algn="l">
                <a:lnSpc>
                  <a:spcPct val="120000"/>
                </a:lnSpc>
                <a:defRPr/>
              </a:pPr>
              <a:r>
                <a:rPr lang="en-US" altLang="ko-KR" sz="1200" dirty="0">
                  <a:solidFill>
                    <a:schemeClr val="tx1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else:</a:t>
              </a:r>
            </a:p>
            <a:p>
              <a:pPr algn="l">
                <a:lnSpc>
                  <a:spcPct val="120000"/>
                </a:lnSpc>
                <a:defRPr/>
              </a:pPr>
              <a:r>
                <a:rPr lang="en-US" altLang="ko-KR" sz="1200" dirty="0">
                  <a:solidFill>
                    <a:schemeClr val="tx1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  if(</a:t>
              </a:r>
              <a:r>
                <a:rPr lang="ko-KR" altLang="en-US" sz="1200" dirty="0">
                  <a:solidFill>
                    <a:schemeClr val="tx1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조건</a:t>
              </a:r>
              <a:r>
                <a:rPr lang="en-US" altLang="ko-KR" sz="1200" dirty="0">
                  <a:solidFill>
                    <a:schemeClr val="tx1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2) :</a:t>
              </a:r>
            </a:p>
            <a:p>
              <a:pPr algn="l">
                <a:lnSpc>
                  <a:spcPct val="120000"/>
                </a:lnSpc>
                <a:defRPr/>
              </a:pPr>
              <a:r>
                <a:rPr lang="ko-KR" altLang="en-US" sz="1200" dirty="0">
                  <a:solidFill>
                    <a:schemeClr val="tx1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  </a:t>
              </a:r>
              <a:r>
                <a:rPr lang="en-US" altLang="ko-KR" sz="1200" dirty="0">
                  <a:solidFill>
                    <a:schemeClr val="tx1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  </a:t>
              </a:r>
              <a:r>
                <a:rPr lang="ko-KR" altLang="en-US" sz="1200" dirty="0">
                  <a:solidFill>
                    <a:schemeClr val="tx1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명령문</a:t>
              </a:r>
              <a:r>
                <a:rPr lang="en-US" altLang="ko-KR" sz="1200" dirty="0">
                  <a:solidFill>
                    <a:schemeClr val="tx1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10</a:t>
              </a:r>
            </a:p>
            <a:p>
              <a:pPr algn="l">
                <a:lnSpc>
                  <a:spcPct val="120000"/>
                </a:lnSpc>
                <a:defRPr/>
              </a:pPr>
              <a:r>
                <a:rPr lang="ko-KR" altLang="en-US" sz="1200" dirty="0">
                  <a:solidFill>
                    <a:schemeClr val="tx1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  </a:t>
              </a:r>
              <a:r>
                <a:rPr lang="en-US" altLang="ko-KR" sz="1200" dirty="0">
                  <a:solidFill>
                    <a:schemeClr val="tx1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  </a:t>
              </a:r>
              <a:r>
                <a:rPr lang="ko-KR" altLang="en-US" sz="1200" dirty="0">
                  <a:solidFill>
                    <a:schemeClr val="tx1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명령문</a:t>
              </a:r>
              <a:r>
                <a:rPr lang="en-US" altLang="ko-KR" sz="1200" dirty="0">
                  <a:solidFill>
                    <a:schemeClr val="tx1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11</a:t>
              </a:r>
            </a:p>
            <a:p>
              <a:pPr algn="l">
                <a:lnSpc>
                  <a:spcPct val="120000"/>
                </a:lnSpc>
                <a:defRPr/>
              </a:pPr>
              <a:r>
                <a:rPr lang="en-US" altLang="ko-KR" sz="1200" dirty="0">
                  <a:solidFill>
                    <a:schemeClr val="tx1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     ...</a:t>
              </a:r>
            </a:p>
            <a:p>
              <a:pPr algn="l">
                <a:lnSpc>
                  <a:spcPct val="120000"/>
                </a:lnSpc>
                <a:defRPr/>
              </a:pPr>
              <a:r>
                <a:rPr lang="en-US" altLang="ko-KR" sz="1200" dirty="0">
                  <a:solidFill>
                    <a:schemeClr val="tx1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   else:</a:t>
              </a:r>
            </a:p>
            <a:p>
              <a:pPr algn="l">
                <a:lnSpc>
                  <a:spcPct val="120000"/>
                </a:lnSpc>
                <a:defRPr/>
              </a:pPr>
              <a:r>
                <a:rPr lang="en-US" altLang="ko-KR" sz="1200" dirty="0">
                  <a:solidFill>
                    <a:schemeClr val="tx1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        if(</a:t>
              </a:r>
              <a:r>
                <a:rPr lang="ko-KR" altLang="en-US" sz="1200" dirty="0">
                  <a:solidFill>
                    <a:schemeClr val="tx1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조건</a:t>
              </a:r>
              <a:r>
                <a:rPr lang="en-US" altLang="ko-KR" sz="1200" dirty="0">
                  <a:solidFill>
                    <a:schemeClr val="tx1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3) :</a:t>
              </a:r>
            </a:p>
            <a:p>
              <a:pPr algn="l">
                <a:lnSpc>
                  <a:spcPct val="120000"/>
                </a:lnSpc>
                <a:defRPr/>
              </a:pPr>
              <a:r>
                <a:rPr lang="ko-KR" altLang="en-US" sz="1200" dirty="0">
                  <a:solidFill>
                    <a:schemeClr val="tx1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 </a:t>
              </a:r>
              <a:r>
                <a:rPr lang="en-US" altLang="ko-KR" sz="1200" dirty="0">
                  <a:solidFill>
                    <a:schemeClr val="tx1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  </a:t>
              </a:r>
              <a:r>
                <a:rPr lang="ko-KR" altLang="en-US" sz="1200" dirty="0">
                  <a:solidFill>
                    <a:schemeClr val="tx1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 </a:t>
              </a:r>
              <a:r>
                <a:rPr lang="en-US" altLang="ko-KR" sz="1200" dirty="0">
                  <a:solidFill>
                    <a:schemeClr val="tx1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      </a:t>
              </a:r>
              <a:r>
                <a:rPr lang="ko-KR" altLang="en-US" sz="1200" dirty="0">
                  <a:solidFill>
                    <a:schemeClr val="tx1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명령문</a:t>
              </a:r>
              <a:r>
                <a:rPr lang="en-US" altLang="ko-KR" sz="1200" dirty="0">
                  <a:solidFill>
                    <a:schemeClr val="tx1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20</a:t>
              </a:r>
            </a:p>
            <a:p>
              <a:pPr algn="l">
                <a:lnSpc>
                  <a:spcPct val="120000"/>
                </a:lnSpc>
                <a:defRPr/>
              </a:pPr>
              <a:r>
                <a:rPr lang="ko-KR" altLang="en-US" sz="1200" dirty="0">
                  <a:solidFill>
                    <a:schemeClr val="tx1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  </a:t>
              </a:r>
              <a:r>
                <a:rPr lang="en-US" altLang="ko-KR" sz="1200" dirty="0">
                  <a:solidFill>
                    <a:schemeClr val="tx1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        </a:t>
              </a:r>
              <a:r>
                <a:rPr lang="ko-KR" altLang="en-US" sz="1200" dirty="0">
                  <a:solidFill>
                    <a:schemeClr val="tx1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명령문</a:t>
              </a:r>
              <a:r>
                <a:rPr lang="en-US" altLang="ko-KR" sz="1200" dirty="0">
                  <a:solidFill>
                    <a:schemeClr val="tx1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21</a:t>
              </a:r>
            </a:p>
            <a:p>
              <a:pPr algn="l">
                <a:lnSpc>
                  <a:spcPct val="120000"/>
                </a:lnSpc>
                <a:defRPr/>
              </a:pPr>
              <a:r>
                <a:rPr lang="en-US" altLang="ko-KR" sz="1200" dirty="0">
                  <a:solidFill>
                    <a:schemeClr val="tx1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           ...</a:t>
              </a:r>
            </a:p>
            <a:p>
              <a:pPr algn="l">
                <a:lnSpc>
                  <a:spcPct val="120000"/>
                </a:lnSpc>
                <a:defRPr/>
              </a:pPr>
              <a:r>
                <a:rPr lang="en-US" altLang="ko-KR" sz="1200" dirty="0">
                  <a:solidFill>
                    <a:schemeClr val="tx1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        else :</a:t>
              </a:r>
            </a:p>
            <a:p>
              <a:pPr algn="l">
                <a:lnSpc>
                  <a:spcPct val="120000"/>
                </a:lnSpc>
                <a:defRPr/>
              </a:pPr>
              <a:r>
                <a:rPr lang="ko-KR" altLang="en-US" sz="1200" dirty="0">
                  <a:solidFill>
                    <a:schemeClr val="tx1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  </a:t>
              </a:r>
              <a:r>
                <a:rPr lang="en-US" altLang="ko-KR" sz="1200" dirty="0">
                  <a:solidFill>
                    <a:schemeClr val="tx1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        </a:t>
              </a:r>
              <a:r>
                <a:rPr lang="ko-KR" altLang="en-US" sz="1200" dirty="0">
                  <a:solidFill>
                    <a:schemeClr val="tx1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명령문</a:t>
              </a:r>
              <a:r>
                <a:rPr lang="en-US" altLang="ko-KR" sz="1200" dirty="0">
                  <a:solidFill>
                    <a:schemeClr val="tx1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30</a:t>
              </a:r>
            </a:p>
            <a:p>
              <a:pPr algn="l">
                <a:lnSpc>
                  <a:spcPct val="120000"/>
                </a:lnSpc>
                <a:defRPr/>
              </a:pPr>
              <a:r>
                <a:rPr lang="ko-KR" altLang="en-US" sz="1200" dirty="0">
                  <a:solidFill>
                    <a:schemeClr val="tx1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  </a:t>
              </a:r>
              <a:r>
                <a:rPr lang="en-US" altLang="ko-KR" sz="1200" dirty="0">
                  <a:solidFill>
                    <a:schemeClr val="tx1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        </a:t>
              </a:r>
              <a:r>
                <a:rPr lang="ko-KR" altLang="en-US" sz="1200" dirty="0">
                  <a:solidFill>
                    <a:schemeClr val="tx1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명령문</a:t>
              </a:r>
              <a:r>
                <a:rPr lang="en-US" altLang="ko-KR" sz="1200" dirty="0">
                  <a:solidFill>
                    <a:schemeClr val="tx1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31</a:t>
              </a:r>
            </a:p>
            <a:p>
              <a:pPr algn="l">
                <a:lnSpc>
                  <a:spcPct val="120000"/>
                </a:lnSpc>
                <a:defRPr/>
              </a:pPr>
              <a:r>
                <a:rPr lang="en-US" altLang="ko-KR" sz="1200" dirty="0">
                  <a:solidFill>
                    <a:schemeClr val="tx1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          ...</a:t>
              </a:r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1514476" y="4111823"/>
              <a:ext cx="4275978" cy="30797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lang="en-US" altLang="ko-KR" sz="1400" kern="0" dirty="0">
                  <a:solidFill>
                    <a:srgbClr val="000000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[if ~else if ~else </a:t>
              </a:r>
              <a:r>
                <a:rPr lang="ko-KR" altLang="en-US" sz="1400" kern="0" dirty="0">
                  <a:solidFill>
                    <a:srgbClr val="000000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문의 구조</a:t>
              </a:r>
              <a:r>
                <a:rPr lang="en-US" altLang="ko-KR" sz="1400" kern="0" dirty="0">
                  <a:solidFill>
                    <a:srgbClr val="000000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]</a:t>
              </a:r>
              <a:endPara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765241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4686" y="444110"/>
            <a:ext cx="2476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중첩된 </a:t>
            </a:r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if … else 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구문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3A4BFAF-26C1-B91D-32AC-6A3853E5B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131590"/>
            <a:ext cx="3924300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8030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4686" y="444110"/>
            <a:ext cx="2476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중첩된 </a:t>
            </a:r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if … else 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구문 </a:t>
            </a:r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511557" y="915566"/>
            <a:ext cx="8229600" cy="51435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400" dirty="0">
                <a:solidFill>
                  <a:srgbClr val="929292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if ~</a:t>
            </a:r>
            <a:r>
              <a:rPr lang="en-US" altLang="ko-KR" sz="1400" dirty="0" err="1">
                <a:solidFill>
                  <a:srgbClr val="929292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elif</a:t>
            </a:r>
            <a:r>
              <a:rPr lang="en-US" altLang="ko-KR" sz="1400" dirty="0">
                <a:solidFill>
                  <a:srgbClr val="929292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~else</a:t>
            </a:r>
          </a:p>
          <a:p>
            <a:pPr algn="l"/>
            <a:r>
              <a:rPr lang="ko-KR" altLang="en-US" sz="1400" dirty="0">
                <a:solidFill>
                  <a:srgbClr val="929292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다양한 조건을 처리하는 다중 </a:t>
            </a:r>
            <a:r>
              <a:rPr lang="ko-KR" altLang="en-US" sz="1400" dirty="0" err="1">
                <a:solidFill>
                  <a:srgbClr val="929292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조건문</a:t>
            </a:r>
            <a:r>
              <a:rPr lang="en-US" altLang="ko-KR" sz="1400" dirty="0">
                <a:solidFill>
                  <a:srgbClr val="929292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.</a:t>
            </a:r>
          </a:p>
          <a:p>
            <a:pPr algn="l"/>
            <a:r>
              <a:rPr lang="en-US" altLang="ko-KR" sz="1400" dirty="0">
                <a:solidFill>
                  <a:srgbClr val="929292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if </a:t>
            </a:r>
            <a:r>
              <a:rPr lang="ko-KR" altLang="en-US" sz="1400" dirty="0">
                <a:solidFill>
                  <a:srgbClr val="929292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문의 다양한 조건 중에서 참인 문장을 수행한 뒤 </a:t>
            </a:r>
            <a:r>
              <a:rPr lang="en-US" altLang="ko-KR" sz="1400" dirty="0">
                <a:solidFill>
                  <a:srgbClr val="929292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if </a:t>
            </a:r>
            <a:r>
              <a:rPr lang="ko-KR" altLang="en-US" sz="1400" dirty="0">
                <a:solidFill>
                  <a:srgbClr val="929292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문을 종료한다</a:t>
            </a:r>
          </a:p>
          <a:p>
            <a:pPr algn="l"/>
            <a:endParaRPr lang="ko-KR" altLang="en-US" sz="1400" dirty="0">
              <a:solidFill>
                <a:srgbClr val="929292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algn="l"/>
            <a:endParaRPr lang="ko-KR" altLang="en-US" sz="1400" dirty="0">
              <a:solidFill>
                <a:srgbClr val="929292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pic>
        <p:nvPicPr>
          <p:cNvPr id="6" name="Picture 3" descr="H:\한빛\강의교안제작\[보안주의]출판원고PDF\자바기초_그림&amp;표\ch03_img\ch03-11_cut.jpg"/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7628"/>
          <a:stretch/>
        </p:blipFill>
        <p:spPr bwMode="auto">
          <a:xfrm>
            <a:off x="965254" y="1956786"/>
            <a:ext cx="3882809" cy="27649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" name="그룹 5"/>
          <p:cNvGrpSpPr>
            <a:grpSpLocks/>
          </p:cNvGrpSpPr>
          <p:nvPr/>
        </p:nvGrpSpPr>
        <p:grpSpPr bwMode="auto">
          <a:xfrm>
            <a:off x="5217368" y="388449"/>
            <a:ext cx="2667000" cy="4267200"/>
            <a:chOff x="1514476" y="4111823"/>
            <a:chExt cx="4275978" cy="4267200"/>
          </a:xfrm>
        </p:grpSpPr>
        <p:sp>
          <p:nvSpPr>
            <p:cNvPr id="8" name="모서리가 둥근 직사각형 7"/>
            <p:cNvSpPr/>
            <p:nvPr/>
          </p:nvSpPr>
          <p:spPr bwMode="auto">
            <a:xfrm>
              <a:off x="1601014" y="4419798"/>
              <a:ext cx="2764114" cy="3959225"/>
            </a:xfrm>
            <a:prstGeom prst="roundRect">
              <a:avLst>
                <a:gd name="adj" fmla="val 5891"/>
              </a:avLst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>
                <a:lnSpc>
                  <a:spcPct val="120000"/>
                </a:lnSpc>
                <a:defRPr/>
              </a:pPr>
              <a:r>
                <a:rPr lang="en-US" altLang="ko-KR" sz="1200" dirty="0">
                  <a:solidFill>
                    <a:schemeClr val="tx1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if(</a:t>
              </a:r>
              <a:r>
                <a:rPr lang="ko-KR" altLang="en-US" sz="1200" dirty="0">
                  <a:solidFill>
                    <a:schemeClr val="tx1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조건</a:t>
              </a:r>
              <a:r>
                <a:rPr lang="en-US" altLang="ko-KR" sz="1200" dirty="0">
                  <a:solidFill>
                    <a:schemeClr val="tx1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1) :</a:t>
              </a:r>
            </a:p>
            <a:p>
              <a:pPr algn="l">
                <a:lnSpc>
                  <a:spcPct val="120000"/>
                </a:lnSpc>
                <a:defRPr/>
              </a:pPr>
              <a:r>
                <a:rPr lang="ko-KR" altLang="en-US" sz="1200" dirty="0">
                  <a:solidFill>
                    <a:schemeClr val="tx1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명령문</a:t>
              </a:r>
              <a:r>
                <a:rPr lang="en-US" altLang="ko-KR" sz="1200" dirty="0">
                  <a:solidFill>
                    <a:schemeClr val="tx1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1</a:t>
              </a:r>
            </a:p>
            <a:p>
              <a:pPr algn="l">
                <a:lnSpc>
                  <a:spcPct val="120000"/>
                </a:lnSpc>
                <a:defRPr/>
              </a:pPr>
              <a:r>
                <a:rPr lang="ko-KR" altLang="en-US" sz="1200" dirty="0">
                  <a:solidFill>
                    <a:schemeClr val="tx1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명령문</a:t>
              </a:r>
              <a:r>
                <a:rPr lang="en-US" altLang="ko-KR" sz="1200" dirty="0">
                  <a:solidFill>
                    <a:schemeClr val="tx1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2</a:t>
              </a:r>
            </a:p>
            <a:p>
              <a:pPr algn="l">
                <a:lnSpc>
                  <a:spcPct val="120000"/>
                </a:lnSpc>
                <a:defRPr/>
              </a:pPr>
              <a:r>
                <a:rPr lang="en-US" altLang="ko-KR" sz="1200" dirty="0">
                  <a:solidFill>
                    <a:schemeClr val="tx1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...</a:t>
              </a:r>
            </a:p>
            <a:p>
              <a:pPr algn="l">
                <a:lnSpc>
                  <a:spcPct val="120000"/>
                </a:lnSpc>
                <a:defRPr/>
              </a:pPr>
              <a:r>
                <a:rPr lang="en-US" altLang="ko-KR" sz="1200" dirty="0" err="1">
                  <a:solidFill>
                    <a:schemeClr val="tx1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elif</a:t>
              </a:r>
              <a:r>
                <a:rPr lang="en-US" altLang="ko-KR" sz="1200" dirty="0">
                  <a:solidFill>
                    <a:schemeClr val="tx1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(</a:t>
              </a:r>
              <a:r>
                <a:rPr lang="ko-KR" altLang="en-US" sz="1200" dirty="0">
                  <a:solidFill>
                    <a:schemeClr val="tx1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조건</a:t>
              </a:r>
              <a:r>
                <a:rPr lang="en-US" altLang="ko-KR" sz="1200" dirty="0">
                  <a:solidFill>
                    <a:schemeClr val="tx1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2) :</a:t>
              </a:r>
            </a:p>
            <a:p>
              <a:pPr algn="l">
                <a:lnSpc>
                  <a:spcPct val="120000"/>
                </a:lnSpc>
                <a:defRPr/>
              </a:pPr>
              <a:r>
                <a:rPr lang="ko-KR" altLang="en-US" sz="1200" dirty="0">
                  <a:solidFill>
                    <a:schemeClr val="tx1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  명령문</a:t>
              </a:r>
              <a:r>
                <a:rPr lang="en-US" altLang="ko-KR" sz="1200" dirty="0">
                  <a:solidFill>
                    <a:schemeClr val="tx1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10</a:t>
              </a:r>
            </a:p>
            <a:p>
              <a:pPr algn="l">
                <a:lnSpc>
                  <a:spcPct val="120000"/>
                </a:lnSpc>
                <a:defRPr/>
              </a:pPr>
              <a:r>
                <a:rPr lang="ko-KR" altLang="en-US" sz="1200" dirty="0">
                  <a:solidFill>
                    <a:schemeClr val="tx1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  명령문</a:t>
              </a:r>
              <a:r>
                <a:rPr lang="en-US" altLang="ko-KR" sz="1200" dirty="0">
                  <a:solidFill>
                    <a:schemeClr val="tx1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11</a:t>
              </a:r>
            </a:p>
            <a:p>
              <a:pPr algn="l">
                <a:lnSpc>
                  <a:spcPct val="120000"/>
                </a:lnSpc>
                <a:defRPr/>
              </a:pPr>
              <a:r>
                <a:rPr lang="en-US" altLang="ko-KR" sz="1200" dirty="0">
                  <a:solidFill>
                    <a:schemeClr val="tx1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  ...</a:t>
              </a:r>
            </a:p>
            <a:p>
              <a:pPr algn="l">
                <a:lnSpc>
                  <a:spcPct val="120000"/>
                </a:lnSpc>
                <a:defRPr/>
              </a:pPr>
              <a:r>
                <a:rPr lang="en-US" altLang="ko-KR" sz="1200" dirty="0" err="1">
                  <a:solidFill>
                    <a:schemeClr val="tx1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elif</a:t>
              </a:r>
              <a:r>
                <a:rPr lang="en-US" altLang="ko-KR" sz="1200" dirty="0">
                  <a:solidFill>
                    <a:schemeClr val="tx1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(</a:t>
              </a:r>
              <a:r>
                <a:rPr lang="ko-KR" altLang="en-US" sz="1200" dirty="0">
                  <a:solidFill>
                    <a:schemeClr val="tx1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조건</a:t>
              </a:r>
              <a:r>
                <a:rPr lang="en-US" altLang="ko-KR" sz="1200" dirty="0">
                  <a:solidFill>
                    <a:schemeClr val="tx1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3) :</a:t>
              </a:r>
            </a:p>
            <a:p>
              <a:pPr algn="l">
                <a:lnSpc>
                  <a:spcPct val="120000"/>
                </a:lnSpc>
                <a:defRPr/>
              </a:pPr>
              <a:r>
                <a:rPr lang="ko-KR" altLang="en-US" sz="1200" dirty="0">
                  <a:solidFill>
                    <a:schemeClr val="tx1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  명령문</a:t>
              </a:r>
              <a:r>
                <a:rPr lang="en-US" altLang="ko-KR" sz="1200" dirty="0">
                  <a:solidFill>
                    <a:schemeClr val="tx1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20</a:t>
              </a:r>
            </a:p>
            <a:p>
              <a:pPr algn="l">
                <a:lnSpc>
                  <a:spcPct val="120000"/>
                </a:lnSpc>
                <a:defRPr/>
              </a:pPr>
              <a:r>
                <a:rPr lang="ko-KR" altLang="en-US" sz="1200" dirty="0">
                  <a:solidFill>
                    <a:schemeClr val="tx1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  명령문</a:t>
              </a:r>
              <a:r>
                <a:rPr lang="en-US" altLang="ko-KR" sz="1200" dirty="0">
                  <a:solidFill>
                    <a:schemeClr val="tx1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21</a:t>
              </a:r>
            </a:p>
            <a:p>
              <a:pPr algn="l">
                <a:lnSpc>
                  <a:spcPct val="120000"/>
                </a:lnSpc>
                <a:defRPr/>
              </a:pPr>
              <a:r>
                <a:rPr lang="en-US" altLang="ko-KR" sz="1200" dirty="0">
                  <a:solidFill>
                    <a:schemeClr val="tx1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  ...</a:t>
              </a:r>
            </a:p>
            <a:p>
              <a:pPr algn="l">
                <a:lnSpc>
                  <a:spcPct val="120000"/>
                </a:lnSpc>
                <a:defRPr/>
              </a:pPr>
              <a:r>
                <a:rPr lang="en-US" altLang="ko-KR" sz="1200" dirty="0">
                  <a:solidFill>
                    <a:schemeClr val="tx1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else :</a:t>
              </a:r>
            </a:p>
            <a:p>
              <a:pPr algn="l">
                <a:lnSpc>
                  <a:spcPct val="120000"/>
                </a:lnSpc>
                <a:defRPr/>
              </a:pPr>
              <a:r>
                <a:rPr lang="ko-KR" altLang="en-US" sz="1200" dirty="0">
                  <a:solidFill>
                    <a:schemeClr val="tx1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  명령문</a:t>
              </a:r>
              <a:r>
                <a:rPr lang="en-US" altLang="ko-KR" sz="1200" dirty="0">
                  <a:solidFill>
                    <a:schemeClr val="tx1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30</a:t>
              </a:r>
            </a:p>
            <a:p>
              <a:pPr algn="l">
                <a:lnSpc>
                  <a:spcPct val="120000"/>
                </a:lnSpc>
                <a:defRPr/>
              </a:pPr>
              <a:r>
                <a:rPr lang="ko-KR" altLang="en-US" sz="1200" dirty="0">
                  <a:solidFill>
                    <a:schemeClr val="tx1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  명령문</a:t>
              </a:r>
              <a:r>
                <a:rPr lang="en-US" altLang="ko-KR" sz="1200" dirty="0">
                  <a:solidFill>
                    <a:schemeClr val="tx1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31</a:t>
              </a:r>
            </a:p>
            <a:p>
              <a:pPr algn="l">
                <a:lnSpc>
                  <a:spcPct val="120000"/>
                </a:lnSpc>
                <a:defRPr/>
              </a:pPr>
              <a:r>
                <a:rPr lang="en-US" altLang="ko-KR" sz="1200" dirty="0">
                  <a:solidFill>
                    <a:schemeClr val="tx1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  ...</a:t>
              </a:r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1514476" y="4111823"/>
              <a:ext cx="4275978" cy="30797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lang="en-US" altLang="ko-KR" sz="1400" kern="0" dirty="0">
                  <a:solidFill>
                    <a:srgbClr val="000000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[if ~</a:t>
              </a:r>
              <a:r>
                <a:rPr lang="en-US" altLang="ko-KR" sz="1400" kern="0" dirty="0" err="1">
                  <a:solidFill>
                    <a:srgbClr val="000000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elif</a:t>
              </a:r>
              <a:r>
                <a:rPr lang="en-US" altLang="ko-KR" sz="1400" kern="0" dirty="0">
                  <a:solidFill>
                    <a:srgbClr val="000000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 ~else </a:t>
              </a:r>
              <a:r>
                <a:rPr lang="ko-KR" altLang="en-US" sz="1400" kern="0" dirty="0">
                  <a:solidFill>
                    <a:srgbClr val="000000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문의 구조</a:t>
              </a:r>
              <a:r>
                <a:rPr lang="en-US" altLang="ko-KR" sz="1400" kern="0" dirty="0">
                  <a:solidFill>
                    <a:srgbClr val="000000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]</a:t>
              </a:r>
              <a:endPara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208487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4686" y="444110"/>
            <a:ext cx="2476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중첩된 </a:t>
            </a:r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if … else 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구문 </a:t>
            </a:r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755576" y="987574"/>
            <a:ext cx="8229600" cy="33123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400" dirty="0">
                <a:solidFill>
                  <a:srgbClr val="929292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if ~else if ~else</a:t>
            </a:r>
          </a:p>
          <a:p>
            <a:pPr algn="l"/>
            <a:r>
              <a:rPr lang="ko-KR" altLang="en-US" sz="1400" dirty="0">
                <a:solidFill>
                  <a:srgbClr val="929292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다양한 조건을 처리하는 다중 </a:t>
            </a:r>
            <a:r>
              <a:rPr lang="ko-KR" altLang="en-US" sz="1400" dirty="0" err="1">
                <a:solidFill>
                  <a:srgbClr val="929292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조건문</a:t>
            </a:r>
            <a:r>
              <a:rPr lang="en-US" altLang="ko-KR" sz="1400" dirty="0">
                <a:solidFill>
                  <a:srgbClr val="929292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.</a:t>
            </a:r>
          </a:p>
          <a:p>
            <a:pPr algn="l"/>
            <a:r>
              <a:rPr lang="en-US" altLang="ko-KR" sz="1400" dirty="0">
                <a:solidFill>
                  <a:srgbClr val="929292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if </a:t>
            </a:r>
            <a:r>
              <a:rPr lang="ko-KR" altLang="en-US" sz="1400" dirty="0">
                <a:solidFill>
                  <a:srgbClr val="929292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문의 다양한 조건 중에서 참인 문장을 수행한 뒤 </a:t>
            </a:r>
            <a:r>
              <a:rPr lang="en-US" altLang="ko-KR" sz="1400" dirty="0">
                <a:solidFill>
                  <a:srgbClr val="929292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if </a:t>
            </a:r>
            <a:r>
              <a:rPr lang="ko-KR" altLang="en-US" sz="1400" dirty="0">
                <a:solidFill>
                  <a:srgbClr val="929292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문을 종료한다</a:t>
            </a:r>
          </a:p>
          <a:p>
            <a:pPr algn="l"/>
            <a:endParaRPr lang="ko-KR" altLang="en-US" sz="1400" dirty="0">
              <a:solidFill>
                <a:srgbClr val="929292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algn="l"/>
            <a:endParaRPr lang="ko-KR" altLang="en-US" sz="1400" dirty="0">
              <a:solidFill>
                <a:srgbClr val="929292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CDE5BDE-CC28-E969-1F5E-D44DD4FD4E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1995686"/>
            <a:ext cx="3388303" cy="283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0249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4686" y="444110"/>
            <a:ext cx="2476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중첩된 </a:t>
            </a:r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if … else 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구문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C85E882-1621-06D4-7836-986D03EED6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1642" y="1783585"/>
            <a:ext cx="3687160" cy="2125238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CBA7DBAD-AF86-1018-B4B8-20E3E752DE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1779662"/>
            <a:ext cx="3986743" cy="2129160"/>
          </a:xfrm>
          <a:prstGeom prst="rect">
            <a:avLst/>
          </a:prstGeom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67C695CD-13C2-A9B6-4634-FA824C268247}"/>
              </a:ext>
            </a:extLst>
          </p:cNvPr>
          <p:cNvSpPr txBox="1">
            <a:spLocks/>
          </p:cNvSpPr>
          <p:nvPr/>
        </p:nvSpPr>
        <p:spPr>
          <a:xfrm>
            <a:off x="755576" y="987574"/>
            <a:ext cx="8229600" cy="33123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400" dirty="0">
                <a:solidFill>
                  <a:srgbClr val="929292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if ~else if ~else                                               if ~ </a:t>
            </a:r>
            <a:r>
              <a:rPr lang="en-US" altLang="ko-KR" sz="1400" dirty="0" err="1">
                <a:solidFill>
                  <a:srgbClr val="929292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elif</a:t>
            </a:r>
            <a:r>
              <a:rPr lang="en-US" altLang="ko-KR" sz="1400" dirty="0">
                <a:solidFill>
                  <a:srgbClr val="929292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~ else</a:t>
            </a:r>
            <a:endParaRPr lang="ko-KR" altLang="en-US" sz="1400" dirty="0">
              <a:solidFill>
                <a:srgbClr val="929292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algn="l"/>
            <a:endParaRPr lang="ko-KR" altLang="en-US" sz="1400" dirty="0">
              <a:solidFill>
                <a:srgbClr val="929292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algn="l"/>
            <a:endParaRPr lang="ko-KR" altLang="en-US" sz="1400" dirty="0">
              <a:solidFill>
                <a:srgbClr val="929292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397175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2"/>
          <a:srcRect b="79310"/>
          <a:stretch/>
        </p:blipFill>
        <p:spPr>
          <a:xfrm>
            <a:off x="683568" y="1059582"/>
            <a:ext cx="7902185" cy="8676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8D35960A-C4DF-DC9B-B967-727B27E7D86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9808"/>
          <a:stretch/>
        </p:blipFill>
        <p:spPr>
          <a:xfrm>
            <a:off x="1115616" y="2159000"/>
            <a:ext cx="1663700" cy="8255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3C71680-1612-7586-D3FD-D5F21B13CB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616" y="3179958"/>
            <a:ext cx="1663700" cy="8255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138AC2C-6697-17B9-86FC-4AB3D0A4EE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7864" y="3164443"/>
            <a:ext cx="1663700" cy="8255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0A90555-7F0F-1529-04F8-8FFDCCB8DF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0112" y="3179958"/>
            <a:ext cx="1663700" cy="8255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BB265B0-7849-322D-B3D6-DF9E8BC1046C}"/>
              </a:ext>
            </a:extLst>
          </p:cNvPr>
          <p:cNvSpPr txBox="1"/>
          <p:nvPr/>
        </p:nvSpPr>
        <p:spPr>
          <a:xfrm>
            <a:off x="504686" y="444110"/>
            <a:ext cx="2476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중첩된 </a:t>
            </a:r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if … else 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구문 </a:t>
            </a:r>
          </a:p>
        </p:txBody>
      </p:sp>
    </p:spTree>
    <p:extLst>
      <p:ext uri="{BB962C8B-B14F-4D97-AF65-F5344CB8AC3E}">
        <p14:creationId xmlns:p14="http://schemas.microsoft.com/office/powerpoint/2010/main" val="8470754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4686" y="444110"/>
            <a:ext cx="2526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중첩된 </a:t>
            </a:r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if … else 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구문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7C866B-22FB-944E-91C5-BDB42DCD6844}"/>
              </a:ext>
            </a:extLst>
          </p:cNvPr>
          <p:cNvSpPr txBox="1"/>
          <p:nvPr/>
        </p:nvSpPr>
        <p:spPr>
          <a:xfrm>
            <a:off x="611561" y="915566"/>
            <a:ext cx="80648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정수를 </a:t>
            </a:r>
            <a:r>
              <a:rPr lang="ko-KR" altLang="en-US" sz="1600" dirty="0" err="1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입력받아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0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이면 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“zero”, 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양수이면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”plus”, 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음수이면 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“minus”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r>
              <a:rPr lang="ko-KR" altLang="en-US" sz="1600" dirty="0" err="1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라고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출력하는 프로그램을 작성하시오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9E933E7-E319-F120-3779-2B2A313AF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7" y="1861517"/>
            <a:ext cx="2651841" cy="88394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D3C7253-89D3-C914-B3A6-25AD5527E1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951" y="1861517"/>
            <a:ext cx="2487385" cy="883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6783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7C866B-22FB-944E-91C5-BDB42DCD6844}"/>
              </a:ext>
            </a:extLst>
          </p:cNvPr>
          <p:cNvSpPr txBox="1"/>
          <p:nvPr/>
        </p:nvSpPr>
        <p:spPr>
          <a:xfrm>
            <a:off x="611561" y="915566"/>
            <a:ext cx="806489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몸무게를 </a:t>
            </a:r>
            <a:r>
              <a:rPr lang="ko-KR" altLang="en-US" sz="1600" dirty="0" err="1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입력받아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체급을 출력하는 프로그램을 작성하시오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.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endParaRPr lang="en-US" altLang="ko-KR" sz="1600" dirty="0"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  <a:p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 </a:t>
            </a:r>
            <a:r>
              <a:rPr lang="ko-KR" altLang="en-US" sz="1600" dirty="0" err="1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복싱체급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		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  몸무게</a:t>
            </a:r>
            <a:endParaRPr lang="en-US" altLang="ko-KR" sz="1600" dirty="0"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  <a:p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 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50.80kg 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이하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	Flyweight </a:t>
            </a:r>
          </a:p>
          <a:p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 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61.23kg 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이하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	Lightweight</a:t>
            </a:r>
          </a:p>
          <a:p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 72.75kg 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이하 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	Middleweight</a:t>
            </a:r>
          </a:p>
          <a:p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 88.45kg 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이하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	Cruiserweight</a:t>
            </a:r>
          </a:p>
          <a:p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 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그 이상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		Heavyweight</a:t>
            </a:r>
          </a:p>
          <a:p>
            <a:endParaRPr lang="ko-KR" altLang="en-US" sz="1600" dirty="0"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0924CCC-8809-3173-D1E0-8054CE984B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712" y="3109057"/>
            <a:ext cx="1663700" cy="3937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9A173A32-0670-A497-1B84-C679BECA9B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712" y="3590147"/>
            <a:ext cx="1663700" cy="3937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4A1E79E3-E3AD-D3A9-DF9A-988B731AEB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4214" y="4071237"/>
            <a:ext cx="1663700" cy="330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22D254-4D98-3555-4B64-0B79EDF817E9}"/>
              </a:ext>
            </a:extLst>
          </p:cNvPr>
          <p:cNvSpPr txBox="1"/>
          <p:nvPr/>
        </p:nvSpPr>
        <p:spPr>
          <a:xfrm>
            <a:off x="504686" y="444110"/>
            <a:ext cx="2476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중첩된 </a:t>
            </a:r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if … else 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구문 </a:t>
            </a:r>
          </a:p>
        </p:txBody>
      </p:sp>
    </p:spTree>
    <p:extLst>
      <p:ext uri="{BB962C8B-B14F-4D97-AF65-F5344CB8AC3E}">
        <p14:creationId xmlns:p14="http://schemas.microsoft.com/office/powerpoint/2010/main" val="25063723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327C866B-22FB-944E-91C5-BDB42DCD6844}"/>
              </a:ext>
            </a:extLst>
          </p:cNvPr>
          <p:cNvSpPr txBox="1"/>
          <p:nvPr/>
        </p:nvSpPr>
        <p:spPr>
          <a:xfrm>
            <a:off x="611561" y="915566"/>
            <a:ext cx="72728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실수 한 개를 입력 받아 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0 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이상 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5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이하의 수 라면 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‘0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이상 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5 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이하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’ 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출력하기</a:t>
            </a:r>
            <a:b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</a:b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(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논리연산자 사용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)</a:t>
            </a:r>
            <a:endParaRPr lang="ko-KR" altLang="en-US" sz="1600" dirty="0"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36CD0E9-F0CD-4A9F-AE4A-94320BBD61C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3500"/>
          <a:stretch/>
        </p:blipFill>
        <p:spPr>
          <a:xfrm>
            <a:off x="929642" y="2487171"/>
            <a:ext cx="1787475" cy="5847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BF8F3BF-698A-7003-63E3-5AC95387B8FF}"/>
              </a:ext>
            </a:extLst>
          </p:cNvPr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EBE60F-8C23-C643-1B0A-86EB7194069E}"/>
              </a:ext>
            </a:extLst>
          </p:cNvPr>
          <p:cNvSpPr txBox="1"/>
          <p:nvPr/>
        </p:nvSpPr>
        <p:spPr>
          <a:xfrm>
            <a:off x="504686" y="444110"/>
            <a:ext cx="8499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If 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예제</a:t>
            </a:r>
            <a:endParaRPr lang="en-US" altLang="ko-KR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5A3065D-6522-F876-024A-5D224EA4BB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642" y="1924050"/>
            <a:ext cx="1917700" cy="43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1105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4686" y="444110"/>
            <a:ext cx="886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If 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예제</a:t>
            </a:r>
            <a:endParaRPr lang="en-US" altLang="ko-KR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7C866B-22FB-944E-91C5-BDB42DCD6844}"/>
              </a:ext>
            </a:extLst>
          </p:cNvPr>
          <p:cNvSpPr txBox="1"/>
          <p:nvPr/>
        </p:nvSpPr>
        <p:spPr>
          <a:xfrm>
            <a:off x="611561" y="915566"/>
            <a:ext cx="80648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두 개의 정수를 </a:t>
            </a:r>
            <a:r>
              <a:rPr lang="ko-KR" altLang="en-US" sz="1600" dirty="0" err="1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입력받아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큰 수에서 작은 수를 뺀 차를 출력하는 프로그램을 작성하시오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. 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D11CA8A-E19A-4CC0-B796-A3965B00C22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2644"/>
          <a:stretch/>
        </p:blipFill>
        <p:spPr>
          <a:xfrm>
            <a:off x="670071" y="2623826"/>
            <a:ext cx="2372684" cy="403149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C219056-D0D0-332C-879A-711A17AFAA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071" y="1715827"/>
            <a:ext cx="2489200" cy="7239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75645D9-4D92-D58D-64C2-451CCEC943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3968" y="1715827"/>
            <a:ext cx="2489200" cy="7239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99B76A38-CAE2-2A9E-AC38-6CCDB47F6FC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2644"/>
          <a:stretch/>
        </p:blipFill>
        <p:spPr>
          <a:xfrm>
            <a:off x="4283968" y="2623826"/>
            <a:ext cx="2372684" cy="40314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FFBD32A-A063-2E3F-5B57-7062C525C9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5702" y="453859"/>
            <a:ext cx="5513612" cy="36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547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4686" y="444110"/>
            <a:ext cx="8499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If 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예제</a:t>
            </a:r>
            <a:endParaRPr lang="en-US" altLang="ko-KR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rcRect t="25403" b="61048"/>
          <a:stretch/>
        </p:blipFill>
        <p:spPr>
          <a:xfrm>
            <a:off x="611561" y="915566"/>
            <a:ext cx="6768752" cy="576064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2C9A081-A8EB-E570-9320-3CA64CE601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027" y="1846854"/>
            <a:ext cx="1828800" cy="3810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335B419-BFCE-F4F2-33B0-A070DCBF7E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027" y="2324100"/>
            <a:ext cx="1828800" cy="4953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7FCA27A-083A-F3AC-27A3-0EFC0895A9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3594" y="1846854"/>
            <a:ext cx="1828800" cy="3810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ED21C3B-825B-200B-19AF-A421C44122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3594" y="2324100"/>
            <a:ext cx="1828800" cy="4699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E251399-C11A-60EC-179C-30C9315B23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74021" y="1846854"/>
            <a:ext cx="1828800" cy="3937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CFAB271-0DB9-802F-47D1-3F2216DDB09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74021" y="2286000"/>
            <a:ext cx="1828800" cy="5080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FFBD32A-A063-2E3F-5B57-7062C525C96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46910" y="378677"/>
            <a:ext cx="5513612" cy="36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8706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4686" y="444110"/>
            <a:ext cx="8499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If 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예제</a:t>
            </a:r>
            <a:endParaRPr lang="en-US" altLang="ko-KR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t="34888" b="43901"/>
          <a:stretch/>
        </p:blipFill>
        <p:spPr>
          <a:xfrm>
            <a:off x="611561" y="987575"/>
            <a:ext cx="6696744" cy="93610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C33B21A-7783-006A-6809-449E6C0FE4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642" y="2881114"/>
            <a:ext cx="4914900" cy="2667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573DCA6-F109-7BE2-23C7-0AE64F68BE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642" y="2057029"/>
            <a:ext cx="4914900" cy="7366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2AE8B3C-F36E-2D81-01E5-0A57A7F677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642" y="3651870"/>
            <a:ext cx="4914900" cy="7366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D3ABEA6-6EC0-9F92-4DC1-7C10772F68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140" y="4525476"/>
            <a:ext cx="50927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5635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4686" y="444110"/>
            <a:ext cx="8499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If 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예제</a:t>
            </a:r>
            <a:endParaRPr lang="en-US" altLang="ko-KR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2"/>
          <a:srcRect b="75985"/>
          <a:stretch/>
        </p:blipFill>
        <p:spPr>
          <a:xfrm>
            <a:off x="456843" y="1047618"/>
            <a:ext cx="8230313" cy="73204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608F74B-8333-406F-8B67-294F3648D99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3104"/>
          <a:stretch/>
        </p:blipFill>
        <p:spPr>
          <a:xfrm>
            <a:off x="3995936" y="2793226"/>
            <a:ext cx="2287672" cy="48102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B0B9F99-48EE-4493-965F-A156FF5D1E6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9010" b="1"/>
          <a:stretch/>
        </p:blipFill>
        <p:spPr>
          <a:xfrm>
            <a:off x="916324" y="2882813"/>
            <a:ext cx="1993900" cy="48102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06101860-3154-7785-8D91-A095E2277E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324" y="2005550"/>
            <a:ext cx="1993900" cy="7112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E84C17B-AE9C-58DD-D4B4-E2FFF82B7A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5936" y="1975637"/>
            <a:ext cx="19939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2200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4686" y="444110"/>
            <a:ext cx="1882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최대값 알고리즘</a:t>
            </a:r>
            <a:endParaRPr lang="en-US" altLang="ko-KR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7C866B-22FB-944E-91C5-BDB42DCD6844}"/>
              </a:ext>
            </a:extLst>
          </p:cNvPr>
          <p:cNvSpPr txBox="1"/>
          <p:nvPr/>
        </p:nvSpPr>
        <p:spPr>
          <a:xfrm>
            <a:off x="611561" y="915566"/>
            <a:ext cx="80648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정수 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3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개를 입력 받아 그 중 가장 큰 수를 출력하는 프로그램을 작성하시오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.</a:t>
            </a:r>
            <a:endParaRPr lang="ko-KR" altLang="en-US" sz="1600" dirty="0"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D78E1A0-765A-0DD8-0F87-0FCB0181F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1563638"/>
            <a:ext cx="1828800" cy="381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9B582F5-31FE-A909-E206-8BB2C22D19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65" y="1996185"/>
            <a:ext cx="1828800" cy="381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26745F0-E43A-730B-D0B1-F7938F60E9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5675" y="2436863"/>
            <a:ext cx="1828800" cy="3810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1632444-FD9F-BA63-94CB-7F8B053A5E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5856" y="1996185"/>
            <a:ext cx="1828800" cy="381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E1EFB26-0430-05DF-87F0-AA48993FE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5715" y="1563638"/>
            <a:ext cx="1828800" cy="381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64C420E-3462-610C-03B5-86EA52541F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3766" y="2436863"/>
            <a:ext cx="1828800" cy="3810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9DF9E0B-69BD-6B2E-5A0A-3515B1B8AB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3947" y="1996185"/>
            <a:ext cx="1828800" cy="3810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C2963E2-C8E4-EF2F-46C2-F14103EF26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3806" y="1565936"/>
            <a:ext cx="1828800" cy="3810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B188C8EE-48D9-B359-C61B-D0F487618C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1857" y="2439161"/>
            <a:ext cx="1828800" cy="3810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FFBD32A-A063-2E3F-5B57-7062C525C9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25702" y="444110"/>
            <a:ext cx="5513612" cy="36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4225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4686" y="444110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자리 바꾸기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5576" y="987574"/>
            <a:ext cx="23310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두 변수 자리 바꾸기</a:t>
            </a:r>
          </a:p>
        </p:txBody>
      </p:sp>
      <p:grpSp>
        <p:nvGrpSpPr>
          <p:cNvPr id="10" name="그룹 9"/>
          <p:cNvGrpSpPr/>
          <p:nvPr/>
        </p:nvGrpSpPr>
        <p:grpSpPr>
          <a:xfrm>
            <a:off x="1105812" y="1480401"/>
            <a:ext cx="702436" cy="865339"/>
            <a:chOff x="1004332" y="1706411"/>
            <a:chExt cx="702436" cy="865339"/>
          </a:xfrm>
        </p:grpSpPr>
        <p:sp>
          <p:nvSpPr>
            <p:cNvPr id="6" name="직사각형 5"/>
            <p:cNvSpPr/>
            <p:nvPr/>
          </p:nvSpPr>
          <p:spPr>
            <a:xfrm>
              <a:off x="1043608" y="1995686"/>
              <a:ext cx="623884" cy="576064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b="1" dirty="0"/>
                <a:t>2</a:t>
              </a:r>
              <a:endParaRPr lang="ko-KR" altLang="en-US" sz="2000" b="1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004332" y="1706411"/>
              <a:ext cx="70243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변수 </a:t>
              </a:r>
              <a:r>
                <a:rPr lang="en-US" altLang="ko-KR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x</a:t>
              </a:r>
              <a:endPara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1" name="그룹 10"/>
          <p:cNvGrpSpPr/>
          <p:nvPr/>
        </p:nvGrpSpPr>
        <p:grpSpPr>
          <a:xfrm>
            <a:off x="2585248" y="1480401"/>
            <a:ext cx="702436" cy="865339"/>
            <a:chOff x="1004332" y="1706411"/>
            <a:chExt cx="702436" cy="865339"/>
          </a:xfrm>
        </p:grpSpPr>
        <p:sp>
          <p:nvSpPr>
            <p:cNvPr id="12" name="직사각형 11"/>
            <p:cNvSpPr/>
            <p:nvPr/>
          </p:nvSpPr>
          <p:spPr>
            <a:xfrm>
              <a:off x="1043608" y="1995686"/>
              <a:ext cx="623884" cy="576064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b="1" dirty="0"/>
                <a:t>7</a:t>
              </a:r>
              <a:endParaRPr lang="ko-KR" altLang="en-US" sz="2000" b="1"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004332" y="1706411"/>
              <a:ext cx="70243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변수 </a:t>
              </a:r>
              <a:r>
                <a:rPr lang="en-US" altLang="ko-KR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y</a:t>
              </a:r>
              <a:endPara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554199" y="3101896"/>
            <a:ext cx="32319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x = y ;     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 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x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의 값이 사라짐</a:t>
            </a:r>
          </a:p>
        </p:txBody>
      </p:sp>
      <p:grpSp>
        <p:nvGrpSpPr>
          <p:cNvPr id="15" name="그룹 14"/>
          <p:cNvGrpSpPr/>
          <p:nvPr/>
        </p:nvGrpSpPr>
        <p:grpSpPr>
          <a:xfrm>
            <a:off x="1105812" y="3692633"/>
            <a:ext cx="702436" cy="865339"/>
            <a:chOff x="1004332" y="1706411"/>
            <a:chExt cx="702436" cy="865339"/>
          </a:xfrm>
        </p:grpSpPr>
        <p:sp>
          <p:nvSpPr>
            <p:cNvPr id="16" name="직사각형 15"/>
            <p:cNvSpPr/>
            <p:nvPr/>
          </p:nvSpPr>
          <p:spPr>
            <a:xfrm>
              <a:off x="1043608" y="1995686"/>
              <a:ext cx="623884" cy="576064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b="1" dirty="0"/>
                <a:t>7</a:t>
              </a:r>
              <a:endParaRPr lang="ko-KR" altLang="en-US" sz="2000" b="1" dirty="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004332" y="1706411"/>
              <a:ext cx="70243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변수 </a:t>
              </a:r>
              <a:r>
                <a:rPr lang="en-US" altLang="ko-KR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x</a:t>
              </a:r>
              <a:endPara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8" name="그룹 17"/>
          <p:cNvGrpSpPr/>
          <p:nvPr/>
        </p:nvGrpSpPr>
        <p:grpSpPr>
          <a:xfrm>
            <a:off x="2585248" y="3692633"/>
            <a:ext cx="702436" cy="865339"/>
            <a:chOff x="1004332" y="1706411"/>
            <a:chExt cx="702436" cy="865339"/>
          </a:xfrm>
        </p:grpSpPr>
        <p:sp>
          <p:nvSpPr>
            <p:cNvPr id="19" name="직사각형 18"/>
            <p:cNvSpPr/>
            <p:nvPr/>
          </p:nvSpPr>
          <p:spPr>
            <a:xfrm>
              <a:off x="1043608" y="1995686"/>
              <a:ext cx="623884" cy="576064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b="1" dirty="0"/>
                <a:t>7</a:t>
              </a:r>
              <a:endParaRPr lang="ko-KR" altLang="en-US" sz="2000" b="1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004332" y="1706411"/>
              <a:ext cx="70243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변수 </a:t>
              </a:r>
              <a:r>
                <a:rPr lang="en-US" altLang="ko-KR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y</a:t>
              </a:r>
              <a:endPara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endParaRP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4332234" y="197691"/>
            <a:ext cx="35340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임시 저장 공간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(temp)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를 사용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   </a:t>
            </a:r>
            <a:endParaRPr lang="ko-KR" altLang="en-US" sz="1600" b="1" dirty="0">
              <a:solidFill>
                <a:srgbClr val="FF0000"/>
              </a:solidFill>
              <a:latin typeface="+mn-ea"/>
            </a:endParaRPr>
          </a:p>
        </p:txBody>
      </p: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2C1C8C64-6EA9-88B7-75E9-56EE975B9ACB}"/>
              </a:ext>
            </a:extLst>
          </p:cNvPr>
          <p:cNvGrpSpPr/>
          <p:nvPr/>
        </p:nvGrpSpPr>
        <p:grpSpPr>
          <a:xfrm>
            <a:off x="4661930" y="617498"/>
            <a:ext cx="3530599" cy="883841"/>
            <a:chOff x="4661930" y="774198"/>
            <a:chExt cx="3530599" cy="883841"/>
          </a:xfrm>
        </p:grpSpPr>
        <p:grpSp>
          <p:nvGrpSpPr>
            <p:cNvPr id="22" name="그룹 21"/>
            <p:cNvGrpSpPr/>
            <p:nvPr/>
          </p:nvGrpSpPr>
          <p:grpSpPr>
            <a:xfrm>
              <a:off x="6250355" y="783449"/>
              <a:ext cx="702436" cy="865339"/>
              <a:chOff x="1004332" y="1706411"/>
              <a:chExt cx="702436" cy="865339"/>
            </a:xfrm>
          </p:grpSpPr>
          <p:sp>
            <p:nvSpPr>
              <p:cNvPr id="23" name="직사각형 22"/>
              <p:cNvSpPr/>
              <p:nvPr/>
            </p:nvSpPr>
            <p:spPr>
              <a:xfrm>
                <a:off x="1043608" y="1995686"/>
                <a:ext cx="623884" cy="576064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2000" b="1" dirty="0"/>
                  <a:t>2</a:t>
                </a:r>
                <a:endParaRPr lang="ko-KR" altLang="en-US" sz="2000" b="1" dirty="0"/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1004332" y="1706411"/>
                <a:ext cx="70243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4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ea"/>
                  </a:rPr>
                  <a:t>변수 </a:t>
                </a:r>
                <a:r>
                  <a:rPr lang="en-US" altLang="ko-KR" sz="14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ea"/>
                  </a:rPr>
                  <a:t>x</a:t>
                </a:r>
                <a:endPara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endParaRPr>
              </a:p>
            </p:txBody>
          </p:sp>
        </p:grpSp>
        <p:grpSp>
          <p:nvGrpSpPr>
            <p:cNvPr id="25" name="그룹 24"/>
            <p:cNvGrpSpPr/>
            <p:nvPr/>
          </p:nvGrpSpPr>
          <p:grpSpPr>
            <a:xfrm>
              <a:off x="7490093" y="783449"/>
              <a:ext cx="702436" cy="865339"/>
              <a:chOff x="1004332" y="1706411"/>
              <a:chExt cx="702436" cy="865339"/>
            </a:xfrm>
          </p:grpSpPr>
          <p:sp>
            <p:nvSpPr>
              <p:cNvPr id="26" name="직사각형 25"/>
              <p:cNvSpPr/>
              <p:nvPr/>
            </p:nvSpPr>
            <p:spPr>
              <a:xfrm>
                <a:off x="1043608" y="1995686"/>
                <a:ext cx="623884" cy="576064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2000" b="1" dirty="0"/>
                  <a:t>7</a:t>
                </a:r>
                <a:endParaRPr lang="ko-KR" altLang="en-US" sz="2000" b="1" dirty="0"/>
              </a:p>
            </p:txBody>
          </p:sp>
          <p:sp>
            <p:nvSpPr>
              <p:cNvPr id="27" name="TextBox 26"/>
              <p:cNvSpPr txBox="1"/>
              <p:nvPr/>
            </p:nvSpPr>
            <p:spPr>
              <a:xfrm>
                <a:off x="1004332" y="1706411"/>
                <a:ext cx="70243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4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ea"/>
                  </a:rPr>
                  <a:t>변수 </a:t>
                </a:r>
                <a:r>
                  <a:rPr lang="en-US" altLang="ko-KR" sz="14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ea"/>
                  </a:rPr>
                  <a:t>y</a:t>
                </a:r>
                <a:endPara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endParaRPr>
              </a:p>
            </p:txBody>
          </p:sp>
        </p:grpSp>
        <p:grpSp>
          <p:nvGrpSpPr>
            <p:cNvPr id="28" name="그룹 27"/>
            <p:cNvGrpSpPr/>
            <p:nvPr/>
          </p:nvGrpSpPr>
          <p:grpSpPr>
            <a:xfrm>
              <a:off x="4661930" y="774198"/>
              <a:ext cx="1051122" cy="883841"/>
              <a:chOff x="829989" y="1687909"/>
              <a:chExt cx="1051122" cy="883841"/>
            </a:xfrm>
          </p:grpSpPr>
          <p:sp>
            <p:nvSpPr>
              <p:cNvPr id="29" name="직사각형 28"/>
              <p:cNvSpPr/>
              <p:nvPr/>
            </p:nvSpPr>
            <p:spPr>
              <a:xfrm>
                <a:off x="1043608" y="1995686"/>
                <a:ext cx="623884" cy="576064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2000" b="1" dirty="0"/>
                  <a:t>2</a:t>
                </a:r>
                <a:endParaRPr lang="ko-KR" altLang="en-US" sz="2000" b="1" dirty="0"/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829989" y="1687909"/>
                <a:ext cx="105112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4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ea"/>
                  </a:rPr>
                  <a:t>변수 </a:t>
                </a:r>
                <a:r>
                  <a:rPr lang="en-US" altLang="ko-KR" sz="14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ea"/>
                  </a:rPr>
                  <a:t>temp</a:t>
                </a:r>
                <a:endPara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endParaRPr>
              </a:p>
            </p:txBody>
          </p:sp>
        </p:grpSp>
        <p:sp>
          <p:nvSpPr>
            <p:cNvPr id="67" name="오른쪽 화살표 66"/>
            <p:cNvSpPr/>
            <p:nvPr/>
          </p:nvSpPr>
          <p:spPr>
            <a:xfrm rot="10800000" flipV="1">
              <a:off x="5574588" y="1319928"/>
              <a:ext cx="540699" cy="170489"/>
            </a:xfrm>
            <a:prstGeom prst="rightArrow">
              <a:avLst/>
            </a:prstGeom>
            <a:solidFill>
              <a:srgbClr val="FE4E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6" name="오른쪽 화살표 75"/>
          <p:cNvSpPr/>
          <p:nvPr/>
        </p:nvSpPr>
        <p:spPr>
          <a:xfrm rot="10800000">
            <a:off x="1914253" y="4163091"/>
            <a:ext cx="540699" cy="154273"/>
          </a:xfrm>
          <a:prstGeom prst="rightArrow">
            <a:avLst/>
          </a:prstGeom>
          <a:solidFill>
            <a:srgbClr val="FE4E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왼쪽/오른쪽 화살표 77"/>
          <p:cNvSpPr/>
          <p:nvPr/>
        </p:nvSpPr>
        <p:spPr>
          <a:xfrm>
            <a:off x="1854030" y="1950537"/>
            <a:ext cx="685980" cy="196219"/>
          </a:xfrm>
          <a:prstGeom prst="leftRightArrow">
            <a:avLst>
              <a:gd name="adj1" fmla="val 35551"/>
              <a:gd name="adj2" fmla="val 50000"/>
            </a:avLst>
          </a:prstGeom>
          <a:solidFill>
            <a:srgbClr val="FE4E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278E4B-6F24-4711-5D3B-1AC22D0001F3}"/>
              </a:ext>
            </a:extLst>
          </p:cNvPr>
          <p:cNvSpPr txBox="1"/>
          <p:nvPr/>
        </p:nvSpPr>
        <p:spPr>
          <a:xfrm>
            <a:off x="4904518" y="4044337"/>
            <a:ext cx="3094393" cy="830997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+mn-ea"/>
              </a:rPr>
              <a:t>temp = x;</a:t>
            </a:r>
          </a:p>
          <a:p>
            <a:r>
              <a:rPr lang="en-US" altLang="ko-KR" sz="1600" b="1" dirty="0">
                <a:latin typeface="+mn-ea"/>
              </a:rPr>
              <a:t>x = y;</a:t>
            </a:r>
          </a:p>
          <a:p>
            <a:r>
              <a:rPr lang="en-US" altLang="ko-KR" sz="1600" b="1" dirty="0">
                <a:latin typeface="+mn-ea"/>
              </a:rPr>
              <a:t>y = temp;</a:t>
            </a:r>
            <a:endParaRPr lang="ko-KR" altLang="en-US" sz="1600" b="1" dirty="0">
              <a:latin typeface="+mn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7C18928-0E09-37EE-AB89-062A0E7ADC5E}"/>
              </a:ext>
            </a:extLst>
          </p:cNvPr>
          <p:cNvSpPr txBox="1"/>
          <p:nvPr/>
        </p:nvSpPr>
        <p:spPr>
          <a:xfrm>
            <a:off x="4016916" y="843558"/>
            <a:ext cx="739305" cy="38164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ea"/>
              <a:buAutoNum type="circleNumDbPlain"/>
            </a:pPr>
            <a:r>
              <a:rPr kumimoji="1" lang="ko-KR" altLang="en-US" sz="3200" b="1" dirty="0"/>
              <a:t> </a:t>
            </a:r>
            <a:endParaRPr kumimoji="1" lang="en-US" altLang="ko-KR" sz="3200" b="1" dirty="0"/>
          </a:p>
          <a:p>
            <a:pPr marL="342900" indent="-342900">
              <a:buFont typeface="+mj-ea"/>
              <a:buAutoNum type="circleNumDbPlain"/>
            </a:pPr>
            <a:endParaRPr kumimoji="1" lang="en-US" altLang="ko-KR" sz="3200" b="1" dirty="0"/>
          </a:p>
          <a:p>
            <a:pPr marL="342900" indent="-342900">
              <a:buFont typeface="+mj-ea"/>
              <a:buAutoNum type="circleNumDbPlain"/>
            </a:pPr>
            <a:r>
              <a:rPr kumimoji="1" lang="ko-KR" altLang="en-US" sz="3200" b="1" dirty="0"/>
              <a:t> </a:t>
            </a:r>
            <a:endParaRPr kumimoji="1" lang="en-US" altLang="ko-KR" sz="3200" b="1" dirty="0"/>
          </a:p>
          <a:p>
            <a:pPr marL="342900" indent="-342900">
              <a:buFont typeface="+mj-ea"/>
              <a:buAutoNum type="circleNumDbPlain"/>
            </a:pPr>
            <a:endParaRPr kumimoji="1" lang="en-US" altLang="ko-KR" sz="3200" b="1" dirty="0"/>
          </a:p>
          <a:p>
            <a:pPr marL="342900" indent="-342900">
              <a:buFont typeface="+mj-ea"/>
              <a:buAutoNum type="circleNumDbPlain"/>
            </a:pPr>
            <a:r>
              <a:rPr kumimoji="1" lang="ko-KR" altLang="en-US" sz="3200" b="1" dirty="0"/>
              <a:t> </a:t>
            </a:r>
            <a:endParaRPr kumimoji="1" lang="en-US" altLang="ko-KR" sz="3200" b="1" dirty="0"/>
          </a:p>
          <a:p>
            <a:pPr marL="342900" indent="-342900">
              <a:buFont typeface="+mj-ea"/>
              <a:buAutoNum type="circleNumDbPlain"/>
            </a:pPr>
            <a:endParaRPr kumimoji="1" lang="en-US" altLang="ko-KR" sz="3200" b="1" dirty="0"/>
          </a:p>
          <a:p>
            <a:endParaRPr kumimoji="1" lang="en-US" altLang="ko-KR" sz="3200" b="1" dirty="0"/>
          </a:p>
          <a:p>
            <a:r>
              <a:rPr kumimoji="1" lang="ko-KR" altLang="en-US" b="1" dirty="0"/>
              <a:t>코드</a:t>
            </a:r>
            <a:endParaRPr kumimoji="1" lang="en-US" altLang="ko-KR" b="1" dirty="0"/>
          </a:p>
        </p:txBody>
      </p: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6F604E9E-2A70-DE31-1227-3FED80FB70C9}"/>
              </a:ext>
            </a:extLst>
          </p:cNvPr>
          <p:cNvGrpSpPr/>
          <p:nvPr/>
        </p:nvGrpSpPr>
        <p:grpSpPr>
          <a:xfrm>
            <a:off x="4661930" y="1702636"/>
            <a:ext cx="3530599" cy="883841"/>
            <a:chOff x="4661930" y="1988931"/>
            <a:chExt cx="3530599" cy="883841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E8F9E60A-A6E0-6616-01DD-13EEDE678012}"/>
                </a:ext>
              </a:extLst>
            </p:cNvPr>
            <p:cNvGrpSpPr/>
            <p:nvPr/>
          </p:nvGrpSpPr>
          <p:grpSpPr>
            <a:xfrm>
              <a:off x="6250355" y="1998182"/>
              <a:ext cx="702436" cy="865339"/>
              <a:chOff x="1004332" y="1706411"/>
              <a:chExt cx="702436" cy="865339"/>
            </a:xfrm>
          </p:grpSpPr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C9F56741-974B-7E8E-3050-35A1999DEAF0}"/>
                  </a:ext>
                </a:extLst>
              </p:cNvPr>
              <p:cNvSpPr/>
              <p:nvPr/>
            </p:nvSpPr>
            <p:spPr>
              <a:xfrm>
                <a:off x="1043608" y="1995686"/>
                <a:ext cx="623884" cy="576064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2000" b="1" dirty="0"/>
                  <a:t>7</a:t>
                </a:r>
                <a:endParaRPr lang="ko-KR" altLang="en-US" sz="2000" b="1" dirty="0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21EADBF-EA82-563F-83D6-1D98F27830BC}"/>
                  </a:ext>
                </a:extLst>
              </p:cNvPr>
              <p:cNvSpPr txBox="1"/>
              <p:nvPr/>
            </p:nvSpPr>
            <p:spPr>
              <a:xfrm>
                <a:off x="1004332" y="1706411"/>
                <a:ext cx="70243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4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ea"/>
                  </a:rPr>
                  <a:t>변수 </a:t>
                </a:r>
                <a:r>
                  <a:rPr lang="en-US" altLang="ko-KR" sz="14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ea"/>
                  </a:rPr>
                  <a:t>x</a:t>
                </a:r>
                <a:endPara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endParaRPr>
              </a:p>
            </p:txBody>
          </p:sp>
        </p:grpSp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9934434C-ED58-D065-F551-86858126F79D}"/>
                </a:ext>
              </a:extLst>
            </p:cNvPr>
            <p:cNvGrpSpPr/>
            <p:nvPr/>
          </p:nvGrpSpPr>
          <p:grpSpPr>
            <a:xfrm>
              <a:off x="7490093" y="1998182"/>
              <a:ext cx="702436" cy="865339"/>
              <a:chOff x="1004332" y="1706411"/>
              <a:chExt cx="702436" cy="865339"/>
            </a:xfrm>
          </p:grpSpPr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8DB3A410-2B33-B2B1-3C99-F8E22247D6F0}"/>
                  </a:ext>
                </a:extLst>
              </p:cNvPr>
              <p:cNvSpPr/>
              <p:nvPr/>
            </p:nvSpPr>
            <p:spPr>
              <a:xfrm>
                <a:off x="1043608" y="1995686"/>
                <a:ext cx="623884" cy="576064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2000" b="1" dirty="0"/>
                  <a:t>7</a:t>
                </a:r>
                <a:endParaRPr lang="ko-KR" altLang="en-US" sz="2000" b="1" dirty="0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6959127-E04A-6BDC-A8C8-6F7F4242EC33}"/>
                  </a:ext>
                </a:extLst>
              </p:cNvPr>
              <p:cNvSpPr txBox="1"/>
              <p:nvPr/>
            </p:nvSpPr>
            <p:spPr>
              <a:xfrm>
                <a:off x="1004332" y="1706411"/>
                <a:ext cx="70243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4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ea"/>
                  </a:rPr>
                  <a:t>변수 </a:t>
                </a:r>
                <a:r>
                  <a:rPr lang="en-US" altLang="ko-KR" sz="14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ea"/>
                  </a:rPr>
                  <a:t>y</a:t>
                </a:r>
                <a:endPara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endParaRPr>
              </a:p>
            </p:txBody>
          </p:sp>
        </p:grpSp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2BF6D655-4EAE-01C8-5794-632E70E2FEDB}"/>
                </a:ext>
              </a:extLst>
            </p:cNvPr>
            <p:cNvGrpSpPr/>
            <p:nvPr/>
          </p:nvGrpSpPr>
          <p:grpSpPr>
            <a:xfrm>
              <a:off x="4661930" y="1988931"/>
              <a:ext cx="1051122" cy="883841"/>
              <a:chOff x="829989" y="1687909"/>
              <a:chExt cx="1051122" cy="883841"/>
            </a:xfrm>
          </p:grpSpPr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493E8B6E-D131-566C-2C92-6483C13DD94B}"/>
                  </a:ext>
                </a:extLst>
              </p:cNvPr>
              <p:cNvSpPr/>
              <p:nvPr/>
            </p:nvSpPr>
            <p:spPr>
              <a:xfrm>
                <a:off x="1043608" y="1995686"/>
                <a:ext cx="623884" cy="576064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2000" b="1" dirty="0"/>
                  <a:t>2</a:t>
                </a:r>
                <a:endParaRPr lang="ko-KR" altLang="en-US" sz="2000" b="1" dirty="0"/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AB75074-E5AA-6FD5-4693-C667530A61F5}"/>
                  </a:ext>
                </a:extLst>
              </p:cNvPr>
              <p:cNvSpPr txBox="1"/>
              <p:nvPr/>
            </p:nvSpPr>
            <p:spPr>
              <a:xfrm>
                <a:off x="829989" y="1687909"/>
                <a:ext cx="105112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4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ea"/>
                  </a:rPr>
                  <a:t>변수 </a:t>
                </a:r>
                <a:r>
                  <a:rPr lang="en-US" altLang="ko-KR" sz="14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ea"/>
                  </a:rPr>
                  <a:t>temp</a:t>
                </a:r>
                <a:endPara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endParaRPr>
              </a:p>
            </p:txBody>
          </p:sp>
        </p:grpSp>
        <p:sp>
          <p:nvSpPr>
            <p:cNvPr id="41" name="오른쪽 화살표 66">
              <a:extLst>
                <a:ext uri="{FF2B5EF4-FFF2-40B4-BE49-F238E27FC236}">
                  <a16:creationId xmlns:a16="http://schemas.microsoft.com/office/drawing/2014/main" id="{7842CF1C-55CC-942C-52C0-DD749FA41060}"/>
                </a:ext>
              </a:extLst>
            </p:cNvPr>
            <p:cNvSpPr/>
            <p:nvPr/>
          </p:nvSpPr>
          <p:spPr>
            <a:xfrm rot="10800000" flipV="1">
              <a:off x="6951092" y="2519553"/>
              <a:ext cx="540699" cy="170489"/>
            </a:xfrm>
            <a:prstGeom prst="rightArrow">
              <a:avLst/>
            </a:prstGeom>
            <a:solidFill>
              <a:srgbClr val="FE4E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FD90865D-1089-9126-6F76-84974812FF2E}"/>
              </a:ext>
            </a:extLst>
          </p:cNvPr>
          <p:cNvGrpSpPr/>
          <p:nvPr/>
        </p:nvGrpSpPr>
        <p:grpSpPr>
          <a:xfrm>
            <a:off x="4661930" y="2787774"/>
            <a:ext cx="3530599" cy="883841"/>
            <a:chOff x="4701206" y="3140753"/>
            <a:chExt cx="3530599" cy="883841"/>
          </a:xfrm>
        </p:grpSpPr>
        <p:grpSp>
          <p:nvGrpSpPr>
            <p:cNvPr id="90" name="그룹 89">
              <a:extLst>
                <a:ext uri="{FF2B5EF4-FFF2-40B4-BE49-F238E27FC236}">
                  <a16:creationId xmlns:a16="http://schemas.microsoft.com/office/drawing/2014/main" id="{F2E780FF-484C-D198-038A-316CF0750D01}"/>
                </a:ext>
              </a:extLst>
            </p:cNvPr>
            <p:cNvGrpSpPr/>
            <p:nvPr/>
          </p:nvGrpSpPr>
          <p:grpSpPr>
            <a:xfrm>
              <a:off x="4701206" y="3140753"/>
              <a:ext cx="3530599" cy="883841"/>
              <a:chOff x="4701206" y="3140753"/>
              <a:chExt cx="3530599" cy="883841"/>
            </a:xfrm>
          </p:grpSpPr>
          <p:grpSp>
            <p:nvGrpSpPr>
              <p:cNvPr id="80" name="그룹 79">
                <a:extLst>
                  <a:ext uri="{FF2B5EF4-FFF2-40B4-BE49-F238E27FC236}">
                    <a16:creationId xmlns:a16="http://schemas.microsoft.com/office/drawing/2014/main" id="{E2A02ED7-9888-B5C9-7F99-E1833483CBFF}"/>
                  </a:ext>
                </a:extLst>
              </p:cNvPr>
              <p:cNvGrpSpPr/>
              <p:nvPr/>
            </p:nvGrpSpPr>
            <p:grpSpPr>
              <a:xfrm>
                <a:off x="6289631" y="3150004"/>
                <a:ext cx="702436" cy="865339"/>
                <a:chOff x="1004332" y="1706411"/>
                <a:chExt cx="702436" cy="865339"/>
              </a:xfrm>
            </p:grpSpPr>
            <p:sp>
              <p:nvSpPr>
                <p:cNvPr id="81" name="직사각형 80">
                  <a:extLst>
                    <a:ext uri="{FF2B5EF4-FFF2-40B4-BE49-F238E27FC236}">
                      <a16:creationId xmlns:a16="http://schemas.microsoft.com/office/drawing/2014/main" id="{1B31DA47-AFD0-EC26-5B00-3F8BE706CBE1}"/>
                    </a:ext>
                  </a:extLst>
                </p:cNvPr>
                <p:cNvSpPr/>
                <p:nvPr/>
              </p:nvSpPr>
              <p:spPr>
                <a:xfrm>
                  <a:off x="1043608" y="1995686"/>
                  <a:ext cx="623884" cy="576064"/>
                </a:xfrm>
                <a:prstGeom prst="rect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noFill/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2000" b="1" dirty="0"/>
                    <a:t>7</a:t>
                  </a:r>
                  <a:endParaRPr lang="ko-KR" altLang="en-US" sz="2000" b="1" dirty="0"/>
                </a:p>
              </p:txBody>
            </p:sp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08B36FA7-F70B-1B72-DCBD-66840EA6A6DE}"/>
                    </a:ext>
                  </a:extLst>
                </p:cNvPr>
                <p:cNvSpPr txBox="1"/>
                <p:nvPr/>
              </p:nvSpPr>
              <p:spPr>
                <a:xfrm>
                  <a:off x="1004332" y="1706411"/>
                  <a:ext cx="70243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400" b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ea"/>
                    </a:rPr>
                    <a:t>변수 </a:t>
                  </a:r>
                  <a:r>
                    <a:rPr lang="en-US" altLang="ko-KR" sz="1400" b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ea"/>
                    </a:rPr>
                    <a:t>x</a:t>
                  </a:r>
                  <a:endParaRPr lang="ko-KR" altLang="en-US" sz="14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ea"/>
                  </a:endParaRPr>
                </a:p>
              </p:txBody>
            </p:sp>
          </p:grpSp>
          <p:grpSp>
            <p:nvGrpSpPr>
              <p:cNvPr id="83" name="그룹 82">
                <a:extLst>
                  <a:ext uri="{FF2B5EF4-FFF2-40B4-BE49-F238E27FC236}">
                    <a16:creationId xmlns:a16="http://schemas.microsoft.com/office/drawing/2014/main" id="{EDC86DB3-131D-729F-A6A3-F039AF5784B4}"/>
                  </a:ext>
                </a:extLst>
              </p:cNvPr>
              <p:cNvGrpSpPr/>
              <p:nvPr/>
            </p:nvGrpSpPr>
            <p:grpSpPr>
              <a:xfrm>
                <a:off x="7529369" y="3150004"/>
                <a:ext cx="702436" cy="865339"/>
                <a:chOff x="1004332" y="1706411"/>
                <a:chExt cx="702436" cy="865339"/>
              </a:xfrm>
            </p:grpSpPr>
            <p:sp>
              <p:nvSpPr>
                <p:cNvPr id="84" name="직사각형 83">
                  <a:extLst>
                    <a:ext uri="{FF2B5EF4-FFF2-40B4-BE49-F238E27FC236}">
                      <a16:creationId xmlns:a16="http://schemas.microsoft.com/office/drawing/2014/main" id="{171F9612-9308-42A3-F71B-A53B0AE2D7B5}"/>
                    </a:ext>
                  </a:extLst>
                </p:cNvPr>
                <p:cNvSpPr/>
                <p:nvPr/>
              </p:nvSpPr>
              <p:spPr>
                <a:xfrm>
                  <a:off x="1043608" y="1995686"/>
                  <a:ext cx="623884" cy="576064"/>
                </a:xfrm>
                <a:prstGeom prst="rect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noFill/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2000" b="1" dirty="0"/>
                    <a:t>7</a:t>
                  </a:r>
                  <a:endParaRPr lang="ko-KR" altLang="en-US" sz="2000" b="1" dirty="0"/>
                </a:p>
              </p:txBody>
            </p:sp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4251F4C5-FBBA-F561-4103-0BB6E476E67E}"/>
                    </a:ext>
                  </a:extLst>
                </p:cNvPr>
                <p:cNvSpPr txBox="1"/>
                <p:nvPr/>
              </p:nvSpPr>
              <p:spPr>
                <a:xfrm>
                  <a:off x="1004332" y="1706411"/>
                  <a:ext cx="70243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400" b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ea"/>
                    </a:rPr>
                    <a:t>변수 </a:t>
                  </a:r>
                  <a:r>
                    <a:rPr lang="en-US" altLang="ko-KR" sz="1400" b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ea"/>
                    </a:rPr>
                    <a:t>y</a:t>
                  </a:r>
                  <a:endParaRPr lang="ko-KR" altLang="en-US" sz="14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ea"/>
                  </a:endParaRPr>
                </a:p>
              </p:txBody>
            </p:sp>
          </p:grpSp>
          <p:grpSp>
            <p:nvGrpSpPr>
              <p:cNvPr id="86" name="그룹 85">
                <a:extLst>
                  <a:ext uri="{FF2B5EF4-FFF2-40B4-BE49-F238E27FC236}">
                    <a16:creationId xmlns:a16="http://schemas.microsoft.com/office/drawing/2014/main" id="{AC91D199-E745-AFC6-B28C-CA309E698847}"/>
                  </a:ext>
                </a:extLst>
              </p:cNvPr>
              <p:cNvGrpSpPr/>
              <p:nvPr/>
            </p:nvGrpSpPr>
            <p:grpSpPr>
              <a:xfrm>
                <a:off x="4701206" y="3140753"/>
                <a:ext cx="1051122" cy="883841"/>
                <a:chOff x="829989" y="1687909"/>
                <a:chExt cx="1051122" cy="883841"/>
              </a:xfrm>
            </p:grpSpPr>
            <p:sp>
              <p:nvSpPr>
                <p:cNvPr id="87" name="직사각형 86">
                  <a:extLst>
                    <a:ext uri="{FF2B5EF4-FFF2-40B4-BE49-F238E27FC236}">
                      <a16:creationId xmlns:a16="http://schemas.microsoft.com/office/drawing/2014/main" id="{445FDDCC-3ADE-9831-9F37-0DC4CDC2FF85}"/>
                    </a:ext>
                  </a:extLst>
                </p:cNvPr>
                <p:cNvSpPr/>
                <p:nvPr/>
              </p:nvSpPr>
              <p:spPr>
                <a:xfrm>
                  <a:off x="1043608" y="1995686"/>
                  <a:ext cx="623884" cy="576064"/>
                </a:xfrm>
                <a:prstGeom prst="rect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noFill/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2000" b="1" dirty="0"/>
                    <a:t>2</a:t>
                  </a:r>
                  <a:endParaRPr lang="ko-KR" altLang="en-US" sz="2000" b="1" dirty="0"/>
                </a:p>
              </p:txBody>
            </p:sp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FD88E3B2-F02C-263A-6B86-1FB5F1C770FE}"/>
                    </a:ext>
                  </a:extLst>
                </p:cNvPr>
                <p:cNvSpPr txBox="1"/>
                <p:nvPr/>
              </p:nvSpPr>
              <p:spPr>
                <a:xfrm>
                  <a:off x="829989" y="1687909"/>
                  <a:ext cx="105112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400" b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ea"/>
                    </a:rPr>
                    <a:t>변수 </a:t>
                  </a:r>
                  <a:r>
                    <a:rPr lang="en-US" altLang="ko-KR" sz="1400" b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ea"/>
                    </a:rPr>
                    <a:t>temp</a:t>
                  </a:r>
                  <a:endParaRPr lang="ko-KR" altLang="en-US" sz="14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ea"/>
                  </a:endParaRPr>
                </a:p>
              </p:txBody>
            </p:sp>
          </p:grpSp>
        </p:grpSp>
        <p:cxnSp>
          <p:nvCxnSpPr>
            <p:cNvPr id="94" name="꺾인 연결선[E] 93">
              <a:extLst>
                <a:ext uri="{FF2B5EF4-FFF2-40B4-BE49-F238E27FC236}">
                  <a16:creationId xmlns:a16="http://schemas.microsoft.com/office/drawing/2014/main" id="{3D77E31B-6AED-401E-0AC4-5501A0735878}"/>
                </a:ext>
              </a:extLst>
            </p:cNvPr>
            <p:cNvCxnSpPr>
              <a:stCxn id="87" idx="2"/>
              <a:endCxn id="84" idx="2"/>
            </p:cNvCxnSpPr>
            <p:nvPr/>
          </p:nvCxnSpPr>
          <p:spPr>
            <a:xfrm rot="5400000" flipH="1" flipV="1">
              <a:off x="6549051" y="2693059"/>
              <a:ext cx="9251" cy="2653820"/>
            </a:xfrm>
            <a:prstGeom prst="bentConnector3">
              <a:avLst>
                <a:gd name="adj1" fmla="val -2471084"/>
              </a:avLst>
            </a:prstGeom>
            <a:ln w="57150">
              <a:solidFill>
                <a:srgbClr val="FE4E5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735398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4686" y="44411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임시저장공간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5576" y="987574"/>
            <a:ext cx="8136904" cy="783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두 변수 자리 바꾸기</a:t>
            </a:r>
            <a:endParaRPr lang="en-US" altLang="ko-KR" sz="16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두 개의 정수를 입력 받아 저장하고 두 변수 값의 자리를 바꾸어 </a:t>
            </a:r>
            <a:r>
              <a:rPr lang="ko-KR" altLang="en-US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출력하시오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2D4A812-0F30-EB55-0242-E7F28E6BF8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1976995"/>
            <a:ext cx="1663700" cy="3302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F882504-839E-A23A-BE18-94C12E99B1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5686" y="2424053"/>
            <a:ext cx="1663700" cy="3302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FFBD32A-A063-2E3F-5B57-7062C525C9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7824" y="378677"/>
            <a:ext cx="5513612" cy="36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695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4686" y="44411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임시저장공간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5576" y="987574"/>
            <a:ext cx="8136904" cy="783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두 변수 자리 바꾸기</a:t>
            </a:r>
            <a:endParaRPr lang="en-US" altLang="ko-KR" sz="16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두 개의 문자를 입력 받아 저장하고 두 변수 값의 자리를 바꾸어 </a:t>
            </a:r>
            <a:r>
              <a:rPr lang="ko-KR" altLang="en-US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출력하시오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4BD5FC3-D5FB-2C82-24F2-247062CCC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1945062"/>
            <a:ext cx="1663700" cy="3302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6A335AE-C19D-5C9E-C053-70C6644646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7345" y="2406650"/>
            <a:ext cx="2489200" cy="3302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FFBD32A-A063-2E3F-5B57-7062C525C9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9356" y="421421"/>
            <a:ext cx="5513612" cy="36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516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4686" y="44411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임시저장공간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5576" y="987574"/>
            <a:ext cx="8136904" cy="1152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두 변수 자리 바꾸기</a:t>
            </a:r>
            <a:endParaRPr lang="en-US" altLang="ko-KR" sz="16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변수 </a:t>
            </a:r>
            <a:r>
              <a:rPr lang="en-US" altLang="ko-KR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x,y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에 정수를 입력 받아 저장하고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x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에는 큰 수 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y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에는 작은 수가 </a:t>
            </a:r>
            <a:r>
              <a:rPr lang="ko-KR" altLang="en-US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저장되어있도록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자리를 바꾸어 </a:t>
            </a:r>
            <a:r>
              <a:rPr lang="ko-KR" altLang="en-US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출력하시오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.</a:t>
            </a:r>
            <a:endParaRPr lang="ko-KR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BC223E0-DEF2-74B6-DB13-D2F6702754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2406650"/>
            <a:ext cx="1828800" cy="3302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3B6A6A7-3B53-F1D1-584C-94D800B9C1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664" y="2838138"/>
            <a:ext cx="1828800" cy="3302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56A4AD3-4353-DBAD-4EAA-A850CE17FC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7984" y="2838138"/>
            <a:ext cx="1828800" cy="3302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8C8DFC3-B913-59B6-67F6-A1904C11EE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7984" y="2406650"/>
            <a:ext cx="1828800" cy="3302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FFBD32A-A063-2E3F-5B57-7062C525C9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5702" y="444110"/>
            <a:ext cx="5513612" cy="36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264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4686" y="444110"/>
            <a:ext cx="886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If 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예제</a:t>
            </a:r>
            <a:endParaRPr lang="en-US" altLang="ko-KR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7C866B-22FB-944E-91C5-BDB42DCD6844}"/>
              </a:ext>
            </a:extLst>
          </p:cNvPr>
          <p:cNvSpPr txBox="1"/>
          <p:nvPr/>
        </p:nvSpPr>
        <p:spPr>
          <a:xfrm>
            <a:off x="611561" y="915566"/>
            <a:ext cx="80648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두 개의 정수를 </a:t>
            </a:r>
            <a:r>
              <a:rPr lang="ko-KR" altLang="en-US" sz="1600" dirty="0" err="1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입력받아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큰 수에서 작은 수를 뺀 차를 출력하는 프로그램을 작성하시오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.  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733177E-F0A3-7A83-CAE8-43304D34B9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076" y="1923678"/>
            <a:ext cx="2438400" cy="3937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98BEBC00-B9EB-896E-D533-CBBEB6CF5B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076" y="2432423"/>
            <a:ext cx="2438400" cy="3937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AAFD6D1-1516-463D-EB1C-EC77F8E54E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216" y="2970469"/>
            <a:ext cx="2705100" cy="3048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ACB55DE-2187-C4DB-47DB-50A1AF03AA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8326" y="2445123"/>
            <a:ext cx="2705100" cy="381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E54DFA3-9D70-98B1-654F-345AF081CD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8326" y="1923678"/>
            <a:ext cx="2438400" cy="3937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EF91C5A-8708-460C-92E2-51545DDA76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6466" y="2970469"/>
            <a:ext cx="2705100" cy="3048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BFFBD32A-A063-2E3F-5B57-7062C525C9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8423" y="431189"/>
            <a:ext cx="5513612" cy="36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1118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2"/>
          <a:srcRect b="91659"/>
          <a:stretch/>
        </p:blipFill>
        <p:spPr>
          <a:xfrm>
            <a:off x="611560" y="915566"/>
            <a:ext cx="6912768" cy="360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7584" y="1275606"/>
            <a:ext cx="31309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+mn-ea"/>
              </a:rPr>
              <a:t>( </a:t>
            </a:r>
            <a:r>
              <a:rPr lang="ko-KR" altLang="en-US" sz="1400" b="1" dirty="0">
                <a:latin typeface="+mn-ea"/>
              </a:rPr>
              <a:t>단</a:t>
            </a:r>
            <a:r>
              <a:rPr lang="en-US" altLang="ko-KR" sz="1400" b="1" dirty="0">
                <a:latin typeface="+mn-ea"/>
              </a:rPr>
              <a:t>, </a:t>
            </a:r>
            <a:r>
              <a:rPr lang="ko-KR" altLang="en-US" sz="1400" b="1" dirty="0">
                <a:latin typeface="+mn-ea"/>
              </a:rPr>
              <a:t>다음과 같은 형태로 구문 작성 </a:t>
            </a:r>
            <a:r>
              <a:rPr lang="en-US" altLang="ko-KR" sz="1400" b="1" dirty="0">
                <a:latin typeface="+mn-ea"/>
              </a:rPr>
              <a:t>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4686" y="444110"/>
            <a:ext cx="8499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If 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예제</a:t>
            </a:r>
            <a:endParaRPr lang="en-US" altLang="ko-KR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6D684A9-55C2-7D12-ABDF-A10EFD0B1D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199" y="1824055"/>
            <a:ext cx="2705100" cy="3810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D4BD8DA-BCFA-E2E3-FB8D-2BB3FB96A9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642" y="2304073"/>
            <a:ext cx="2705100" cy="3937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D48B6BD-52D4-1023-0DBF-B8A7D3DB12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642" y="2792535"/>
            <a:ext cx="2705100" cy="3429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995426D-40DC-581B-EE19-D059A8E17C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824055"/>
            <a:ext cx="2705100" cy="3810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3299E44-14CB-C5C0-EA78-6964DFF83C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0066" y="2304073"/>
            <a:ext cx="2705100" cy="3429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C12DB3C-ADDA-463D-04CC-29ADFD9140D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0066" y="2792535"/>
            <a:ext cx="2705100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7194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47258" y="444110"/>
            <a:ext cx="2567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If 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예제</a:t>
            </a:r>
            <a:endParaRPr lang="en-US" altLang="ko-KR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7C866B-22FB-944E-91C5-BDB42DCD6844}"/>
              </a:ext>
            </a:extLst>
          </p:cNvPr>
          <p:cNvSpPr txBox="1"/>
          <p:nvPr/>
        </p:nvSpPr>
        <p:spPr>
          <a:xfrm>
            <a:off x="611561" y="915566"/>
            <a:ext cx="80648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주사위를 두 번 던져서 나온 수를 </a:t>
            </a:r>
            <a:r>
              <a:rPr lang="ko-KR" altLang="en-US" sz="1600" dirty="0" err="1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입력받아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두 수가 모두 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4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이상이면 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“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이겼습니다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.”.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한 개만 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4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이상이면 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“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비겼습니다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.”.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모두 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4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미만이면 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“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졌습니다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.”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r>
              <a:rPr lang="ko-KR" altLang="en-US" sz="1600" dirty="0" err="1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라고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출력하는 프로그램을 작성하시오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.</a:t>
            </a:r>
          </a:p>
          <a:p>
            <a:endParaRPr lang="ko-KR" altLang="en-US" sz="1600" dirty="0"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C95E78C-3EB5-6662-1174-FC8382981C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544" y="1801223"/>
            <a:ext cx="3200400" cy="3429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37434F33-891C-9151-F10F-E5EB8B713F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171" y="2292837"/>
            <a:ext cx="3200400" cy="3429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EE5A352-661E-695B-D972-01EBBE8320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8024" y="2309360"/>
            <a:ext cx="3200400" cy="3429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A973CA4-52C8-1A46-DA2E-CC3CFAA67A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544" y="2784451"/>
            <a:ext cx="3200400" cy="3429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BEEDDAA-E5C5-EDAD-627D-025F529CC3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9192" y="1806580"/>
            <a:ext cx="3200400" cy="3429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E1329D9-53FF-37CE-D013-A62DC3ADA4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9192" y="2797220"/>
            <a:ext cx="3200400" cy="3429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BFFBD32A-A063-2E3F-5B57-7062C525C9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65077" y="398161"/>
            <a:ext cx="5513612" cy="36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5988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4686" y="444110"/>
            <a:ext cx="8867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If 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예제</a:t>
            </a:r>
            <a:endParaRPr lang="en-US" altLang="ko-KR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 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7C866B-22FB-944E-91C5-BDB42DCD6844}"/>
              </a:ext>
            </a:extLst>
          </p:cNvPr>
          <p:cNvSpPr txBox="1"/>
          <p:nvPr/>
        </p:nvSpPr>
        <p:spPr>
          <a:xfrm>
            <a:off x="611561" y="915566"/>
            <a:ext cx="80648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두 개의 실수를 </a:t>
            </a:r>
            <a:r>
              <a:rPr lang="ko-KR" altLang="en-US" sz="1600" dirty="0" err="1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입력받아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모두 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4.0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이상이면 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“A”, 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모두 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3.0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이상이면 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“B”, 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아니면 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“C”</a:t>
            </a:r>
            <a:r>
              <a:rPr lang="ko-KR" altLang="en-US" sz="1600" dirty="0" err="1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라고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출력하는 프로그램을 작성하시오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.</a:t>
            </a:r>
            <a:endParaRPr lang="ko-KR" altLang="en-US" sz="1600" dirty="0"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2F3CC52-298A-8B84-5C7F-1852DDC067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204" y="1800347"/>
            <a:ext cx="3200400" cy="3429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549F2901-C584-6A7C-D400-F08B204978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721" y="2221599"/>
            <a:ext cx="3200400" cy="3429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F03A5AF-ED97-3D6D-569C-379C401CD4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076" y="2693055"/>
            <a:ext cx="3200400" cy="3429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8F5A7BA-F173-C884-3A70-F5E08F87F5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7183" y="337011"/>
            <a:ext cx="4468305" cy="479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7854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4686" y="444110"/>
            <a:ext cx="8499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If 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예제</a:t>
            </a:r>
            <a:endParaRPr lang="en-US" altLang="ko-KR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rcRect t="18330" b="66443"/>
          <a:stretch/>
        </p:blipFill>
        <p:spPr>
          <a:xfrm>
            <a:off x="467544" y="987574"/>
            <a:ext cx="7580685" cy="720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5576" y="1779662"/>
            <a:ext cx="489749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입력한 연도를 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4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로 나누어 떨어지면 윤년입니다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.</a:t>
            </a:r>
          </a:p>
          <a:p>
            <a:pPr marL="342900" indent="-342900">
              <a:buAutoNum type="arabicPeriod"/>
            </a:pP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입력한 연도를 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100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으로 나누어 떨어지면 평년입니다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.</a:t>
            </a:r>
          </a:p>
          <a:p>
            <a:pPr marL="342900" indent="-342900">
              <a:buAutoNum type="arabicPeriod"/>
            </a:pP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입력한 연도를 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400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으로 나누어 떨어지면 윤년입니다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.</a:t>
            </a:r>
          </a:p>
          <a:p>
            <a:pPr marL="342900" indent="-342900">
              <a:buAutoNum type="arabicPeriod"/>
            </a:pP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나마지 모든 경우는 평년입니다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.</a:t>
            </a:r>
            <a:endParaRPr lang="ko-KR" altLang="en-US" sz="1600" dirty="0"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045847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4686" y="444110"/>
            <a:ext cx="8499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If 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예제</a:t>
            </a:r>
            <a:endParaRPr lang="en-US" altLang="ko-KR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02280" y="2088681"/>
            <a:ext cx="555472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1"/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아이디 입력</a:t>
            </a:r>
            <a:endParaRPr lang="en-US" altLang="ko-KR" sz="1600" dirty="0"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  <a:p>
            <a:pPr lvl="1"/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[1]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아이디가 맞으면</a:t>
            </a:r>
            <a:endParaRPr lang="en-US" altLang="ko-KR" sz="1600" dirty="0"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  <a:p>
            <a:pPr marL="1200150" lvl="2" indent="-285750">
              <a:buFontTx/>
              <a:buChar char="-"/>
            </a:pP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비밀번호 입력</a:t>
            </a:r>
            <a:endParaRPr lang="en-US" altLang="ko-KR" sz="1600" dirty="0"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  <a:p>
            <a:pPr marL="1714500" lvl="3" indent="-342900">
              <a:buAutoNum type="arabicPeriod"/>
            </a:pP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비밀번호가 맞으면 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“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로그인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”</a:t>
            </a:r>
          </a:p>
          <a:p>
            <a:pPr marL="1714500" lvl="3" indent="-342900">
              <a:buAutoNum type="arabicPeriod"/>
            </a:pP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비밀번호가 틀리면 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“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비밀번호가 틀렸습니다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“</a:t>
            </a:r>
          </a:p>
          <a:p>
            <a:pPr lvl="1"/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[2]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아이디가 틀리면 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“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아이디가 틀렸습니다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.”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3C446C-1224-57E9-80E4-7FE242A635DC}"/>
              </a:ext>
            </a:extLst>
          </p:cNvPr>
          <p:cNvSpPr txBox="1"/>
          <p:nvPr/>
        </p:nvSpPr>
        <p:spPr>
          <a:xfrm>
            <a:off x="647564" y="910813"/>
            <a:ext cx="78488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홍길동이 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”A” 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앱에 회원가입을 했습니다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.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홍길동이 회원가입에 사용한 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ID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는 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1234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이고 비밀번호는 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5678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입니다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.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홍길동은 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“A”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앱에 로그인하려고 합니다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.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로그인 방법은 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ID</a:t>
            </a:r>
            <a:r>
              <a:rPr lang="ko-KR" altLang="en-US" sz="1600" dirty="0" err="1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를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먼저 입력하고 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ID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가 맞으면 비밀번호를 입력할 수 있습니다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.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”A”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앱의 로그인 알고리즘은 아래와 같습니다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.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로그인 프로그램을 작성해주세요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. </a:t>
            </a:r>
            <a:endParaRPr lang="ko-KR" altLang="en-US" sz="1600" dirty="0"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224157D-24CA-05B1-F26A-51B99E9C55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849" y="2825843"/>
            <a:ext cx="3200400" cy="3429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AA557A3-51FF-8119-C239-B87B23664B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7542" y="3236962"/>
            <a:ext cx="3200400" cy="3429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2F480FB-D16E-74E9-0AD8-B5ECFAB57B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849" y="3651870"/>
            <a:ext cx="3200400" cy="3429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81B7695-8CE4-94E0-5B21-B2AF9D97AB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7542" y="4101058"/>
            <a:ext cx="3200400" cy="3429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04E6C1A-CDFF-B2AA-CCFE-F5B3D20A24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87542" y="4533106"/>
            <a:ext cx="3200400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9697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4686" y="444110"/>
            <a:ext cx="8499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If 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예제</a:t>
            </a:r>
            <a:endParaRPr lang="en-US" altLang="ko-KR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29642" y="2114067"/>
            <a:ext cx="555472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1"/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아이디 입력</a:t>
            </a:r>
            <a:endParaRPr lang="en-US" altLang="ko-KR" sz="1600" dirty="0"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  <a:p>
            <a:pPr lvl="1"/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[1]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아이디가 맞으면</a:t>
            </a:r>
            <a:endParaRPr lang="en-US" altLang="ko-KR" sz="1600" dirty="0"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  <a:p>
            <a:pPr marL="1200150" lvl="2" indent="-285750">
              <a:buFontTx/>
              <a:buChar char="-"/>
            </a:pP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비밀번호 입력</a:t>
            </a:r>
            <a:endParaRPr lang="en-US" altLang="ko-KR" sz="1600" dirty="0"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  <a:p>
            <a:pPr marL="1714500" lvl="3" indent="-342900">
              <a:buAutoNum type="arabicPeriod"/>
            </a:pP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비밀번호가 맞으면 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“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로그인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”</a:t>
            </a:r>
          </a:p>
          <a:p>
            <a:pPr marL="1714500" lvl="3" indent="-342900">
              <a:buAutoNum type="arabicPeriod"/>
            </a:pP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비밀번호가 틀리면 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“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비밀번호가 틀렸습니다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“</a:t>
            </a:r>
          </a:p>
          <a:p>
            <a:pPr lvl="1"/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[2]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아이디가 틀리면 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“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아이디가 틀렸습니다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.”</a:t>
            </a:r>
          </a:p>
          <a:p>
            <a:pPr lvl="3"/>
            <a:endParaRPr lang="en-US" altLang="ko-KR" sz="1600" dirty="0"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  <a:p>
            <a:pPr lvl="3"/>
            <a:endParaRPr lang="en-US" altLang="ko-KR" sz="1600" dirty="0"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  <a:p>
            <a:r>
              <a:rPr lang="ko-KR" altLang="en-US" sz="1600" b="1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* </a:t>
            </a:r>
            <a:r>
              <a:rPr lang="en-US" altLang="ko-KR" sz="1600" b="1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[</a:t>
            </a:r>
            <a:r>
              <a:rPr lang="ko-KR" altLang="en-US" sz="1600" b="1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참고</a:t>
            </a:r>
            <a:r>
              <a:rPr lang="en-US" altLang="ko-KR" sz="1600" b="1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]</a:t>
            </a:r>
            <a:r>
              <a:rPr lang="ko-KR" altLang="en-US" sz="1600" b="1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문자열 비교 </a:t>
            </a:r>
            <a:endParaRPr lang="en-US" altLang="ko-KR" sz="1600" b="1" dirty="0">
              <a:solidFill>
                <a:srgbClr val="FF0000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3C446C-1224-57E9-80E4-7FE242A635DC}"/>
              </a:ext>
            </a:extLst>
          </p:cNvPr>
          <p:cNvSpPr txBox="1"/>
          <p:nvPr/>
        </p:nvSpPr>
        <p:spPr>
          <a:xfrm>
            <a:off x="647564" y="910813"/>
            <a:ext cx="78488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홍길동이 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”A” 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앱에 회원가입을 했습니다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.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홍길동이 회원가입에 사용한 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ID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는 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“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코딩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”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이고 비밀번호는 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5678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입니다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.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홍길동은 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“A”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앱에 로그인하려고 합니다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.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로그인 방법은 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ID</a:t>
            </a:r>
            <a:r>
              <a:rPr lang="ko-KR" altLang="en-US" sz="1600" dirty="0" err="1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를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먼저 입력하고 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ID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가 맞으면 비밀번호를 입력할 수 있습니다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.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”A”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앱의 로그인 알고리즘은 아래와 같습니다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.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로그인 프로그램을 작성해주세요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. </a:t>
            </a:r>
            <a:endParaRPr lang="ko-KR" altLang="en-US" sz="1600" dirty="0"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B2BC5CF-0F06-16D3-0464-43387E8031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824" y="4092987"/>
            <a:ext cx="1828800" cy="27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3235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4686" y="444110"/>
            <a:ext cx="8499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If 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예제</a:t>
            </a:r>
            <a:endParaRPr lang="en-US" altLang="ko-KR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rcRect t="42694" b="49692"/>
          <a:stretch/>
        </p:blipFill>
        <p:spPr>
          <a:xfrm>
            <a:off x="467544" y="814840"/>
            <a:ext cx="7580685" cy="360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5576" y="1275606"/>
            <a:ext cx="353013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첫번째 숫자를 입력하세요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.</a:t>
            </a:r>
          </a:p>
          <a:p>
            <a:pPr marL="342900" indent="-342900">
              <a:buAutoNum type="arabicPeriod"/>
            </a:pP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연산자를 입력하세요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.(+, -,*, /, %)</a:t>
            </a:r>
          </a:p>
          <a:p>
            <a:pPr marL="342900" indent="-342900">
              <a:buAutoNum type="arabicPeriod"/>
            </a:pP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두번째 숫자를 입력하세요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.</a:t>
            </a:r>
            <a:endParaRPr lang="ko-KR" altLang="en-US" sz="1600" dirty="0"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6A15DE-C6CF-36C6-E856-10ECD4E656F5}"/>
              </a:ext>
            </a:extLst>
          </p:cNvPr>
          <p:cNvSpPr txBox="1"/>
          <p:nvPr/>
        </p:nvSpPr>
        <p:spPr>
          <a:xfrm>
            <a:off x="959686" y="3036898"/>
            <a:ext cx="45797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* </a:t>
            </a:r>
            <a:r>
              <a:rPr lang="en-US" altLang="ko-KR" sz="1600" b="1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[</a:t>
            </a:r>
            <a:r>
              <a:rPr lang="ko-KR" altLang="en-US" sz="1600" b="1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참고</a:t>
            </a:r>
            <a:r>
              <a:rPr lang="en-US" altLang="ko-KR" sz="1600" b="1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]</a:t>
            </a:r>
            <a:r>
              <a:rPr lang="ko-KR" altLang="en-US" sz="1600" b="1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문자열 비교 </a:t>
            </a:r>
            <a:endParaRPr lang="en-US" altLang="ko-KR" sz="1600" b="1" dirty="0">
              <a:solidFill>
                <a:srgbClr val="FF0000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E58D3E1-42D3-5CCD-4184-A245BA08BC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824" y="3066475"/>
            <a:ext cx="1828800" cy="27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2763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4686" y="444110"/>
            <a:ext cx="8499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If 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예제</a:t>
            </a:r>
            <a:endParaRPr lang="en-US" altLang="ko-KR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rcRect t="60790" b="20760"/>
          <a:stretch/>
        </p:blipFill>
        <p:spPr>
          <a:xfrm>
            <a:off x="504686" y="843672"/>
            <a:ext cx="7580685" cy="8724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407C134-390F-ECE8-E22E-E5E8431708CF}"/>
              </a:ext>
            </a:extLst>
          </p:cNvPr>
          <p:cNvSpPr txBox="1"/>
          <p:nvPr/>
        </p:nvSpPr>
        <p:spPr>
          <a:xfrm>
            <a:off x="1031694" y="1894101"/>
            <a:ext cx="45797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* </a:t>
            </a:r>
            <a:r>
              <a:rPr lang="en-US" altLang="ko-KR" sz="1600" b="1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[</a:t>
            </a:r>
            <a:r>
              <a:rPr lang="ko-KR" altLang="en-US" sz="1600" b="1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참고</a:t>
            </a:r>
            <a:r>
              <a:rPr lang="en-US" altLang="ko-KR" sz="1600" b="1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]</a:t>
            </a:r>
            <a:r>
              <a:rPr lang="ko-KR" altLang="en-US" sz="1600" b="1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문자열 비교 </a:t>
            </a:r>
            <a:endParaRPr lang="en-US" altLang="ko-KR" sz="1600" b="1" dirty="0">
              <a:solidFill>
                <a:srgbClr val="FF0000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D8AAF62-6269-1AF8-9557-D0A4AF00C9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9832" y="1923678"/>
            <a:ext cx="1828800" cy="27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697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27C866B-22FB-944E-91C5-BDB42DCD6844}"/>
              </a:ext>
            </a:extLst>
          </p:cNvPr>
          <p:cNvSpPr txBox="1"/>
          <p:nvPr/>
        </p:nvSpPr>
        <p:spPr>
          <a:xfrm>
            <a:off x="611561" y="915566"/>
            <a:ext cx="80648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남자는 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‘M’, 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여자는 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‘F’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로 나타내기로 하고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,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18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세 이상을 </a:t>
            </a:r>
            <a:r>
              <a:rPr lang="ko-KR" altLang="en-US" sz="1600" dirty="0" err="1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성인이라고하자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.</a:t>
            </a:r>
          </a:p>
          <a:p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성별과 나이를 </a:t>
            </a:r>
            <a:r>
              <a:rPr lang="ko-KR" altLang="en-US" sz="1600" dirty="0" err="1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입력받아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“MAN”(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성인남자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),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“WOMAN”(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성인여자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), “BOY”(</a:t>
            </a:r>
            <a:r>
              <a:rPr lang="ko-KR" altLang="en-US" sz="1600" dirty="0" err="1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미성년남자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), 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“GIRL”(</a:t>
            </a:r>
            <a:r>
              <a:rPr lang="ko-KR" altLang="en-US" sz="1600" dirty="0" err="1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미성년여자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)</a:t>
            </a:r>
            <a:r>
              <a:rPr lang="ko-KR" altLang="en-US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을 구분하여 출력하는 프로그램을 작성하시오</a:t>
            </a:r>
            <a:r>
              <a:rPr lang="en-US" altLang="ko-KR" sz="1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74B8C6-672F-2949-14F7-9E57C0D4E455}"/>
              </a:ext>
            </a:extLst>
          </p:cNvPr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B5CD73-3954-9304-772F-B5FE6B504263}"/>
              </a:ext>
            </a:extLst>
          </p:cNvPr>
          <p:cNvSpPr txBox="1"/>
          <p:nvPr/>
        </p:nvSpPr>
        <p:spPr>
          <a:xfrm>
            <a:off x="504686" y="444110"/>
            <a:ext cx="8499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If 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예제</a:t>
            </a:r>
            <a:endParaRPr lang="en-US" altLang="ko-KR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C9B5F6-4497-619E-F6CC-7024A514A6BF}"/>
              </a:ext>
            </a:extLst>
          </p:cNvPr>
          <p:cNvSpPr txBox="1"/>
          <p:nvPr/>
        </p:nvSpPr>
        <p:spPr>
          <a:xfrm>
            <a:off x="611561" y="1848687"/>
            <a:ext cx="45797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* </a:t>
            </a:r>
            <a:r>
              <a:rPr lang="en-US" altLang="ko-KR" sz="1600" b="1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[</a:t>
            </a:r>
            <a:r>
              <a:rPr lang="ko-KR" altLang="en-US" sz="1600" b="1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참고</a:t>
            </a:r>
            <a:r>
              <a:rPr lang="en-US" altLang="ko-KR" sz="1600" b="1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]</a:t>
            </a:r>
            <a:r>
              <a:rPr lang="ko-KR" altLang="en-US" sz="1600" b="1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문자열 비교 </a:t>
            </a:r>
            <a:endParaRPr lang="en-US" altLang="ko-KR" sz="1600" b="1" dirty="0">
              <a:solidFill>
                <a:srgbClr val="FF0000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42E910A-947B-48C2-2BEA-CEF80E20F8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9699" y="1878264"/>
            <a:ext cx="1828800" cy="27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5118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04753" y="3560844"/>
            <a:ext cx="35344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chemeClr val="bg1">
                    <a:lumMod val="65000"/>
                  </a:schemeClr>
                </a:solidFill>
              </a:rPr>
              <a:t>THANK YOU</a:t>
            </a:r>
            <a:endParaRPr lang="ko-KR" altLang="en-US" sz="4400" b="1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5" name="Picture 2" descr="D:\은경\최종시안\스티커_로봇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1084" y="987574"/>
            <a:ext cx="2521831" cy="2521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37967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24784</TotalTime>
  <Words>1359</Words>
  <Application>Microsoft Office PowerPoint</Application>
  <PresentationFormat>화면 슬라이드 쇼(16:9)</PresentationFormat>
  <Paragraphs>274</Paragraphs>
  <Slides>42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42</vt:i4>
      </vt:variant>
    </vt:vector>
  </HeadingPairs>
  <TitlesOfParts>
    <vt:vector size="54" baseType="lpstr">
      <vt:lpstr>10X10</vt:lpstr>
      <vt:lpstr>10X10 Bold</vt:lpstr>
      <vt:lpstr>12롯데마트드림Bold</vt:lpstr>
      <vt:lpstr>12롯데마트드림Medium</vt:lpstr>
      <vt:lpstr>나눔바른고딕 옛한글</vt:lpstr>
      <vt:lpstr>맑은 고딕</vt:lpstr>
      <vt:lpstr>휴먼모음T</vt:lpstr>
      <vt:lpstr>휴먼엑스포</vt:lpstr>
      <vt:lpstr>Arial</vt:lpstr>
      <vt:lpstr>Consolas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이소영</dc:creator>
  <cp:lastModifiedBy>은진 이</cp:lastModifiedBy>
  <cp:revision>1103</cp:revision>
  <cp:lastPrinted>2022-11-19T00:28:00Z</cp:lastPrinted>
  <dcterms:created xsi:type="dcterms:W3CDTF">2015-11-19T15:23:17Z</dcterms:created>
  <dcterms:modified xsi:type="dcterms:W3CDTF">2025-01-16T04:14:29Z</dcterms:modified>
</cp:coreProperties>
</file>