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314" r:id="rId2"/>
    <p:sldId id="340" r:id="rId3"/>
    <p:sldId id="1396" r:id="rId4"/>
    <p:sldId id="298" r:id="rId5"/>
    <p:sldId id="1398" r:id="rId6"/>
    <p:sldId id="331" r:id="rId7"/>
    <p:sldId id="301" r:id="rId8"/>
    <p:sldId id="303" r:id="rId9"/>
    <p:sldId id="357" r:id="rId10"/>
    <p:sldId id="304" r:id="rId11"/>
    <p:sldId id="1399" r:id="rId12"/>
    <p:sldId id="352" r:id="rId13"/>
    <p:sldId id="308" r:id="rId14"/>
    <p:sldId id="1400" r:id="rId15"/>
    <p:sldId id="1413" r:id="rId16"/>
    <p:sldId id="1397" r:id="rId17"/>
    <p:sldId id="306" r:id="rId18"/>
    <p:sldId id="333" r:id="rId19"/>
    <p:sldId id="336" r:id="rId20"/>
    <p:sldId id="337" r:id="rId21"/>
    <p:sldId id="356" r:id="rId22"/>
    <p:sldId id="329" r:id="rId23"/>
    <p:sldId id="341" r:id="rId24"/>
    <p:sldId id="1405" r:id="rId25"/>
    <p:sldId id="348" r:id="rId26"/>
    <p:sldId id="1412" r:id="rId27"/>
    <p:sldId id="328" r:id="rId28"/>
    <p:sldId id="1401" r:id="rId29"/>
    <p:sldId id="416" r:id="rId30"/>
    <p:sldId id="421" r:id="rId31"/>
    <p:sldId id="415" r:id="rId32"/>
    <p:sldId id="417" r:id="rId33"/>
    <p:sldId id="418" r:id="rId34"/>
    <p:sldId id="419" r:id="rId35"/>
    <p:sldId id="422" r:id="rId36"/>
    <p:sldId id="420" r:id="rId37"/>
    <p:sldId id="1404" r:id="rId38"/>
    <p:sldId id="1403" r:id="rId39"/>
    <p:sldId id="1411" r:id="rId40"/>
    <p:sldId id="553" r:id="rId41"/>
  </p:sldIdLst>
  <p:sldSz cx="9144000" cy="5143500" type="screen16x9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E7D16"/>
    <a:srgbClr val="213540"/>
    <a:srgbClr val="FFD44E"/>
    <a:srgbClr val="704837"/>
    <a:srgbClr val="7396F5"/>
    <a:srgbClr val="EE6E73"/>
    <a:srgbClr val="FE4E50"/>
    <a:srgbClr val="E6E8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392" autoAdjust="0"/>
    <p:restoredTop sz="95494" autoAdjust="0"/>
  </p:normalViewPr>
  <p:slideViewPr>
    <p:cSldViewPr>
      <p:cViewPr varScale="1">
        <p:scale>
          <a:sx n="52" d="100"/>
          <a:sy n="52" d="100"/>
        </p:scale>
        <p:origin x="53" y="9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r">
              <a:defRPr sz="1300"/>
            </a:lvl1pPr>
          </a:lstStyle>
          <a:p>
            <a:fld id="{72D9A5FD-E331-4056-855E-36F30E6A9905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7" rIns="96616" bIns="4830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5"/>
            <a:ext cx="5510530" cy="3946118"/>
          </a:xfrm>
          <a:prstGeom prst="rect">
            <a:avLst/>
          </a:prstGeom>
        </p:spPr>
        <p:txBody>
          <a:bodyPr vert="horz" lIns="96616" tIns="48307" rIns="96616" bIns="483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r">
              <a:defRPr sz="1300"/>
            </a:lvl1pPr>
          </a:lstStyle>
          <a:p>
            <a:fld id="{9599A198-E9C2-43A8-BA3B-B3D7BEBA52A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49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4DE24-B95C-480B-B5B5-59E36C12ED6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539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4DE24-B95C-480B-B5B5-59E36C12ED6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76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99A198-E9C2-43A8-BA3B-B3D7BEBA52A1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2025-11-14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51029" y="1518044"/>
            <a:ext cx="6841938" cy="216552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프로그램 언어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[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파이썬</a:t>
            </a:r>
            <a:r>
              <a:rPr lang="en-US" altLang="ko-KR" sz="4800" b="1" spc="30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spc="30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5. </a:t>
            </a:r>
            <a:r>
              <a:rPr lang="ko-KR" altLang="en-US" sz="4800" b="1" spc="30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반복문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나눔바른고딕 옛한글" panose="020B0603020101020101" pitchFamily="50" charset="-127"/>
              <a:ea typeface="나눔바른고딕 옛한글" panose="020B060302010102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672658" y="411510"/>
            <a:ext cx="375745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119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269711"/>
              </p:ext>
            </p:extLst>
          </p:nvPr>
        </p:nvGraphicFramePr>
        <p:xfrm>
          <a:off x="971600" y="987574"/>
          <a:ext cx="6840761" cy="1567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반복의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반복의 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반복문</a:t>
                      </a:r>
                      <a:endParaRPr lang="ko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횟수가 정해진 반복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횟수 중요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윗몸 일으키기 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20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회 하기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5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에 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35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를 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10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번 곱하기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for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횟수가 정해지지 않은 반복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횟수보다 조건이 중요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분 동안 윗몸 일으키기 하기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어떤 연산의 합이 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1,000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이 될 때까지 계속 반복하기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while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문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do while 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문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84555"/>
              </p:ext>
            </p:extLst>
          </p:nvPr>
        </p:nvGraphicFramePr>
        <p:xfrm>
          <a:off x="1043608" y="2859782"/>
          <a:ext cx="5412470" cy="1440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21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횟수가 정해지지 않는 반복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반복의 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while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문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먼저 </a:t>
                      </a:r>
                      <a:r>
                        <a:rPr lang="ko-KR" altLang="en-US" sz="1200" dirty="0" err="1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조건식을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 판단하여 반복 여부를 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3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do while 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문</a:t>
                      </a:r>
                      <a:endParaRPr lang="en-US" altLang="ko-KR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  <a:p>
                      <a:pPr algn="ctr" latinLnBrk="1"/>
                      <a:endParaRPr lang="ko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먼저 한번 반복한 후에 </a:t>
                      </a:r>
                      <a:r>
                        <a:rPr lang="ko-KR" altLang="en-US" sz="1200" dirty="0" err="1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조건식을</a:t>
                      </a: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 판단하여 반복여부를 결정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85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04686" y="44411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236" y="44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40439" y="983326"/>
            <a:ext cx="7301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while :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조건이 참이면 </a:t>
            </a:r>
            <a:r>
              <a:rPr lang="ko-KR" altLang="en-US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실행문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반복</a:t>
            </a:r>
            <a:endParaRPr lang="en-US" altLang="ko-KR" sz="140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for : </a:t>
            </a:r>
            <a:r>
              <a:rPr lang="ko-KR" altLang="en-US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순서형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자료의 요소를 하나씩 가져오면서 </a:t>
            </a:r>
            <a:r>
              <a:rPr lang="ko-KR" altLang="en-US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실행문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반복</a:t>
            </a:r>
            <a:endParaRPr lang="en-US" altLang="ko-KR" sz="140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7436" y="1830767"/>
            <a:ext cx="2592288" cy="611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조건: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반복할 </a:t>
            </a:r>
            <a:r>
              <a:rPr kumimoji="0" lang="ko-KR" altLang="en-US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실행문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65496" y="3415551"/>
            <a:ext cx="2592287" cy="611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변수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순서형자료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반복할 </a:t>
            </a:r>
            <a:r>
              <a:rPr kumimoji="0" lang="ko-KR" altLang="en-US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실행문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90042" y="1830767"/>
            <a:ext cx="4248472" cy="12518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lvl="1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"번 출력되었습니다."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590042" y="3405051"/>
            <a:ext cx="3142198" cy="611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) 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6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:\한빛\강의교안제작\[보안주의]출판원고PDF\자바기초_그림&amp;표\ch03_img\ch03-15_cut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82321" y="901634"/>
            <a:ext cx="5754484" cy="355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0EAE20-5C03-1454-A4ED-98BEC2A218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725"/>
          <a:stretch/>
        </p:blipFill>
        <p:spPr>
          <a:xfrm>
            <a:off x="5076056" y="3853637"/>
            <a:ext cx="3406611" cy="83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39DBB39-96A1-B5CC-1D89-680DAEC97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2427734"/>
            <a:ext cx="3694643" cy="1013879"/>
          </a:xfrm>
          <a:prstGeom prst="rect">
            <a:avLst/>
          </a:prstGeom>
        </p:spPr>
      </p:pic>
      <p:sp>
        <p:nvSpPr>
          <p:cNvPr id="9" name="아래쪽 화살표[D] 8">
            <a:extLst>
              <a:ext uri="{FF2B5EF4-FFF2-40B4-BE49-F238E27FC236}">
                <a16:creationId xmlns:a16="http://schemas.microsoft.com/office/drawing/2014/main" id="{1368EDE0-0C6D-2051-937E-06270EE00808}"/>
              </a:ext>
            </a:extLst>
          </p:cNvPr>
          <p:cNvSpPr/>
          <p:nvPr/>
        </p:nvSpPr>
        <p:spPr>
          <a:xfrm>
            <a:off x="6588224" y="3441613"/>
            <a:ext cx="216024" cy="323832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3434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94683-4A1C-2F4D-8312-95F2445C83AE}"/>
              </a:ext>
            </a:extLst>
          </p:cNvPr>
          <p:cNvSpPr txBox="1"/>
          <p:nvPr/>
        </p:nvSpPr>
        <p:spPr>
          <a:xfrm>
            <a:off x="606888" y="982680"/>
            <a:ext cx="763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range()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기능 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훈정글북 R" panose="02020603020101020101" pitchFamily="18" charset="-127"/>
              <a:ea typeface="1훈정글북 R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349D0A-B7D6-6CAF-5638-A7DCA7F0C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902" y="2523802"/>
            <a:ext cx="3593531" cy="86613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E4D980D-BE86-5764-5A85-AC2F6116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56" y="1459695"/>
            <a:ext cx="3594100" cy="736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3BCA3A6-AFA6-E075-0697-102098E79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74" y="2585413"/>
            <a:ext cx="3594100" cy="736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56FD446-BEDB-ED79-F0AC-81EBCFDE3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56" y="3572640"/>
            <a:ext cx="3594100" cy="736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7F6F0E-EBB9-0781-203D-19653A1BB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902" y="3558844"/>
            <a:ext cx="3301738" cy="7503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FC4990-55AB-86D5-5319-BFB837DE49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192" y="4468931"/>
            <a:ext cx="3582000" cy="360000"/>
          </a:xfrm>
          <a:prstGeom prst="rect">
            <a:avLst/>
          </a:prstGeom>
        </p:spPr>
      </p:pic>
      <p:cxnSp>
        <p:nvCxnSpPr>
          <p:cNvPr id="15" name="꺾인 연결선[E] 14">
            <a:extLst>
              <a:ext uri="{FF2B5EF4-FFF2-40B4-BE49-F238E27FC236}">
                <a16:creationId xmlns:a16="http://schemas.microsoft.com/office/drawing/2014/main" id="{E9F77557-8B50-61FF-7656-B882B162134A}"/>
              </a:ext>
            </a:extLst>
          </p:cNvPr>
          <p:cNvCxnSpPr>
            <a:stCxn id="6" idx="1"/>
            <a:endCxn id="10" idx="1"/>
          </p:cNvCxnSpPr>
          <p:nvPr/>
        </p:nvCxnSpPr>
        <p:spPr>
          <a:xfrm rot="10800000" flipH="1" flipV="1">
            <a:off x="4966902" y="3934041"/>
            <a:ext cx="466290" cy="714889"/>
          </a:xfrm>
          <a:prstGeom prst="bentConnector3">
            <a:avLst>
              <a:gd name="adj1" fmla="val -4902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94DBBAA3-71BC-ADF1-B733-9A6E1F3FBD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6900" y="1495559"/>
            <a:ext cx="3837167" cy="73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3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94683-4A1C-2F4D-8312-95F2445C83AE}"/>
              </a:ext>
            </a:extLst>
          </p:cNvPr>
          <p:cNvSpPr txBox="1"/>
          <p:nvPr/>
        </p:nvSpPr>
        <p:spPr>
          <a:xfrm>
            <a:off x="606888" y="982680"/>
            <a:ext cx="763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for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문을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이용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: 1-10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까지 출력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훈정글북 R" panose="02020603020101020101" pitchFamily="18" charset="-127"/>
              <a:ea typeface="1훈정글북 R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349D0A-B7D6-6CAF-5638-A7DCA7F0C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580326"/>
            <a:ext cx="3593531" cy="8661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33215EB-6087-4BE6-034C-3BC1216E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580326"/>
            <a:ext cx="1296144" cy="2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7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19D62-02B7-B546-9D95-A6182E5E7C0F}"/>
              </a:ext>
            </a:extLst>
          </p:cNvPr>
          <p:cNvSpPr txBox="1"/>
          <p:nvPr/>
        </p:nvSpPr>
        <p:spPr>
          <a:xfrm>
            <a:off x="606888" y="982680"/>
            <a:ext cx="763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for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문을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이용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: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자신의 이름을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10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번 출력하세요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78FAF6-26A1-A535-BD1B-E307667D6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68" y="1459694"/>
            <a:ext cx="1926652" cy="321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9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899" y="1071856"/>
            <a:ext cx="378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1.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 다음과 같이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표현하시오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.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                    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1훈정글북 R" panose="02020603020101020101" pitchFamily="18" charset="-127"/>
              <a:ea typeface="1훈정글북 R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2B5B863-C603-08A9-F29C-100947FE3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76" y="1515967"/>
            <a:ext cx="2132887" cy="265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2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0AEC3-AF91-9642-88EF-2B727073B634}"/>
              </a:ext>
            </a:extLst>
          </p:cNvPr>
          <p:cNvSpPr txBox="1"/>
          <p:nvPr/>
        </p:nvSpPr>
        <p:spPr>
          <a:xfrm>
            <a:off x="503133" y="1131590"/>
            <a:ext cx="378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씩 증가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1훈정글북 R" panose="02020603020101020101" pitchFamily="18" charset="-127"/>
              <a:ea typeface="1훈정글북 R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9B8356E-1DEB-591A-3DEE-B565BD214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598910"/>
            <a:ext cx="45339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7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005" y="1059582"/>
            <a:ext cx="536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3.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 반복횟수를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입력받아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입력받은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 만큼 반복하기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DC6ECB9-5192-C0EA-01A2-92FAA3C11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13" y="1675054"/>
            <a:ext cx="2311400" cy="393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54D832-8B78-69D1-282D-AF607E6A0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77" y="2190750"/>
            <a:ext cx="2924976" cy="96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89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005" y="1059582"/>
            <a:ext cx="536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3.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 반복횟수를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입력받아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입력받은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휴먼모음T" pitchFamily="18" charset="-127"/>
                <a:ea typeface="휴먼모음T" pitchFamily="18" charset="-127"/>
              </a:rPr>
              <a:t> 만큼 반복하기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DC6ECB9-5192-C0EA-01A2-92FAA3C11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13" y="1675054"/>
            <a:ext cx="2311400" cy="393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54D832-8B78-69D1-282D-AF607E6A0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77" y="2190750"/>
            <a:ext cx="2924976" cy="96427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1076337-2308-1A75-A0B3-F721886CB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73360"/>
            <a:ext cx="39243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3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876300" y="1040765"/>
            <a:ext cx="8145145" cy="147566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1부터 20까지의 홀수를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차례대로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	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            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			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9" name="그림 8" descr="C:/Users/SAMSUNG/AppData/Roaming/PolarisOffice/ETemp/3684_5791712/fImage322175696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2" name="TextBox 11"/>
          <p:cNvSpPr txBox="1">
            <a:spLocks/>
          </p:cNvSpPr>
          <p:nvPr/>
        </p:nvSpPr>
        <p:spPr>
          <a:xfrm>
            <a:off x="869315" y="2719933"/>
            <a:ext cx="8145145" cy="172402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2부터 입력받은 정수까지의 짝수를 차례대로 출력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				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05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3" name="그림 12" descr="C:/Users/SAMSUNG/AppData/Roaming/PolarisOffice/ETemp/3684_5791712/fImage322211814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45" y="2797403"/>
            <a:ext cx="150495" cy="16637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BD56B0-B02B-802F-0E4B-8AE50780A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185" y="3258362"/>
            <a:ext cx="2019300" cy="393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234ECE-4971-3CC1-02E2-DB12813B3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508" y="1443053"/>
            <a:ext cx="2505468" cy="40861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E4092DE2-C730-3FD1-7D6D-924AEE24FA35}"/>
              </a:ext>
            </a:extLst>
          </p:cNvPr>
          <p:cNvGrpSpPr/>
          <p:nvPr/>
        </p:nvGrpSpPr>
        <p:grpSpPr>
          <a:xfrm>
            <a:off x="2728497" y="530899"/>
            <a:ext cx="4291775" cy="328232"/>
            <a:chOff x="2728497" y="530899"/>
            <a:chExt cx="4291775" cy="32823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1C389BC-633A-A1EE-8BE7-D9993A2A8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3130" y="530899"/>
              <a:ext cx="2757142" cy="32823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EA255D-7C6F-4C4A-5632-B3C3523D988D}"/>
                </a:ext>
              </a:extLst>
            </p:cNvPr>
            <p:cNvSpPr txBox="1">
              <a:spLocks/>
            </p:cNvSpPr>
            <p:nvPr/>
          </p:nvSpPr>
          <p:spPr>
            <a:xfrm>
              <a:off x="2728497" y="533593"/>
              <a:ext cx="2375975" cy="32553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한 줄 출력 방법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: 	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             </a:t>
              </a:r>
              <a:endPara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F16E551E-FE63-5407-AFC9-234B9F427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267" y="3689838"/>
            <a:ext cx="1651089" cy="50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26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3695" y="954420"/>
            <a:ext cx="4670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1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단 출력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6362A9D-0C9B-1607-ABF9-49C0BDCD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68" y="954420"/>
            <a:ext cx="1830996" cy="269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59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3695" y="954420"/>
            <a:ext cx="4670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입력된 단 출력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FCF8A7-9905-C6D8-E1FB-76C8FE33F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974922"/>
            <a:ext cx="1422400" cy="444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5DDF235-B3B2-BF81-0660-4ED87650C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574800"/>
            <a:ext cx="14224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876300" y="1040765"/>
            <a:ext cx="7673340" cy="177471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두 개의 정수를 입력받아 작은 수부터 큰 수까지 차례대로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5" name="그림 4" descr="C:/Users/SAMSUNG/AppData/Roaming/PolarisOffice/ETemp/3684_5791712/fImage32237497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D07F5-7066-A1E4-1E98-0AAE4D76AB9E}"/>
              </a:ext>
            </a:extLst>
          </p:cNvPr>
          <p:cNvSpPr txBox="1"/>
          <p:nvPr/>
        </p:nvSpPr>
        <p:spPr>
          <a:xfrm>
            <a:off x="1004388" y="1379380"/>
            <a:ext cx="2588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[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조건</a:t>
            </a:r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] 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문은 </a:t>
            </a:r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1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개만 사용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829FA0-1ECA-C075-478E-FE9883ED2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578" y="1959929"/>
            <a:ext cx="1511300" cy="406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34D0A2-A8E6-94D5-0C4D-DD9BC4A04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5" y="1975695"/>
            <a:ext cx="1511300" cy="4064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5782468-623F-7F04-C617-527A8C6810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983"/>
          <a:stretch/>
        </p:blipFill>
        <p:spPr>
          <a:xfrm>
            <a:off x="2084169" y="2582714"/>
            <a:ext cx="1929039" cy="5448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F16417-AFCE-CC3B-8C16-70738CA90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983"/>
          <a:stretch/>
        </p:blipFill>
        <p:spPr>
          <a:xfrm>
            <a:off x="4828035" y="2582714"/>
            <a:ext cx="1929039" cy="544819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39BE10F1-BAEF-4D21-3F6E-18C74235447B}"/>
              </a:ext>
            </a:extLst>
          </p:cNvPr>
          <p:cNvGrpSpPr/>
          <p:nvPr/>
        </p:nvGrpSpPr>
        <p:grpSpPr>
          <a:xfrm>
            <a:off x="2728497" y="530899"/>
            <a:ext cx="4291775" cy="328232"/>
            <a:chOff x="2728497" y="530899"/>
            <a:chExt cx="4291775" cy="32823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A15A4B7-4C3D-9986-8500-0F475454E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63130" y="530899"/>
              <a:ext cx="2757142" cy="32823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322B60-B52C-F953-8E14-B1EDD4E0C295}"/>
                </a:ext>
              </a:extLst>
            </p:cNvPr>
            <p:cNvSpPr txBox="1">
              <a:spLocks/>
            </p:cNvSpPr>
            <p:nvPr/>
          </p:nvSpPr>
          <p:spPr>
            <a:xfrm>
              <a:off x="2728497" y="533593"/>
              <a:ext cx="2375975" cy="32553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한 줄 출력 방법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: 	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             </a:t>
              </a:r>
              <a:endPara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2893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85" y="1245379"/>
            <a:ext cx="6480720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에서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20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사이에 있는 짝수의 합 계산하기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훈정글북 R" panose="02020603020101020101" pitchFamily="18" charset="-127"/>
              <a:ea typeface="1훈정글북 R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1훈정글북 R" panose="02020603020101020101" pitchFamily="18" charset="-127"/>
              <a:ea typeface="1훈정글북 R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sum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구하기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CAEB03-015A-46D0-8A3F-2E8D641A6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686" y="1779662"/>
            <a:ext cx="15144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81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3930" y="922199"/>
            <a:ext cx="8300557" cy="1826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에서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10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사이에 있는 수의 합 계산하기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	sum = 0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	         1 -&gt;  2 -&gt;  3 -&gt;  4 -&gt; 5  -&gt; 6  -&gt;   7  -&gt;   8  -&gt;  9 -&gt; 10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sum=0   	         1 -&gt;  3 -&gt; 6 -&gt; 10 -&gt; 15 -&gt; 21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  <a:sym typeface="Wingdings" pitchFamily="2" charset="2"/>
              </a:rPr>
              <a:t> 28 -&gt; 36 -&gt; 45 -&gt; 55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4686" y="44411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sum 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구하기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BAB83C-83BA-0CD2-C512-98979C541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312" y="2900536"/>
            <a:ext cx="4572542" cy="1826141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985A131-3007-51FF-534D-DB966F2A2FDA}"/>
              </a:ext>
            </a:extLst>
          </p:cNvPr>
          <p:cNvCxnSpPr>
            <a:cxnSpLocks/>
          </p:cNvCxnSpPr>
          <p:nvPr/>
        </p:nvCxnSpPr>
        <p:spPr>
          <a:xfrm>
            <a:off x="2248107" y="2102470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32A7082-B0B5-BC6A-0B82-3C3DD6D26C2A}"/>
              </a:ext>
            </a:extLst>
          </p:cNvPr>
          <p:cNvCxnSpPr>
            <a:cxnSpLocks/>
          </p:cNvCxnSpPr>
          <p:nvPr/>
        </p:nvCxnSpPr>
        <p:spPr>
          <a:xfrm flipV="1">
            <a:off x="2267321" y="2126600"/>
            <a:ext cx="466655" cy="28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886EC49-4609-5312-81C2-99589E92B5D3}"/>
              </a:ext>
            </a:extLst>
          </p:cNvPr>
          <p:cNvCxnSpPr>
            <a:cxnSpLocks/>
          </p:cNvCxnSpPr>
          <p:nvPr/>
        </p:nvCxnSpPr>
        <p:spPr>
          <a:xfrm>
            <a:off x="2770350" y="2102470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9690816-819A-1911-F7D0-52CCDD267DB0}"/>
              </a:ext>
            </a:extLst>
          </p:cNvPr>
          <p:cNvCxnSpPr>
            <a:cxnSpLocks/>
          </p:cNvCxnSpPr>
          <p:nvPr/>
        </p:nvCxnSpPr>
        <p:spPr>
          <a:xfrm flipV="1">
            <a:off x="2789564" y="2126600"/>
            <a:ext cx="466655" cy="28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4B63217-ADF5-088E-63CB-00B7C219BBFC}"/>
              </a:ext>
            </a:extLst>
          </p:cNvPr>
          <p:cNvCxnSpPr>
            <a:cxnSpLocks/>
          </p:cNvCxnSpPr>
          <p:nvPr/>
        </p:nvCxnSpPr>
        <p:spPr>
          <a:xfrm>
            <a:off x="3256219" y="2120206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9EBBA12-799A-F526-2340-AA951EE91993}"/>
              </a:ext>
            </a:extLst>
          </p:cNvPr>
          <p:cNvCxnSpPr>
            <a:cxnSpLocks/>
          </p:cNvCxnSpPr>
          <p:nvPr/>
        </p:nvCxnSpPr>
        <p:spPr>
          <a:xfrm flipV="1">
            <a:off x="3275433" y="2102470"/>
            <a:ext cx="434624" cy="323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95E7D6F-2233-C411-2395-B2C065E29CD0}"/>
              </a:ext>
            </a:extLst>
          </p:cNvPr>
          <p:cNvCxnSpPr>
            <a:cxnSpLocks/>
          </p:cNvCxnSpPr>
          <p:nvPr/>
        </p:nvCxnSpPr>
        <p:spPr>
          <a:xfrm>
            <a:off x="3742087" y="2119469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130C422-E3F2-BD31-07F3-76E29F6BD3A5}"/>
              </a:ext>
            </a:extLst>
          </p:cNvPr>
          <p:cNvCxnSpPr>
            <a:cxnSpLocks/>
          </p:cNvCxnSpPr>
          <p:nvPr/>
        </p:nvCxnSpPr>
        <p:spPr>
          <a:xfrm flipV="1">
            <a:off x="3761301" y="2126600"/>
            <a:ext cx="434625" cy="298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D8C88AE-4B70-ACF5-A7FD-200383362952}"/>
              </a:ext>
            </a:extLst>
          </p:cNvPr>
          <p:cNvCxnSpPr>
            <a:cxnSpLocks/>
          </p:cNvCxnSpPr>
          <p:nvPr/>
        </p:nvCxnSpPr>
        <p:spPr>
          <a:xfrm>
            <a:off x="4195926" y="2116761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965174F-910F-3438-AAB4-CE9211495F8F}"/>
              </a:ext>
            </a:extLst>
          </p:cNvPr>
          <p:cNvCxnSpPr>
            <a:cxnSpLocks/>
          </p:cNvCxnSpPr>
          <p:nvPr/>
        </p:nvCxnSpPr>
        <p:spPr>
          <a:xfrm flipV="1">
            <a:off x="4215140" y="2140891"/>
            <a:ext cx="466655" cy="28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5FF5361-43C5-E1CA-37BB-15F989BA80BA}"/>
              </a:ext>
            </a:extLst>
          </p:cNvPr>
          <p:cNvCxnSpPr>
            <a:cxnSpLocks/>
          </p:cNvCxnSpPr>
          <p:nvPr/>
        </p:nvCxnSpPr>
        <p:spPr>
          <a:xfrm>
            <a:off x="4662581" y="2116761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7997325-D301-49AC-626A-9978843B786B}"/>
              </a:ext>
            </a:extLst>
          </p:cNvPr>
          <p:cNvCxnSpPr>
            <a:cxnSpLocks/>
          </p:cNvCxnSpPr>
          <p:nvPr/>
        </p:nvCxnSpPr>
        <p:spPr>
          <a:xfrm flipV="1">
            <a:off x="4681795" y="2140891"/>
            <a:ext cx="466655" cy="28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5F7BFC8-678F-68C6-3381-09DFDEDB77BD}"/>
              </a:ext>
            </a:extLst>
          </p:cNvPr>
          <p:cNvCxnSpPr>
            <a:cxnSpLocks/>
          </p:cNvCxnSpPr>
          <p:nvPr/>
        </p:nvCxnSpPr>
        <p:spPr>
          <a:xfrm>
            <a:off x="5289234" y="2116761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6E5FEED-679B-8833-16D1-96EBB1D57366}"/>
              </a:ext>
            </a:extLst>
          </p:cNvPr>
          <p:cNvCxnSpPr>
            <a:cxnSpLocks/>
          </p:cNvCxnSpPr>
          <p:nvPr/>
        </p:nvCxnSpPr>
        <p:spPr>
          <a:xfrm flipV="1">
            <a:off x="5308448" y="2140891"/>
            <a:ext cx="466655" cy="28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9EB5C97-5C7B-F4AF-81CD-9C9CF8EA7840}"/>
              </a:ext>
            </a:extLst>
          </p:cNvPr>
          <p:cNvCxnSpPr>
            <a:cxnSpLocks/>
          </p:cNvCxnSpPr>
          <p:nvPr/>
        </p:nvCxnSpPr>
        <p:spPr>
          <a:xfrm>
            <a:off x="5847111" y="2134497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E43EA74-087C-26DC-1D6C-53F2DD041D44}"/>
              </a:ext>
            </a:extLst>
          </p:cNvPr>
          <p:cNvCxnSpPr>
            <a:cxnSpLocks/>
          </p:cNvCxnSpPr>
          <p:nvPr/>
        </p:nvCxnSpPr>
        <p:spPr>
          <a:xfrm flipV="1">
            <a:off x="5866325" y="2116761"/>
            <a:ext cx="434624" cy="323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E7401E3-2CF0-4E3A-F939-FEBE3FAC4FF7}"/>
              </a:ext>
            </a:extLst>
          </p:cNvPr>
          <p:cNvCxnSpPr>
            <a:cxnSpLocks/>
          </p:cNvCxnSpPr>
          <p:nvPr/>
        </p:nvCxnSpPr>
        <p:spPr>
          <a:xfrm>
            <a:off x="6404987" y="2133760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97BC521-BE0C-BADF-4F65-CDAC8F1E222D}"/>
              </a:ext>
            </a:extLst>
          </p:cNvPr>
          <p:cNvCxnSpPr>
            <a:cxnSpLocks/>
          </p:cNvCxnSpPr>
          <p:nvPr/>
        </p:nvCxnSpPr>
        <p:spPr>
          <a:xfrm flipV="1">
            <a:off x="6424201" y="2140891"/>
            <a:ext cx="434625" cy="298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6CC5934-BF5E-565D-8F1E-90FDB3CD933E}"/>
              </a:ext>
            </a:extLst>
          </p:cNvPr>
          <p:cNvCxnSpPr>
            <a:cxnSpLocks/>
          </p:cNvCxnSpPr>
          <p:nvPr/>
        </p:nvCxnSpPr>
        <p:spPr>
          <a:xfrm>
            <a:off x="6928627" y="2131052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82C1329-3EA1-B6D8-17C9-31A386AC323C}"/>
              </a:ext>
            </a:extLst>
          </p:cNvPr>
          <p:cNvSpPr txBox="1"/>
          <p:nvPr/>
        </p:nvSpPr>
        <p:spPr>
          <a:xfrm>
            <a:off x="7031642" y="2061820"/>
            <a:ext cx="1747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 = </a:t>
            </a:r>
            <a:r>
              <a:rPr lang="en-US" altLang="ko-KR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sum+i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DE1FF85-BF63-0424-39D6-C9D195B4A0C3}"/>
              </a:ext>
            </a:extLst>
          </p:cNvPr>
          <p:cNvCxnSpPr>
            <a:cxnSpLocks/>
          </p:cNvCxnSpPr>
          <p:nvPr/>
        </p:nvCxnSpPr>
        <p:spPr>
          <a:xfrm flipV="1">
            <a:off x="1567338" y="2061820"/>
            <a:ext cx="621409" cy="510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십자형[C] 42">
            <a:extLst>
              <a:ext uri="{FF2B5EF4-FFF2-40B4-BE49-F238E27FC236}">
                <a16:creationId xmlns:a16="http://schemas.microsoft.com/office/drawing/2014/main" id="{8446CE11-AB88-A9F4-C9B0-371F11D85FE2}"/>
              </a:ext>
            </a:extLst>
          </p:cNvPr>
          <p:cNvSpPr/>
          <p:nvPr/>
        </p:nvSpPr>
        <p:spPr>
          <a:xfrm>
            <a:off x="1520989" y="2080308"/>
            <a:ext cx="288329" cy="298637"/>
          </a:xfrm>
          <a:prstGeom prst="plus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9193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351775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10이하의 정수를 입력받아 입력받은 정수만큼 “JAVA 프로그래밍” 이라고 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정수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부터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100까지의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합을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출력하는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프로그램을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8" name="그림 7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552" y="47422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2" name="그림 1" descr="C:/Users/SAMSUNG/AppData/Roaming/PolarisOffice/ETemp/3684_5791712/fImage3222311942.png">
            <a:extLst>
              <a:ext uri="{FF2B5EF4-FFF2-40B4-BE49-F238E27FC236}">
                <a16:creationId xmlns:a16="http://schemas.microsoft.com/office/drawing/2014/main" id="{98016B55-CFF4-0B71-A15B-E13F2C2D0D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80" y="3127799"/>
            <a:ext cx="150495" cy="16637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372CD-467C-95AC-1CAF-B27E45267444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1BC731-974A-5CCF-7F36-C65B889C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134" y="1640840"/>
            <a:ext cx="1511300" cy="774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1C8FFB1-215A-4BA7-DDD0-A156CFEB9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618" y="1640840"/>
            <a:ext cx="1511300" cy="1104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EBF1CA-7364-0C8E-BE04-8CE4C8753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134" y="3579862"/>
            <a:ext cx="1511300" cy="393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C470B4E-9D1B-210B-CFB2-043663B97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0134" y="4073257"/>
            <a:ext cx="15113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70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327850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입력받아서 1부터 입력받은 정수까지의 합을 출력하는 프로그램을 작성하시오.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10이하의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아래와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같이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“CODING”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n번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출력하는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프로그램을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229299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/>
            <a:r>
              <a:rPr lang="en-US" altLang="ko-KR" b="1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</a:t>
            </a:r>
          </a:p>
        </p:txBody>
      </p:sp>
      <p:pic>
        <p:nvPicPr>
          <p:cNvPr id="2" name="그림 1" descr="C:/Users/SAMSUNG/AppData/Roaming/PolarisOffice/ETemp/3684_5791712/fImage3222036334.png">
            <a:extLst>
              <a:ext uri="{FF2B5EF4-FFF2-40B4-BE49-F238E27FC236}">
                <a16:creationId xmlns:a16="http://schemas.microsoft.com/office/drawing/2014/main" id="{3E97CC6D-FB78-BA76-8BCF-9D146E1968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93179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BE9A18-ED05-F13D-0497-6CC11F6F9148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182BE6-BCE8-3BEA-73B8-4CF4C8FF3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521" y="1550864"/>
            <a:ext cx="1511300" cy="381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DDAFA9-DF6B-3C65-BE04-FC1F5018A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521" y="2052692"/>
            <a:ext cx="1511300" cy="266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2DE33DE-4BEC-84E4-1FF5-84CF29FBD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009" y="3528684"/>
            <a:ext cx="1511300" cy="7747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A5CF589-7779-CB28-C63B-6BC332156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350" y="3465501"/>
            <a:ext cx="15113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7673340" cy="20255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명의 성적을 입력받아서 총점과 평균을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en-US" altLang="ko-KR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272477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/>
            <a:r>
              <a:rPr lang="en-US" altLang="ko-KR" b="1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4FAA9-16D8-D248-B85F-380D427816DA}"/>
              </a:ext>
            </a:extLst>
          </p:cNvPr>
          <p:cNvSpPr txBox="1">
            <a:spLocks/>
          </p:cNvSpPr>
          <p:nvPr/>
        </p:nvSpPr>
        <p:spPr>
          <a:xfrm>
            <a:off x="876300" y="2720537"/>
            <a:ext cx="7673340" cy="1723421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10이하의 과목 수 n을 입력받은 후 과목의 점수를 입력받아서 평균을 구하여 출력하고 평균이 80점 이상이면 “pass”, 아니면 “fail” 이라고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4" name="그림 13" descr="C:/Users/SAMSUNG/AppData/Roaming/PolarisOffice/ETemp/3684_5791712/fImage3222724771.png">
            <a:extLst>
              <a:ext uri="{FF2B5EF4-FFF2-40B4-BE49-F238E27FC236}">
                <a16:creationId xmlns:a16="http://schemas.microsoft.com/office/drawing/2014/main" id="{6C6B2614-4183-8846-8C37-9C716A72C4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798642"/>
            <a:ext cx="150495" cy="16637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894878-DDE3-EAD0-A24C-5CCEC3E4C61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A34C8D-371C-D9D8-F518-4C0D2FD5E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414" y="1342899"/>
            <a:ext cx="1451450" cy="13560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A7BAC1-A7A8-C21B-9DEE-E03EE425A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238" y="1423451"/>
            <a:ext cx="1739900" cy="457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E8FDA91-693E-A851-E883-C0B2F53D0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189" y="3368454"/>
            <a:ext cx="1739900" cy="7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719D3A7-82FD-1FF4-630B-49213E482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050" y="3369018"/>
            <a:ext cx="1739900" cy="14097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4814877-4C21-3231-BBBA-2420574E27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911" y="3362416"/>
            <a:ext cx="17399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68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eaLnBrk="0"/>
            <a:r>
              <a:rPr lang="en-US" altLang="ko-KR" b="1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863840" cy="296401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입력받아서 1부터 입력받은 정수까지 5의 배수의 합을 구하여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정수를 입력 받은 후 짝수와 홀수의 개수를 각각 구하여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381184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7" name="그림 16" descr="C:/Users/SAMSUNG/AppData/Roaming/PolarisOffice/ETemp/3684_5791712/fImage322382288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936875"/>
            <a:ext cx="150495" cy="16637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F7D8B9-F9A1-BAF7-B6F4-B933E0A64C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BE415E-87AE-8E06-BC6D-369832C23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03" y="1785609"/>
            <a:ext cx="1739900" cy="381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A75B84F-1A0F-6303-6FC9-08B4C5202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553" y="2258950"/>
            <a:ext cx="1739900" cy="381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5DE72B-D3E8-DDB9-0D7B-01200BF1B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1003" y="3623782"/>
            <a:ext cx="3619500" cy="381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2F5437A-D409-8B51-0AAB-563965070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769" y="4083328"/>
            <a:ext cx="3619500" cy="54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B3CED7-837C-4F86-7DCA-76F4CE5F3F7B}"/>
              </a:ext>
            </a:extLst>
          </p:cNvPr>
          <p:cNvSpPr txBox="1"/>
          <p:nvPr/>
        </p:nvSpPr>
        <p:spPr>
          <a:xfrm>
            <a:off x="5724128" y="3623782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 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여러 줄 </a:t>
            </a:r>
            <a:r>
              <a:rPr lang="ko-KR" altLang="en-US" sz="1600" dirty="0" err="1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입력해야함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250280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61884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9157" y="1014720"/>
            <a:ext cx="7863840" cy="148502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두개의 정수를 </a:t>
            </a:r>
            <a:r>
              <a:rPr lang="ko-KR" altLang="en-US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작은 수부터 큰 수까지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의 배수이거나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의 배수인 수들의 합과 평균을 출력하는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381184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086728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 descr="C:/Users/SAMSUNG/AppData/Roaming/PolarisOffice/ETemp/3684_5791712/fImage3223811842.png">
            <a:extLst>
              <a:ext uri="{FF2B5EF4-FFF2-40B4-BE49-F238E27FC236}">
                <a16:creationId xmlns:a16="http://schemas.microsoft.com/office/drawing/2014/main" id="{42B7FDEA-E4F3-094F-AFBA-3E4DA614B9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" y="3057693"/>
            <a:ext cx="150495" cy="166370"/>
          </a:xfrm>
          <a:prstGeom prst="rect">
            <a:avLst/>
          </a:prstGeom>
          <a:noFill/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AAA3854-8645-4B49-AF87-F6143D3138FE}"/>
              </a:ext>
            </a:extLst>
          </p:cNvPr>
          <p:cNvSpPr/>
          <p:nvPr/>
        </p:nvSpPr>
        <p:spPr>
          <a:xfrm>
            <a:off x="957262" y="2996303"/>
            <a:ext cx="778573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한 개의 자연수를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그 수의 배수를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8E394-189E-43D6-7700-A85A0B9FF056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F82F62-528C-662F-01BC-07A453609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709" y="2211229"/>
            <a:ext cx="3619500" cy="50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FB309D-FD33-A6DB-3CD0-24A01AE14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709" y="1639197"/>
            <a:ext cx="3619500" cy="50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1D418AD-4B93-E6E2-FE35-5B9E4A4C7C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6392"/>
          <a:stretch/>
        </p:blipFill>
        <p:spPr>
          <a:xfrm>
            <a:off x="1771402" y="3671580"/>
            <a:ext cx="1216422" cy="457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01D474F-260A-9D79-29A3-F2CFE0E7F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534" y="372408"/>
            <a:ext cx="3882028" cy="503775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AD93A376-7AF9-236B-8059-CECE40331A54}"/>
              </a:ext>
            </a:extLst>
          </p:cNvPr>
          <p:cNvGrpSpPr/>
          <p:nvPr/>
        </p:nvGrpSpPr>
        <p:grpSpPr>
          <a:xfrm>
            <a:off x="3240321" y="4503868"/>
            <a:ext cx="4291775" cy="328232"/>
            <a:chOff x="2728497" y="530899"/>
            <a:chExt cx="4291775" cy="32823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BC294FF-65BD-9657-EF04-E768FCF80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63130" y="530899"/>
              <a:ext cx="2757142" cy="32823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E324AA-6119-2A64-9765-FE8042B1E2DF}"/>
                </a:ext>
              </a:extLst>
            </p:cNvPr>
            <p:cNvSpPr txBox="1">
              <a:spLocks/>
            </p:cNvSpPr>
            <p:nvPr/>
          </p:nvSpPr>
          <p:spPr>
            <a:xfrm>
              <a:off x="2728497" y="533593"/>
              <a:ext cx="2375975" cy="32553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anchor="t">
              <a:spAutoFit/>
            </a:bodyPr>
            <a:lstStyle/>
            <a:p>
              <a:pPr marL="109855" indent="0" algn="l" defTabSz="914400" eaLnBrk="0" fontAlgn="auto">
                <a:lnSpc>
                  <a:spcPct val="114999"/>
                </a:lnSpc>
                <a:spcBef>
                  <a:spcPts val="400"/>
                </a:spcBef>
                <a:spcAft>
                  <a:spcPts val="0"/>
                </a:spcAft>
                <a:buFontTx/>
                <a:buNone/>
              </a:pPr>
              <a:r>
                <a:rPr lang="ko-KR" altLang="en-US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한 줄 출력 방법 </a:t>
              </a:r>
              <a:r>
                <a:rPr lang="en-US" altLang="ko-KR" sz="1400" b="0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: 	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10X10 Bold" charset="0"/>
                  <a:ea typeface="10X10 Bold" charset="0"/>
                </a:rPr>
                <a:t>             </a:t>
              </a:r>
              <a:endPara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10B16969-D37E-878E-41D4-9CF66185D7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1964" y="3620780"/>
            <a:ext cx="3459235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9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61884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</a:t>
            </a: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17660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10개의 정수를 입력받아 그 수들 중 짝수의 개수가 몇 개인지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5029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41E3BE-19FC-6449-8DEF-FF255F30B500}"/>
              </a:ext>
            </a:extLst>
          </p:cNvPr>
          <p:cNvSpPr txBox="1">
            <a:spLocks/>
          </p:cNvSpPr>
          <p:nvPr/>
        </p:nvSpPr>
        <p:spPr>
          <a:xfrm>
            <a:off x="954405" y="2755849"/>
            <a:ext cx="8145145" cy="147566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10개의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3의 배수의 개수와 5의 배수의 개수를 각각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9" name="그림 8" descr="C:/Users/SAMSUNG/AppData/Roaming/PolarisOffice/ETemp/3684_5791712/fImage322250292.png">
            <a:extLst>
              <a:ext uri="{FF2B5EF4-FFF2-40B4-BE49-F238E27FC236}">
                <a16:creationId xmlns:a16="http://schemas.microsoft.com/office/drawing/2014/main" id="{3378E2CD-E21E-0749-A950-104830B4C5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" y="2833954"/>
            <a:ext cx="150495" cy="16637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E64AA3-CF77-AF7A-AA9B-8BED329B1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454300"/>
            <a:ext cx="3416300" cy="381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EA45919-D120-3188-9D5C-3278FF00F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1900756"/>
            <a:ext cx="3416300" cy="254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BFDB49-C348-DDBE-0213-B5843B121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12" y="3493679"/>
            <a:ext cx="3632200" cy="368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298DC21-A766-3176-F1A9-B7B3375B4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6091" y="3964809"/>
            <a:ext cx="3632200" cy="533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0F8E31-E92B-AA61-1391-9DFEF197B0EF}"/>
              </a:ext>
            </a:extLst>
          </p:cNvPr>
          <p:cNvSpPr txBox="1"/>
          <p:nvPr/>
        </p:nvSpPr>
        <p:spPr>
          <a:xfrm>
            <a:off x="5618291" y="145430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 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여러 줄 </a:t>
            </a:r>
            <a:r>
              <a:rPr lang="ko-KR" altLang="en-US" sz="1600" dirty="0" err="1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입력해야함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25BC5-3505-A5D0-4186-E2818526F24E}"/>
              </a:ext>
            </a:extLst>
          </p:cNvPr>
          <p:cNvSpPr txBox="1"/>
          <p:nvPr/>
        </p:nvSpPr>
        <p:spPr>
          <a:xfrm>
            <a:off x="5711138" y="3493679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 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여러 줄 </a:t>
            </a:r>
            <a:r>
              <a:rPr lang="ko-KR" altLang="en-US" sz="1600" dirty="0" err="1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입력해야함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62788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최대값 구하기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B0A66-4B1E-F0B4-9DA6-8E729CC178C6}"/>
              </a:ext>
            </a:extLst>
          </p:cNvPr>
          <p:cNvSpPr txBox="1"/>
          <p:nvPr/>
        </p:nvSpPr>
        <p:spPr>
          <a:xfrm>
            <a:off x="663931" y="922199"/>
            <a:ext cx="71287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입력된 수 중 제일 큰 수 찾기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(max)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1. max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제일 작은 값을 설정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2.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입력된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max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보다 큰 경우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if( x &gt; max 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3. max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변경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max = x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1F79C7-A295-9AA2-84ED-C0FB7C146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42" y="2363297"/>
            <a:ext cx="4046731" cy="1800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CE4DDA4-9E0C-D511-0417-2A42BD8C2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999874"/>
            <a:ext cx="1841500" cy="25273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DF9B9C7-E25C-69C9-1462-439C6E1C9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3604849"/>
            <a:ext cx="1841500" cy="304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05178C-BE3E-FC87-E359-20DCC874B81E}"/>
              </a:ext>
            </a:extLst>
          </p:cNvPr>
          <p:cNvSpPr txBox="1"/>
          <p:nvPr/>
        </p:nvSpPr>
        <p:spPr>
          <a:xfrm>
            <a:off x="5655945" y="3612894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3147940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85087" y="859461"/>
            <a:ext cx="8145145" cy="62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1. 5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자연수를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그 중 가장 큰 수를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최대값 구하기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5D284-CCE5-EE07-BD99-F75E43B01D83}"/>
              </a:ext>
            </a:extLst>
          </p:cNvPr>
          <p:cNvSpPr txBox="1">
            <a:spLocks/>
          </p:cNvSpPr>
          <p:nvPr/>
        </p:nvSpPr>
        <p:spPr>
          <a:xfrm>
            <a:off x="483464" y="2628179"/>
            <a:ext cx="8145145" cy="142436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미만의 수 중 가장 큰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(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입력으로 주어지는 정수는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-1000~1000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넘지 않는다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)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517B45-36BE-EB96-F407-72E3C8F6E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79048"/>
            <a:ext cx="1656184" cy="12678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DD88CD-3BF2-5DD1-B773-841BD3055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1901708"/>
            <a:ext cx="1841500" cy="317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D42A342-1E28-7319-8822-431660CF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7" y="3113062"/>
            <a:ext cx="1396327" cy="197896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B0B1DF7-0301-6A0B-C5D5-442991276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393" y="4250426"/>
            <a:ext cx="17653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39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소</a:t>
            </a: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값 구하기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B0A66-4B1E-F0B4-9DA6-8E729CC178C6}"/>
              </a:ext>
            </a:extLst>
          </p:cNvPr>
          <p:cNvSpPr txBox="1"/>
          <p:nvPr/>
        </p:nvSpPr>
        <p:spPr>
          <a:xfrm>
            <a:off x="663931" y="922199"/>
            <a:ext cx="71287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입력된 수 중 제일 작은 수 찾기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(min)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1. min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제일 큰 값을 설정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2.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입력된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min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보다 큰 경우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if( x &lt; min )</a:t>
            </a: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3. min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변경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min = x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142227-2FAD-C375-D26A-A27D3CF5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9" y="2355726"/>
            <a:ext cx="3423441" cy="1940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CF0A89-636C-BE89-8B65-E7CC75353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93" y="1916168"/>
            <a:ext cx="1765300" cy="1435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C9667E-82F8-D1ED-6DEE-94908356C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093" y="3435846"/>
            <a:ext cx="1765300" cy="266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AC90FF-5D6E-1ECE-B4FE-62B2186D2E58}"/>
              </a:ext>
            </a:extLst>
          </p:cNvPr>
          <p:cNvSpPr txBox="1"/>
          <p:nvPr/>
        </p:nvSpPr>
        <p:spPr>
          <a:xfrm>
            <a:off x="5868144" y="3399919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712092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499427" y="2625740"/>
            <a:ext cx="8145145" cy="142436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100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이상의 수 중 가장 작은 수를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(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입력으로 주어지는 정수는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1000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을 넘지 않는다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 )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최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소</a:t>
            </a:r>
            <a:r>
              <a:rPr lang="ko-KR" altLang="en-US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값 구하기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F2482-AC09-A2A0-6500-AFD50AD75C45}"/>
              </a:ext>
            </a:extLst>
          </p:cNvPr>
          <p:cNvSpPr txBox="1">
            <a:spLocks/>
          </p:cNvSpPr>
          <p:nvPr/>
        </p:nvSpPr>
        <p:spPr>
          <a:xfrm>
            <a:off x="499427" y="987574"/>
            <a:ext cx="8145145" cy="87754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두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자리 이하의 정수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개를 차례로 입력 받아 그 중 최소값을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1BF602-3433-F835-C856-90AD18277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387929"/>
            <a:ext cx="1765300" cy="1219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E9FA703-A557-CE1E-28F2-4161E6B6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49" y="2039499"/>
            <a:ext cx="1765300" cy="2794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92994DD-F2C6-E974-0BA3-FEEA6E02B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3201556"/>
            <a:ext cx="1536440" cy="17464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A4FCA0-A80A-AB26-FF35-00F9FCD1E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349" y="4333958"/>
            <a:ext cx="17653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39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04686" y="44411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236" y="44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2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40439" y="983326"/>
            <a:ext cx="7301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while : 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조건이 참이면 </a:t>
            </a:r>
            <a:r>
              <a:rPr lang="ko-KR" altLang="en-US" sz="1400" dirty="0" err="1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실행문</a:t>
            </a:r>
            <a:r>
              <a:rPr lang="ko-KR" altLang="en-US" sz="1400" dirty="0"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반복</a:t>
            </a:r>
            <a:endParaRPr lang="en-US" altLang="ko-KR" sz="1400" dirty="0"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7436" y="1830767"/>
            <a:ext cx="2592288" cy="611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조건: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반복할 </a:t>
            </a:r>
            <a:r>
              <a:rPr kumimoji="0" lang="ko-KR" altLang="en-US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실행문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90042" y="1830767"/>
            <a:ext cx="4248472" cy="12518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lvl="1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"번 출력되었습니다."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45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452642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eaLnBrk="0"/>
            <a:r>
              <a:rPr lang="en-US" altLang="ko-KR" b="1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 while</a:t>
            </a:r>
            <a:endParaRPr lang="ko-KR" altLang="en-US" b="1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92191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부터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까지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7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9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948703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18D049E-2F4B-7396-CACA-A562FB425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190252"/>
            <a:ext cx="2669130" cy="124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62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452642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eaLnBrk="0"/>
            <a:r>
              <a:rPr lang="en-US" altLang="ko-KR" b="1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 while</a:t>
            </a:r>
            <a:endParaRPr lang="ko-KR" altLang="en-US" b="1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117660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알파벳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‘A’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부터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‘Z’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까지 출력하는 프로그램을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while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문을 이용하여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ABCDEFGHIZKLMNOPQRSTUVWXYZ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948703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DE81673F-D036-3D4F-62B8-0AED95A3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594379"/>
              </p:ext>
            </p:extLst>
          </p:nvPr>
        </p:nvGraphicFramePr>
        <p:xfrm>
          <a:off x="4702702" y="2425568"/>
          <a:ext cx="4134585" cy="148336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378195">
                  <a:extLst>
                    <a:ext uri="{9D8B030D-6E8A-4147-A177-3AD203B41FA5}">
                      <a16:colId xmlns:a16="http://schemas.microsoft.com/office/drawing/2014/main" val="3730121397"/>
                    </a:ext>
                  </a:extLst>
                </a:gridCol>
                <a:gridCol w="1378195">
                  <a:extLst>
                    <a:ext uri="{9D8B030D-6E8A-4147-A177-3AD203B41FA5}">
                      <a16:colId xmlns:a16="http://schemas.microsoft.com/office/drawing/2014/main" val="1546123902"/>
                    </a:ext>
                  </a:extLst>
                </a:gridCol>
                <a:gridCol w="1378195">
                  <a:extLst>
                    <a:ext uri="{9D8B030D-6E8A-4147-A177-3AD203B41FA5}">
                      <a16:colId xmlns:a16="http://schemas.microsoft.com/office/drawing/2014/main" val="2651913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소문자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76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7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22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83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대문자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082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65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90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4821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FF5EA7FF-88F5-50B0-1D71-CD9AC3849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146" y="2217369"/>
            <a:ext cx="2919334" cy="130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07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346646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1.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정수 변수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num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선언하여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대입한 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씩 증가시키면서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까지의 누적 합을 구하는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 1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부터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까지의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합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=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55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2.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이하의 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while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문을 이용하여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부터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정수까지의 합을 구하여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55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02FD7-81E3-5043-AB6A-3C1329AE7D21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while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5674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736373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무한반복 </a:t>
            </a: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while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17818" y="987574"/>
            <a:ext cx="8086630" cy="8723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한 개의 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출력하는 작업을 반복하다가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 입력되면 종료하는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1C22554-6AC0-227B-5157-A492A6CF5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678793"/>
            <a:ext cx="1993900" cy="762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9486A0F-FEA5-CDD4-1E47-6F8A20682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506839"/>
            <a:ext cx="1993900" cy="990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A88D3CC-C990-3B7F-A1C4-8A60D3530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563485"/>
            <a:ext cx="1993900" cy="927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FEBE32-179D-F921-6588-CA880304F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154" y="2109138"/>
            <a:ext cx="3233348" cy="166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75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291445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 계속 입력을 받다가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 입력되면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제외하고 이전에 입력된 자료의 수와 합계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평균을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97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입력 개수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: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합계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: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200,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평균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: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66.667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6.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정수를 계속 입력 받다가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이상의 수가 입력이 되면 마지막 입력된 수를 포함하여 합계와 평균을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4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7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9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100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155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         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14.1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1545C-DB9C-3247-BAF5-B7A3B343ABA3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while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4305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291445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 계속 입력 받다가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 입력되면 입력된 수 중 홀수의 합과 평균을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17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홀수의 합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: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53,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홀수의 평균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: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17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입력받다가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 입력되면 그 때까지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홀수의 개수와 짝수의 개수를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9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7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odd : 5, even : 1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rgbClr val="FF0000"/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549C2-C588-5449-8CA6-1CD688972F44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while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2" name="그림 1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476527DA-A973-67FF-1576-0ABF35C2FB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8A9FDC51-FF62-89AC-0ACA-C5D42C42A5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542123"/>
            <a:ext cx="150495" cy="1663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6602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351775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10이하의 정수를 입력받아 입력받은 정수만큼 “JAVA 프로그래밍” 이라고 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입력받아서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입력받은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정수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부터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100까지의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합을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출력하는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프로그램을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8" name="그림 7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552" y="47422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문제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2" name="그림 1" descr="C:/Users/SAMSUNG/AppData/Roaming/PolarisOffice/ETemp/3684_5791712/fImage3222311942.png">
            <a:extLst>
              <a:ext uri="{FF2B5EF4-FFF2-40B4-BE49-F238E27FC236}">
                <a16:creationId xmlns:a16="http://schemas.microsoft.com/office/drawing/2014/main" id="{98016B55-CFF4-0B71-A15B-E13F2C2D0D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80" y="3127799"/>
            <a:ext cx="150495" cy="16637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372CD-467C-95AC-1CAF-B27E45267444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while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6DEBAE-95D7-AD36-8AB4-46FD64D45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134" y="1640840"/>
            <a:ext cx="1511300" cy="774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99D7BA-6ABF-8C2E-0E26-DCBA365C1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618" y="1640840"/>
            <a:ext cx="1511300" cy="1104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A66BB0-174E-D94F-3545-273FAE5A1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134" y="3579862"/>
            <a:ext cx="1511300" cy="393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717A69-3681-9DDA-4C6D-CFB84BAA5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0134" y="4073257"/>
            <a:ext cx="15113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04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116967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 입력될 때가지 정수를 계속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의 배수와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의 배수를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제이한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수들의 개수를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atin typeface="10X10 Bold" charset="0"/>
                <a:ea typeface="10X10 Bold" charset="0"/>
              </a:rPr>
              <a:t>입력</a:t>
            </a:r>
            <a:r>
              <a:rPr lang="en-US" altLang="ko-KR" sz="1400" dirty="0">
                <a:latin typeface="10X10 Bold" charset="0"/>
                <a:ea typeface="10X10 Bold" charset="0"/>
              </a:rPr>
              <a:t>)</a:t>
            </a:r>
            <a:r>
              <a:rPr lang="ko-KR" altLang="en-US" sz="1400" dirty="0">
                <a:latin typeface="10X10 Bold" charset="0"/>
                <a:ea typeface="10X10 Bold" charset="0"/>
              </a:rPr>
              <a:t>  </a:t>
            </a:r>
            <a:r>
              <a:rPr lang="en-US" altLang="ko-KR" sz="1400" dirty="0">
                <a:latin typeface="10X10 Bold" charset="0"/>
                <a:ea typeface="10X10 Bold" charset="0"/>
              </a:rPr>
              <a:t>	1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2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3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4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7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8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9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latin typeface="10X10 Bold" charset="0"/>
                <a:ea typeface="10X10 Bold" charset="0"/>
              </a:rPr>
              <a:t>0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400" dirty="0">
                <a:latin typeface="10X10 Bold" charset="0"/>
                <a:ea typeface="10X10 Bold" charset="0"/>
              </a:rPr>
              <a:t> 출력</a:t>
            </a:r>
            <a:r>
              <a:rPr lang="en-US" altLang="ko-KR" sz="1400" dirty="0">
                <a:latin typeface="10X10 Bold" charset="0"/>
                <a:ea typeface="10X10 Bold" charset="0"/>
              </a:rPr>
              <a:t>)	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549C2-C588-5449-8CA6-1CD688972F44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while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2" name="그림 1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C9726720-DAC5-FEA8-406B-0B2696E87D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4874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7673340" cy="20255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명의 성적을 입력받아서 총점과 평균을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en-US" altLang="ko-KR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272477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504686" y="44411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/>
            <a:r>
              <a:rPr lang="en-US" altLang="ko-KR" b="1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4FAA9-16D8-D248-B85F-380D427816DA}"/>
              </a:ext>
            </a:extLst>
          </p:cNvPr>
          <p:cNvSpPr txBox="1">
            <a:spLocks/>
          </p:cNvSpPr>
          <p:nvPr/>
        </p:nvSpPr>
        <p:spPr>
          <a:xfrm>
            <a:off x="876300" y="2720537"/>
            <a:ext cx="7673340" cy="1723421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10이하의 과목 수 n을 입력받은 후 과목의 점수를 입력받아서 평균을 구하여 출력하고 평균이 80점 이상이면 “pass”, 아니면 “fail” 이라고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4" name="그림 13" descr="C:/Users/SAMSUNG/AppData/Roaming/PolarisOffice/ETemp/3684_5791712/fImage3222724771.png">
            <a:extLst>
              <a:ext uri="{FF2B5EF4-FFF2-40B4-BE49-F238E27FC236}">
                <a16:creationId xmlns:a16="http://schemas.microsoft.com/office/drawing/2014/main" id="{6C6B2614-4183-8846-8C37-9C716A72C4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798642"/>
            <a:ext cx="150495" cy="16637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894878-DDE3-EAD0-A24C-5CCEC3E4C61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A34C8D-371C-D9D8-F518-4C0D2FD5E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414" y="1342899"/>
            <a:ext cx="1451450" cy="13560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A7BAC1-A7A8-C21B-9DEE-E03EE425A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238" y="1423451"/>
            <a:ext cx="1739900" cy="457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E8FDA91-693E-A851-E883-C0B2F53D0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189" y="3368454"/>
            <a:ext cx="1739900" cy="7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719D3A7-82FD-1FF4-630B-49213E482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050" y="3369018"/>
            <a:ext cx="1739900" cy="14097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4814877-4C21-3231-BBBA-2420574E27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911" y="3362416"/>
            <a:ext cx="17399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71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61884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</a:t>
            </a: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17660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10개의 정수를 입력받아 그 수들 중 짝수의 개수가 몇 개인지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5029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41E3BE-19FC-6449-8DEF-FF255F30B500}"/>
              </a:ext>
            </a:extLst>
          </p:cNvPr>
          <p:cNvSpPr txBox="1">
            <a:spLocks/>
          </p:cNvSpPr>
          <p:nvPr/>
        </p:nvSpPr>
        <p:spPr>
          <a:xfrm>
            <a:off x="954405" y="2755849"/>
            <a:ext cx="8145145" cy="147566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10개의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3의 배수의 개수와 5의 배수의 개수를 각각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9" name="그림 8" descr="C:/Users/SAMSUNG/AppData/Roaming/PolarisOffice/ETemp/3684_5791712/fImage322250292.png">
            <a:extLst>
              <a:ext uri="{FF2B5EF4-FFF2-40B4-BE49-F238E27FC236}">
                <a16:creationId xmlns:a16="http://schemas.microsoft.com/office/drawing/2014/main" id="{3378E2CD-E21E-0749-A950-104830B4C5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" y="2833954"/>
            <a:ext cx="150495" cy="16637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C9DF27-2D94-0AD9-C1EB-1AE7167A2DAE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E64AA3-CF77-AF7A-AA9B-8BED329B1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454300"/>
            <a:ext cx="3416300" cy="381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EA45919-D120-3188-9D5C-3278FF00F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1900756"/>
            <a:ext cx="3416300" cy="254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BFDB49-C348-DDBE-0213-B5843B121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12" y="3493679"/>
            <a:ext cx="3632200" cy="368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298DC21-A766-3176-F1A9-B7B3375B4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6091" y="3964809"/>
            <a:ext cx="3632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42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81382" y="930593"/>
            <a:ext cx="8145145" cy="112530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세 자리 이하의 정수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100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개를 차례로 입력 받다가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999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가 입력되면 프로그램을 종료하고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999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를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제외한 그 때 까지 입력된 최댓값과 최소값을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 err="1">
                <a:solidFill>
                  <a:schemeClr val="bg1"/>
                </a:solidFill>
                <a:latin typeface="10X10" charset="0"/>
                <a:ea typeface="10X10" charset="0"/>
              </a:rPr>
              <a:t>반복문</a:t>
            </a: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</a:t>
            </a:r>
            <a:r>
              <a:rPr lang="en-US" altLang="ko-KR" sz="1800" b="1" strike="noStrike" cap="none" dirty="0" err="1">
                <a:solidFill>
                  <a:schemeClr val="bg1"/>
                </a:solidFill>
                <a:latin typeface="10X10" charset="0"/>
                <a:ea typeface="10X10" charset="0"/>
              </a:rPr>
              <a:t>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0469D-D26E-1B3D-95C9-40CB838F9F37}"/>
              </a:ext>
            </a:extLst>
          </p:cNvPr>
          <p:cNvSpPr txBox="1">
            <a:spLocks/>
          </p:cNvSpPr>
          <p:nvPr/>
        </p:nvSpPr>
        <p:spPr>
          <a:xfrm>
            <a:off x="609171" y="3075806"/>
            <a:ext cx="8145145" cy="112530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개의 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 짝수 번째 입력된 값의 합과 홀수 번째 입력된 값의 평균을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2LotteMartDreamLight" panose="02020603020101020101" pitchFamily="18" charset="-127"/>
                <a:ea typeface="12LotteMartDreamLight" panose="02020603020101020101" pitchFamily="18" charset="-127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2LotteMartDreamLight" panose="02020603020101020101" pitchFamily="18" charset="-127"/>
              <a:ea typeface="12LotteMartDreamLight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A259E3-17D8-7BA6-74BD-982BBFAE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50" y="1515238"/>
            <a:ext cx="1065789" cy="16025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C2306B-F3A5-D7BB-91F7-977430B96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727" y="2388410"/>
            <a:ext cx="1765300" cy="469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F4E6F1-94E0-923A-1952-C2F607FC20A3}"/>
              </a:ext>
            </a:extLst>
          </p:cNvPr>
          <p:cNvSpPr txBox="1"/>
          <p:nvPr/>
        </p:nvSpPr>
        <p:spPr>
          <a:xfrm>
            <a:off x="2843808" y="47551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for</a:t>
            </a:r>
            <a:r>
              <a:rPr lang="ko-KR" altLang="en-US" sz="1600" dirty="0">
                <a:solidFill>
                  <a:srgbClr val="FF0000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문 사용문제</a:t>
            </a:r>
            <a:endParaRPr lang="en-US" altLang="ko-KR" sz="1600" dirty="0">
              <a:solidFill>
                <a:srgbClr val="FF0000"/>
              </a:solidFill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1D5DAFF-2ECD-DBEA-179F-46F8DB677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950" y="3651870"/>
            <a:ext cx="1222015" cy="112530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632C66A-E513-AB6A-DAA6-67F0F98E4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043" y="4169056"/>
            <a:ext cx="2209914" cy="40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390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79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23623</TotalTime>
  <Words>1433</Words>
  <Application>Microsoft Office PowerPoint</Application>
  <PresentationFormat>화면 슬라이드 쇼(16:9)</PresentationFormat>
  <Paragraphs>307</Paragraphs>
  <Slides>40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4" baseType="lpstr">
      <vt:lpstr>10X10</vt:lpstr>
      <vt:lpstr>10X10 Bold</vt:lpstr>
      <vt:lpstr>12LotteMartDreamLight</vt:lpstr>
      <vt:lpstr>12LotteMartDreamMedium</vt:lpstr>
      <vt:lpstr>12롯데마트드림Bold</vt:lpstr>
      <vt:lpstr>12롯데마트드림Medium</vt:lpstr>
      <vt:lpstr>1훈정글북 R</vt:lpstr>
      <vt:lpstr>210 연필스케치 R</vt:lpstr>
      <vt:lpstr>나눔바른고딕 옛한글</vt:lpstr>
      <vt:lpstr>맑은 고딕</vt:lpstr>
      <vt:lpstr>휴먼모음T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1106</cp:revision>
  <cp:lastPrinted>2017-05-13T00:43:47Z</cp:lastPrinted>
  <dcterms:created xsi:type="dcterms:W3CDTF">2015-11-19T15:23:17Z</dcterms:created>
  <dcterms:modified xsi:type="dcterms:W3CDTF">2025-11-14T11:12:22Z</dcterms:modified>
</cp:coreProperties>
</file>